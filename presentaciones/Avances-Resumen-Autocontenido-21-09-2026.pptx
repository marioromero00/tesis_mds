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Tesis MDS · Mario Romero · 21 septiembre 2026</a:t>
            </a:r>
          </a:p>
          <a:p>
            <a:r>
              <a:t>Avances en modelos temporales y selección de variables</a:t>
            </a:r>
          </a:p>
          <a:p>
            <a:r>
              <a:t>Se completaron los grids y las auditorías; todavía no hay una mejora estable sobre Ridge.</a:t>
            </a:r>
          </a:p>
          <a:p>
            <a:r>
              <a:t>32</a:t>
            </a:r>
          </a:p>
          <a:p>
            <a:r>
              <a:t>configuraciones por familia</a:t>
            </a:r>
          </a:p>
          <a:p>
            <a:r>
              <a:t>1.980</a:t>
            </a:r>
          </a:p>
          <a:p>
            <a:r>
              <a:t>modelos y checkpoints guardados*</a:t>
            </a:r>
          </a:p>
          <a:p>
            <a:r>
              <a:t>66</a:t>
            </a:r>
          </a:p>
          <a:p>
            <a:r>
              <a:t>pruebas aprobadas*</a:t>
            </a:r>
          </a:p>
          <a:p>
            <a:r>
              <a:t>Foco reciente:</a:t>
            </a:r>
          </a:p>
          <a:p>
            <a:r>
              <a:t>activación (arousal)</a:t>
            </a:r>
          </a:p>
          <a:p>
            <a:r>
              <a:t>. 25 personas de train, cinco folds y dos semillas externas en los grids. Etiquetas fijas; señales del Modelo Profesor excluidas del estudiante.</a:t>
            </a:r>
          </a:p>
          <a:p>
            <a:r>
              <a:t>Experimentos cerrados al 14-09-2026. *BiLSTM, LSTM y TCN; el grid de Transformer se documentó por separado. Fuente: informe Grid_BiLSTM_LSTM_TCN_13-09-2026.</a:t>
            </a:r>
          </a:p>
          <a:p/>
          <a:p>
            <a:r>
              <a:t>Fuente: Avances-Resumen-Autocontenido-21-09-2026.html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Activación · comparación fuera del ajuste</a:t>
            </a:r>
          </a:p>
          <a:p>
            <a:r>
              <a:t>Ningún grid neuronal supera a Ridge</a:t>
            </a:r>
          </a:p>
          <a:p>
            <a:r>
              <a:t>Balanced accuracy (BA) macro por participante · mayor es mejor</a:t>
            </a:r>
          </a:p>
          <a:p>
            <a:r>
              <a:t>Ridge de referencia</a:t>
            </a:r>
          </a:p>
          <a:p>
            <a:r>
              <a:t>0,37475</a:t>
            </a:r>
          </a:p>
          <a:p>
            <a:r>
              <a:t>TCN</a:t>
            </a:r>
          </a:p>
          <a:p>
            <a:r>
              <a:t>0,3529</a:t>
            </a:r>
          </a:p>
          <a:p>
            <a:r>
              <a:t>Transformer</a:t>
            </a:r>
          </a:p>
          <a:p>
            <a:r>
              <a:t>0,3526</a:t>
            </a:r>
          </a:p>
          <a:p>
            <a:r>
              <a:t>BiLSTM</a:t>
            </a:r>
          </a:p>
          <a:p>
            <a:r>
              <a:t>0,3410</a:t>
            </a:r>
          </a:p>
          <a:p>
            <a:r>
              <a:t>LSTM</a:t>
            </a:r>
          </a:p>
          <a:p>
            <a:r>
              <a:t>0,3333</a:t>
            </a:r>
          </a:p>
          <a:p>
            <a:r>
              <a:t>0</a:t>
            </a:r>
          </a:p>
          <a:p>
            <a:r>
              <a:t>Meta: 0,50</a:t>
            </a:r>
          </a:p>
          <a:p>
            <a:r>
              <a:t>La meta 0,50 sigue pendiente. Ridge usa representaciones temporales seleccionadas por fold; no es un baseline puramente estático.</a:t>
            </a:r>
          </a:p>
          <a:p>
            <a:r>
              <a:t>BA: promedio de recalls de las clases presentes por persona, luego promedio entre personas. Constante bajo/alto: 0,3467. Fuentes: resúmenes de los grids recurrentes, Transformer y ablación.</a:t>
            </a:r>
          </a:p>
          <a:p/>
          <a:p>
            <a:r>
              <a:t>Fuente: Avances-Resumen-Autocontenido-21-09-2026.html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del historial</a:t>
            </a:r>
          </a:p>
          <a:p>
            <a:r>
              <a:t>La ventaja temporal de TCN sigue siendo incierta</a:t>
            </a:r>
          </a:p>
          <a:p>
            <a:r>
              <a:t>Historia real menos ventana actual repetida · ambos conservan suavizado</a:t>
            </a:r>
          </a:p>
          <a:p>
            <a:r>
              <a:t>Modelo</a:t>
            </a:r>
          </a:p>
          <a:p>
            <a:r>
              <a:t>Ganancia BA (pp)</a:t>
            </a:r>
          </a:p>
          <a:p>
            <a:r>
              <a:t>IC 95 % (pp)</a:t>
            </a:r>
          </a:p>
          <a:p>
            <a:r>
              <a:t>BiLSTM</a:t>
            </a:r>
          </a:p>
          <a:p>
            <a:r>
              <a:t>−0,67</a:t>
            </a:r>
          </a:p>
          <a:p>
            <a:r>
              <a:t>[−2,00; +0,71]</a:t>
            </a:r>
          </a:p>
          <a:p>
            <a:r>
              <a:t>LSTM</a:t>
            </a:r>
          </a:p>
          <a:p>
            <a:r>
              <a:t>−1,72</a:t>
            </a:r>
          </a:p>
          <a:p>
            <a:r>
              <a:t>[−2,96; −0,62]</a:t>
            </a:r>
          </a:p>
          <a:p>
            <a:r>
              <a:t>TCN</a:t>
            </a:r>
          </a:p>
          <a:p>
            <a:r>
              <a:t>+0,71</a:t>
            </a:r>
          </a:p>
          <a:p>
            <a:r>
              <a:t>[−0,13; +1,51]</a:t>
            </a:r>
          </a:p>
          <a:p>
            <a:r>
              <a:t>La clase media sigue siendo difícil:</a:t>
            </a:r>
          </a:p>
          <a:p>
            <a:r>
              <a:t>recall de 14,5–17,5 % en los cuatro grids, frente a 23,3 % con Ridge.</a:t>
            </a:r>
          </a:p>
          <a:p>
            <a:r>
              <a:t>pp = puntos porcentuales. Control reentrenado con igual configuración. IC descriptivos: bootstrap pareado por persona, 2.000 remuestreos, sin corrección por múltiples búsquedas. Fuentes: contrastes y diagnóstico por clase.</a:t>
            </a:r>
          </a:p>
          <a:p/>
          <a:p>
            <a:r>
              <a:t>Fuente: Avances-Resumen-Autocontenido-21-09-2026.html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Acotar el problema · resultados de Ridge</a:t>
            </a:r>
          </a:p>
          <a:p>
            <a:r>
              <a:t>La reducción de variables requiere confirmación</a:t>
            </a:r>
          </a:p>
          <a:p>
            <a:r>
              <a:t>EEG aporta</a:t>
            </a:r>
          </a:p>
          <a:p>
            <a:r>
              <a:t>0,3546</a:t>
            </a:r>
          </a:p>
          <a:p>
            <a:r>
              <a:t>BA al quitar EEG: cae 2,02 pp.</a:t>
            </a:r>
          </a:p>
          <a:p>
            <a:r>
              <a:t>Solo EEG: BA similar, pero el recall medio cae a 10,8 %.</a:t>
            </a:r>
          </a:p>
          <a:p>
            <a:r>
              <a:t>Sin conteo de fijaciones</a:t>
            </a:r>
          </a:p>
          <a:p>
            <a:r>
              <a:t>0,3843</a:t>
            </a:r>
          </a:p>
          <a:p>
            <a:r>
              <a:t>Mayor BA observada en la ablación.</a:t>
            </a:r>
          </a:p>
          <a:p>
            <a:r>
              <a:t>Máximo exploratorio entre 24 eliminaciones; pendiente de confirmación.</a:t>
            </a:r>
          </a:p>
          <a:p>
            <a:r>
              <a:t>PCA al 90 %</a:t>
            </a:r>
          </a:p>
          <a:p>
            <a:r>
              <a:t>0,3764</a:t>
            </a:r>
          </a:p>
          <a:p>
            <a:r>
              <a:t>13–45 componentes según el fold.</a:t>
            </a:r>
          </a:p>
          <a:p>
            <a:r>
              <a:t>Comprime las características sin una mejora clara.</a:t>
            </a:r>
          </a:p>
          <a:p>
            <a:r>
              <a:t>Aporte predictivo condicionado al modelo. Estos resultados no establecen importancia fisiológica ni causalidad.</a:t>
            </a:r>
          </a:p>
          <a:p>
            <a:r>
              <a:t>Fuente: Ablacion_PCA_12-09-2026. Referencia BA 0,37475; recall medio 23,3 %. Los componentes PCA corresponden a variables transformadas, no a sensores.</a:t>
            </a:r>
          </a:p>
          <a:p/>
          <a:p>
            <a:r>
              <a:t>Fuente: Avances-Resumen-Autocontenido-21-09-2026.html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Conclusión y propuesta de continuidad</a:t>
            </a:r>
          </a:p>
          <a:p>
            <a:r>
              <a:t>El siguiente paso es confirmar hipótesis acotadas</a:t>
            </a:r>
          </a:p>
          <a:p>
            <a:r>
              <a:t>Revisar la clase media</a:t>
            </a:r>
          </a:p>
          <a:p>
            <a:r>
              <a:t>Analizar separabilidad y estabilidad de las pseudoetiquetas.</a:t>
            </a:r>
          </a:p>
          <a:p>
            <a:r>
              <a:t>Predefinir pocos paneles</a:t>
            </a:r>
          </a:p>
          <a:p>
            <a:r>
              <a:t>Comparar entradas completas y reducidas, seleccionadas dentro del ajuste.</a:t>
            </a:r>
          </a:p>
          <a:p>
            <a:r>
              <a:t>Congelar la evaluación</a:t>
            </a:r>
          </a:p>
          <a:p>
            <a:r>
              <a:t>Acordar el protocolo confirmatorio antes de volver a evaluar.</a:t>
            </a:r>
          </a:p>
          <a:p>
            <a:r>
              <a:t>Balance:</a:t>
            </a:r>
          </a:p>
          <a:p>
            <a:r>
              <a:t>modelos reproducibles y evidencia para acotar la búsqueda; la hipótesis temporal aún no se confirma.</a:t>
            </a:r>
          </a:p>
          <a:p>
            <a:r>
              <a:t>Pasos propuestos, no ejecutados. Muchas búsquedas sobre las mismas 25 personas: balance exploratorio y offline. Sin nueva evaluación de validation/test en estas rondas; atención no se reentrenó en los últimos grids.</a:t>
            </a:r>
          </a:p>
          <a:p/>
          <a:p>
            <a:r>
              <a:t>Fuente: Avances-Resumen-Autocontenido-21-09-2026.html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6556B"/>
                </a:solidFill>
                <a:latin typeface="Arial"/>
              </a:defRPr>
            </a:pPr>
            <a:r>
              <a:t>TESIS MDS · MARIO ROMERO · 21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838200"/>
            <a:ext cx="10922000" cy="1003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2243B"/>
                </a:solidFill>
                <a:latin typeface="Arial"/>
              </a:defRPr>
            </a:pPr>
            <a:r>
              <a:t>Avances en modelos temporales y selección de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210300"/>
            <a:ext cx="10490200" cy="546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46556B"/>
                </a:solidFill>
                <a:latin typeface="Arial"/>
              </a:defRPr>
            </a:pPr>
            <a:r>
              <a:t>Experimentos cerrados al 14-09-2026. *BiLSTM, LSTM y TCN; el grid de Transformer se documentó por separado. Fuente: informe Grid_BiLSTM_LSTM_TCN_13-09-2026.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1900" y="654050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6556B"/>
                </a:solidFill>
                <a:latin typeface="Arial"/>
              </a:defRPr>
            </a:pPr>
            <a:r>
              <a:t>1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57400"/>
            <a:ext cx="10922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2243B"/>
                </a:solidFill>
                <a:latin typeface="Arial"/>
              </a:defRPr>
            </a:pPr>
            <a:r>
              <a:t>Se completaron los grids y las auditorías; todavía no hay una mejora estable sobre Ridge.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327400"/>
            <a:ext cx="3429000" cy="25400"/>
          </a:xfrm>
          <a:prstGeom prst="rect">
            <a:avLst/>
          </a:prstGeom>
          <a:solidFill>
            <a:srgbClr val="09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3543300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003D73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4292600"/>
            <a:ext cx="32385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243B"/>
                </a:solidFill>
                <a:latin typeface="Arial"/>
              </a:defRPr>
            </a:pPr>
            <a:r>
              <a:t>configuraciones por familia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3327400"/>
            <a:ext cx="3429000" cy="25400"/>
          </a:xfrm>
          <a:prstGeom prst="rect">
            <a:avLst/>
          </a:prstGeom>
          <a:solidFill>
            <a:srgbClr val="09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800" y="3543300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003D73"/>
                </a:solidFill>
                <a:latin typeface="Arial"/>
              </a:defRPr>
            </a:pPr>
            <a:r>
              <a:t>1.980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800" y="4292600"/>
            <a:ext cx="32385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243B"/>
                </a:solidFill>
                <a:latin typeface="Arial"/>
              </a:defRPr>
            </a:pPr>
            <a:r>
              <a:t>modelos y checkpoints guardados*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2600" y="3327400"/>
            <a:ext cx="3429000" cy="25400"/>
          </a:xfrm>
          <a:prstGeom prst="rect">
            <a:avLst/>
          </a:prstGeom>
          <a:solidFill>
            <a:srgbClr val="09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2600" y="3543300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003D73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2600" y="4292600"/>
            <a:ext cx="32385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243B"/>
                </a:solidFill>
                <a:latin typeface="Arial"/>
              </a:defRPr>
            </a:pPr>
            <a:r>
              <a:t>pruebas aprobadas*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5334000"/>
            <a:ext cx="10922000" cy="6223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5448300"/>
            <a:ext cx="10591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2243B"/>
                </a:solidFill>
                <a:latin typeface="Arial"/>
              </a:defRPr>
            </a:pPr>
            <a:r>
              <a:t>Foco reciente: activación (arousal) . 25 personas de train, cinco folds y dos semillas externas en los grids. Etiquetas fijas; señales del Modelo Profesor excluidas del estudiante.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6556B"/>
                </a:solidFill>
                <a:latin typeface="Arial"/>
              </a:defRPr>
            </a:pPr>
            <a:r>
              <a:t>ACTIVACIÓN · COMPARACIÓN FUERA DEL AJUSTE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838200"/>
            <a:ext cx="10922000" cy="1003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43B"/>
                </a:solidFill>
                <a:latin typeface="Arial"/>
              </a:defRPr>
            </a:pPr>
            <a:r>
              <a:t>Ningún grid neuronal supera a 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210300"/>
            <a:ext cx="10490200" cy="546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46556B"/>
                </a:solidFill>
                <a:latin typeface="Arial"/>
              </a:defRPr>
            </a:pPr>
            <a:r>
              <a:t>BA: promedio de recalls de las clases presentes por persona, luego promedio entre personas. Constante bajo/alto: 0,3467. Fuentes: resúmenes de los grids recurrentes, Transformer y ablación.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1900" y="654050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6556B"/>
                </a:solidFill>
                <a:latin typeface="Arial"/>
              </a:defRPr>
            </a:pPr>
            <a:r>
              <a:t>2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943100"/>
            <a:ext cx="10922000" cy="31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46556B"/>
                </a:solidFill>
                <a:latin typeface="Arial"/>
              </a:defRPr>
            </a:pPr>
            <a:r>
              <a:t>Balanced accuracy (BA) macro por participante · mayor es mejor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2527300"/>
            <a:ext cx="2857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243B"/>
                </a:solidFill>
                <a:latin typeface="Arial"/>
              </a:defRPr>
            </a:pPr>
            <a:r>
              <a:t>Ridge de referencia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6800" y="2552700"/>
            <a:ext cx="6375400" cy="2540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6800" y="2552700"/>
            <a:ext cx="4778362" cy="2540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82200" y="2552700"/>
            <a:ext cx="12700" cy="254000"/>
          </a:xfrm>
          <a:prstGeom prst="rect">
            <a:avLst/>
          </a:prstGeom>
          <a:solidFill>
            <a:srgbClr val="46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8900" y="2527300"/>
            <a:ext cx="12954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243B"/>
                </a:solidFill>
                <a:latin typeface="Arial"/>
              </a:defRPr>
            </a:pPr>
            <a:r>
              <a:t>0,37475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3009900"/>
            <a:ext cx="2857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243B"/>
                </a:solidFill>
                <a:latin typeface="Arial"/>
              </a:defRPr>
            </a:pPr>
            <a:r>
              <a:t>TCN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6800" y="3035300"/>
            <a:ext cx="6375400" cy="2540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6800" y="3035300"/>
            <a:ext cx="4499782" cy="2540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82200" y="3035300"/>
            <a:ext cx="12700" cy="254000"/>
          </a:xfrm>
          <a:prstGeom prst="rect">
            <a:avLst/>
          </a:prstGeom>
          <a:solidFill>
            <a:srgbClr val="46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8900" y="3009900"/>
            <a:ext cx="12954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243B"/>
                </a:solidFill>
                <a:latin typeface="Arial"/>
              </a:defRPr>
            </a:pPr>
            <a:r>
              <a:t>0,3529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3492500"/>
            <a:ext cx="2857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243B"/>
                </a:solidFill>
                <a:latin typeface="Arial"/>
              </a:defRPr>
            </a:pPr>
            <a:r>
              <a:t>Transformer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6800" y="3517900"/>
            <a:ext cx="6375400" cy="2540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6800" y="3517900"/>
            <a:ext cx="4495944" cy="2540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82200" y="3517900"/>
            <a:ext cx="12700" cy="254000"/>
          </a:xfrm>
          <a:prstGeom prst="rect">
            <a:avLst/>
          </a:prstGeom>
          <a:solidFill>
            <a:srgbClr val="46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8900" y="3492500"/>
            <a:ext cx="12954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243B"/>
                </a:solidFill>
                <a:latin typeface="Arial"/>
              </a:defRPr>
            </a:pPr>
            <a:r>
              <a:t>0,3526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3975100"/>
            <a:ext cx="2857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243B"/>
                </a:solidFill>
                <a:latin typeface="Arial"/>
              </a:defRPr>
            </a:pPr>
            <a:r>
              <a:t>BiLSTM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6800" y="4000500"/>
            <a:ext cx="6375400" cy="2540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6800" y="4000500"/>
            <a:ext cx="4348067" cy="2540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82200" y="4000500"/>
            <a:ext cx="12700" cy="254000"/>
          </a:xfrm>
          <a:prstGeom prst="rect">
            <a:avLst/>
          </a:prstGeom>
          <a:solidFill>
            <a:srgbClr val="46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8900" y="3975100"/>
            <a:ext cx="12954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243B"/>
                </a:solidFill>
                <a:latin typeface="Arial"/>
              </a:defRPr>
            </a:pPr>
            <a:r>
              <a:t>0,3410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4457700"/>
            <a:ext cx="2857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243B"/>
                </a:solidFill>
                <a:latin typeface="Arial"/>
              </a:defRPr>
            </a:pPr>
            <a:r>
              <a:t>LSTM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6800" y="4483100"/>
            <a:ext cx="6375400" cy="2540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06800" y="4483100"/>
            <a:ext cx="4249420" cy="2540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82200" y="4483100"/>
            <a:ext cx="12700" cy="254000"/>
          </a:xfrm>
          <a:prstGeom prst="rect">
            <a:avLst/>
          </a:prstGeom>
          <a:solidFill>
            <a:srgbClr val="465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8900" y="4457700"/>
            <a:ext cx="12954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243B"/>
                </a:solidFill>
                <a:latin typeface="Arial"/>
              </a:defRPr>
            </a:pPr>
            <a:r>
              <a:t>0,3333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6800" y="49657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6556B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8100" y="49657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6556B"/>
                </a:solidFill>
                <a:latin typeface="Arial"/>
              </a:defRPr>
            </a:pPr>
            <a:r>
              <a:t>Meta: 0,50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5422900"/>
            <a:ext cx="10922000" cy="6223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" y="5537200"/>
            <a:ext cx="10591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2243B"/>
                </a:solidFill>
                <a:latin typeface="Arial"/>
              </a:defRPr>
            </a:pPr>
            <a:r>
              <a:t>La meta 0,50 sigue pendiente. Ridge usa representaciones temporales seleccionadas por fold; no es un baseline puramente estático.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6556B"/>
                </a:solidFill>
                <a:latin typeface="Arial"/>
              </a:defRPr>
            </a:pPr>
            <a:r>
              <a:t>CONTROL DEL HISTORIAL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838200"/>
            <a:ext cx="10922000" cy="1003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43B"/>
                </a:solidFill>
                <a:latin typeface="Arial"/>
              </a:defRPr>
            </a:pPr>
            <a:r>
              <a:t>La ventaja temporal de TCN sigue siendo incierta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210300"/>
            <a:ext cx="10490200" cy="546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46556B"/>
                </a:solidFill>
                <a:latin typeface="Arial"/>
              </a:defRPr>
            </a:pPr>
            <a:r>
              <a:t>pp = puntos porcentuales. Control reentrenado con igual configuración. IC descriptivos: bootstrap pareado por persona, 2.000 remuestreos, sin corrección por múltiples búsquedas. Fuentes: contrastes y diagnóstico por clase.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1900" y="654050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6556B"/>
                </a:solidFill>
                <a:latin typeface="Arial"/>
              </a:defRPr>
            </a:pPr>
            <a:r>
              <a:t>3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981200"/>
            <a:ext cx="109220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6556B"/>
                </a:solidFill>
                <a:latin typeface="Arial"/>
              </a:defRPr>
            </a:pPr>
            <a:r>
              <a:t>Historia real menos ventana actual repetida · ambos conservan suavizado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4300"/>
            <a:ext cx="2616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6556B"/>
                </a:solidFill>
                <a:latin typeface="Arial"/>
              </a:defRPr>
            </a:pPr>
            <a: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3000" y="2654300"/>
            <a:ext cx="3263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6556B"/>
                </a:solidFill>
                <a:latin typeface="Arial"/>
              </a:defRPr>
            </a:pPr>
            <a:r>
              <a:t>Ganancia BA (pp)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7900" y="2654300"/>
            <a:ext cx="41783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6556B"/>
                </a:solidFill>
                <a:latin typeface="Arial"/>
              </a:defRPr>
            </a:pPr>
            <a:r>
              <a:t>IC 95 % (pp)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086100"/>
            <a:ext cx="10922000" cy="7620"/>
          </a:xfrm>
          <a:prstGeom prst="rect">
            <a:avLst/>
          </a:prstGeom>
          <a:solidFill>
            <a:srgbClr val="CC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87700"/>
            <a:ext cx="2616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2243B"/>
                </a:solidFill>
                <a:latin typeface="Arial"/>
              </a:defRPr>
            </a:pPr>
            <a:r>
              <a:t>BiLSTM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3000" y="3187700"/>
            <a:ext cx="3263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2243B"/>
                </a:solidFill>
                <a:latin typeface="Arial"/>
              </a:defRPr>
            </a:pPr>
            <a:r>
              <a:t>−0,67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7900" y="3187700"/>
            <a:ext cx="41783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2243B"/>
                </a:solidFill>
                <a:latin typeface="Arial"/>
              </a:defRPr>
            </a:pPr>
            <a:r>
              <a:t>[−2,00; +0,71]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619500"/>
            <a:ext cx="10922000" cy="7620"/>
          </a:xfrm>
          <a:prstGeom prst="rect">
            <a:avLst/>
          </a:prstGeom>
          <a:solidFill>
            <a:srgbClr val="CC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21100"/>
            <a:ext cx="2616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2243B"/>
                </a:solidFill>
                <a:latin typeface="Arial"/>
              </a:defRPr>
            </a:pPr>
            <a:r>
              <a:t>LSTM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3000" y="3721100"/>
            <a:ext cx="3263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2243B"/>
                </a:solidFill>
                <a:latin typeface="Arial"/>
              </a:defRPr>
            </a:pPr>
            <a:r>
              <a:t>−1,72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7900" y="3721100"/>
            <a:ext cx="41783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2243B"/>
                </a:solidFill>
                <a:latin typeface="Arial"/>
              </a:defRPr>
            </a:pPr>
            <a:r>
              <a:t>[−2,96; −0,62]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152900"/>
            <a:ext cx="10922000" cy="7620"/>
          </a:xfrm>
          <a:prstGeom prst="rect">
            <a:avLst/>
          </a:prstGeom>
          <a:solidFill>
            <a:srgbClr val="CC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54500"/>
            <a:ext cx="2616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2243B"/>
                </a:solidFill>
                <a:latin typeface="Arial"/>
              </a:defRPr>
            </a:pPr>
            <a:r>
              <a:t>TCN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3000" y="4254500"/>
            <a:ext cx="3263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2243B"/>
                </a:solidFill>
                <a:latin typeface="Arial"/>
              </a:defRPr>
            </a:pPr>
            <a:r>
              <a:t>+0,71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7900" y="4254500"/>
            <a:ext cx="41783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2243B"/>
                </a:solidFill>
                <a:latin typeface="Arial"/>
              </a:defRPr>
            </a:pPr>
            <a:r>
              <a:t>[−0,13; +1,51]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86300"/>
            <a:ext cx="10922000" cy="7620"/>
          </a:xfrm>
          <a:prstGeom prst="rect">
            <a:avLst/>
          </a:prstGeom>
          <a:solidFill>
            <a:srgbClr val="CC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5003800"/>
            <a:ext cx="10922000" cy="9271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5003800"/>
            <a:ext cx="38100" cy="927100"/>
          </a:xfrm>
          <a:prstGeom prst="rect">
            <a:avLst/>
          </a:prstGeom>
          <a:solidFill>
            <a:srgbClr val="09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200" y="5194300"/>
            <a:ext cx="105029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2243B"/>
                </a:solidFill>
                <a:latin typeface="Arial"/>
              </a:defRPr>
            </a:pPr>
            <a:r>
              <a:t>La clase media sigue siendo difícil: recall de 14,5–17,5 % en los cuatro grids, frente a 23,3 % con Ridge.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6556B"/>
                </a:solidFill>
                <a:latin typeface="Arial"/>
              </a:defRPr>
            </a:pPr>
            <a:r>
              <a:t>ACOTAR EL PROBLEMA · RESULTADOS DE 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838200"/>
            <a:ext cx="10922000" cy="1003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43B"/>
                </a:solidFill>
                <a:latin typeface="Arial"/>
              </a:defRPr>
            </a:pPr>
            <a:r>
              <a:t>La reducción de variables requiere confirmación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210300"/>
            <a:ext cx="10490200" cy="546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46556B"/>
                </a:solidFill>
                <a:latin typeface="Arial"/>
              </a:defRPr>
            </a:pPr>
            <a:r>
              <a:t>Fuente: Ablacion_PCA_12-09-2026. Referencia BA 0,37475; recall medio 23,3 %. Los componentes PCA corresponden a variables transformadas, no a sensores.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1900" y="654050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6556B"/>
                </a:solidFill>
                <a:latin typeface="Arial"/>
              </a:defRPr>
            </a:pPr>
            <a:r>
              <a:t>4 /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057400"/>
            <a:ext cx="3454400" cy="30988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000" y="2057400"/>
            <a:ext cx="38100" cy="30988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273300"/>
            <a:ext cx="3022600" cy="546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2243B"/>
                </a:solidFill>
                <a:latin typeface="Arial"/>
              </a:defRPr>
            </a:pPr>
            <a:r>
              <a:t>EEG aporta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984500"/>
            <a:ext cx="30226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3D73"/>
                </a:solidFill>
                <a:latin typeface="Arial"/>
              </a:defRPr>
            </a:pPr>
            <a:r>
              <a:t>0,3546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721100"/>
            <a:ext cx="30226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243B"/>
                </a:solidFill>
                <a:latin typeface="Arial"/>
              </a:defRPr>
            </a:pPr>
            <a:r>
              <a:t>BA al quitar EEG: cae 2,02 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06900"/>
            <a:ext cx="3022600" cy="736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46556B"/>
                </a:solidFill>
                <a:latin typeface="Arial"/>
              </a:defRPr>
            </a:pPr>
            <a:r>
              <a:t>Solo EEG: BA similar, pero el recall medio cae a 10,8 %.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800" y="2057400"/>
            <a:ext cx="3454400" cy="30988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800" y="2057400"/>
            <a:ext cx="38100" cy="3098800"/>
          </a:xfrm>
          <a:prstGeom prst="rect">
            <a:avLst/>
          </a:prstGeom>
          <a:solidFill>
            <a:srgbClr val="096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73300"/>
            <a:ext cx="3022600" cy="546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2243B"/>
                </a:solidFill>
                <a:latin typeface="Arial"/>
              </a:defRPr>
            </a:pPr>
            <a:r>
              <a:t>Sin conteo de fijaciones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84500"/>
            <a:ext cx="30226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3D73"/>
                </a:solidFill>
                <a:latin typeface="Arial"/>
              </a:defRPr>
            </a:pPr>
            <a:r>
              <a:t>0,3843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21100"/>
            <a:ext cx="30226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243B"/>
                </a:solidFill>
                <a:latin typeface="Arial"/>
              </a:defRPr>
            </a:pPr>
            <a:r>
              <a:t>Mayor BA observada en la ablación.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06900"/>
            <a:ext cx="3022600" cy="736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46556B"/>
                </a:solidFill>
                <a:latin typeface="Arial"/>
              </a:defRPr>
            </a:pPr>
            <a:r>
              <a:t>Máximo exploratorio entre 24 eliminaciones; pendiente de confirmación.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2600" y="2057400"/>
            <a:ext cx="3454400" cy="30988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2600" y="2057400"/>
            <a:ext cx="38100" cy="30988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5800" y="2273300"/>
            <a:ext cx="3022600" cy="546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2243B"/>
                </a:solidFill>
                <a:latin typeface="Arial"/>
              </a:defRPr>
            </a:pPr>
            <a:r>
              <a:t>PCA al 90 %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2984500"/>
            <a:ext cx="30226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3D73"/>
                </a:solidFill>
                <a:latin typeface="Arial"/>
              </a:defRPr>
            </a:pPr>
            <a:r>
              <a:t>0,3764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3721100"/>
            <a:ext cx="30226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243B"/>
                </a:solidFill>
                <a:latin typeface="Arial"/>
              </a:defRPr>
            </a:pPr>
            <a:r>
              <a:t>13–45 componentes según el fold.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800" y="4406900"/>
            <a:ext cx="3022600" cy="736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46556B"/>
                </a:solidFill>
                <a:latin typeface="Arial"/>
              </a:defRPr>
            </a:pPr>
            <a:r>
              <a:t>Comprime las características sin una mejora clara.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422900"/>
            <a:ext cx="10922000" cy="6223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" y="5537200"/>
            <a:ext cx="10591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2243B"/>
                </a:solidFill>
                <a:latin typeface="Arial"/>
              </a:defRPr>
            </a:pPr>
            <a:r>
              <a:t>Aporte predictivo condicionado al modelo. Estos resultados no establecen importancia fisiológica ni causalidad.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381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6556B"/>
                </a:solidFill>
                <a:latin typeface="Arial"/>
              </a:defRPr>
            </a:pPr>
            <a:r>
              <a:t>CONCLUSIÓN Y PROPUESTA DE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838200"/>
            <a:ext cx="10922000" cy="1003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43B"/>
                </a:solidFill>
                <a:latin typeface="Arial"/>
              </a:defRPr>
            </a:pPr>
            <a:r>
              <a:t>El siguiente paso es confirmar hipótesis acotadas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210300"/>
            <a:ext cx="10490200" cy="546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46556B"/>
                </a:solidFill>
                <a:latin typeface="Arial"/>
              </a:defRPr>
            </a:pPr>
            <a:r>
              <a:t>Pasos propuestos, no ejecutados. Muchas búsquedas sobre las mismas 25 personas: balance exploratorio y offline. Sin nueva evaluación de validation/test en estas rondas; atención no se reentrenó en los últimos grids.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1900" y="654050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6556B"/>
                </a:solidFill>
                <a:latin typeface="Arial"/>
              </a:defRPr>
            </a:pPr>
            <a:r>
              <a:t>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120900"/>
            <a:ext cx="4064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9686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6500" y="2120900"/>
            <a:ext cx="10350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43B"/>
                </a:solidFill>
                <a:latin typeface="Arial"/>
              </a:defRPr>
            </a:pPr>
            <a:r>
              <a:t>Revisar la clase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6500" y="2540000"/>
            <a:ext cx="103505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46556B"/>
                </a:solidFill>
                <a:latin typeface="Arial"/>
              </a:defRPr>
            </a:pPr>
            <a:r>
              <a:t>Analizar separabilidad y estabilidad de las pseudoetiquetas.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959100"/>
            <a:ext cx="10922000" cy="7620"/>
          </a:xfrm>
          <a:prstGeom prst="rect">
            <a:avLst/>
          </a:prstGeom>
          <a:solidFill>
            <a:srgbClr val="CC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3124200"/>
            <a:ext cx="4064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9686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500" y="3124200"/>
            <a:ext cx="10350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43B"/>
                </a:solidFill>
                <a:latin typeface="Arial"/>
              </a:defRPr>
            </a:pPr>
            <a:r>
              <a:t>Predefinir pocos paneles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6500" y="3543300"/>
            <a:ext cx="103505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46556B"/>
                </a:solidFill>
                <a:latin typeface="Arial"/>
              </a:defRPr>
            </a:pPr>
            <a:r>
              <a:t>Comparar entradas completas y reducidas, seleccionadas dentro del ajuste.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962400"/>
            <a:ext cx="10922000" cy="7620"/>
          </a:xfrm>
          <a:prstGeom prst="rect">
            <a:avLst/>
          </a:prstGeom>
          <a:solidFill>
            <a:srgbClr val="CC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127500"/>
            <a:ext cx="4064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9686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6500" y="4127500"/>
            <a:ext cx="10350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43B"/>
                </a:solidFill>
                <a:latin typeface="Arial"/>
              </a:defRPr>
            </a:pPr>
            <a:r>
              <a:t>Congelar la evaluación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500" y="4546600"/>
            <a:ext cx="103505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46556B"/>
                </a:solidFill>
                <a:latin typeface="Arial"/>
              </a:defRPr>
            </a:pPr>
            <a:r>
              <a:t>Acordar el protocolo confirmatorio antes de volver a evaluar.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965700"/>
            <a:ext cx="10922000" cy="7620"/>
          </a:xfrm>
          <a:prstGeom prst="rect">
            <a:avLst/>
          </a:prstGeom>
          <a:solidFill>
            <a:srgbClr val="CC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2900"/>
            <a:ext cx="10922000" cy="622300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5537200"/>
            <a:ext cx="105918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2243B"/>
                </a:solidFill>
                <a:latin typeface="Arial"/>
              </a:defRPr>
            </a:pPr>
            <a:r>
              <a:t>Balance: modelos reproducibles y evidencia para acotar la búsqueda; la hipótesis temporal aún no se confirma.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Últimos avances de tesis MDS — resumen</dc:title>
  <dc:subject/>
  <dc:creator>Mario Romero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es-CL</dc:language>
</cp:coreProperties>
</file>