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Universidad de Chile · Magíster en Data Science</a:t>
            </a:r>
          </a:p>
          <a:p/>
          <a:p>
            <a:r>
              <a:t>Modelos temporales multimodales para la detección de atención y activación emocional durante la navegación web</a:t>
            </a:r>
          </a:p>
          <a:p/>
          <a:p>
            <a:r>
              <a:t>Mario Romero</a:t>
            </a:r>
          </a:p>
          <a:p/>
          <a:p>
            <a:r>
              <a:t>Profesor guía: Dr. Juan D. Velásquez</a:t>
            </a:r>
          </a:p>
          <a:p/>
          <a:p>
            <a:r>
              <a:t>Antecedentes</a:t>
            </a:r>
          </a:p>
          <a:p/>
          <a:p>
            <a:r>
              <a:t>El proyecto registra señales fisiológicas mientras las personas navegan por la web. La tesis estudia si su evolución en el tiempo ayuda a predecir atención y activación.</a:t>
            </a:r>
          </a:p>
          <a:p/>
          <a:p>
            <a:r>
              <a:t>Una sesión, cuatro señales</a:t>
            </a:r>
          </a:p>
          <a:p/>
          <a:p>
            <a:r>
              <a:t>EEG</a:t>
            </a:r>
          </a:p>
          <a:p/>
          <a:p>
            <a:r>
              <a:t>GSR</a:t>
            </a:r>
          </a:p>
          <a:p/>
          <a:p>
            <a:r>
              <a:t>Mirada</a:t>
            </a:r>
          </a:p>
          <a:p/>
          <a:p>
            <a:r>
              <a:t>Pupila</a:t>
            </a:r>
          </a:p>
          <a:p/>
          <a:p>
            <a:r>
              <a:t>Tiempo</a:t>
            </a:r>
          </a:p>
          <a:p/>
          <a:p>
            <a:r>
              <a:t>Pregunta de la tesis</a:t>
            </a:r>
          </a:p>
          <a:p/>
          <a:p>
            <a:r>
              <a:t>¿Aporta información el historial de las señales?</a:t>
            </a:r>
          </a:p>
          <a:p/>
          <a:p>
            <a:r>
              <a:t>Fondecyt 1231122 · Toma de Muestra 2 · 23 de septiembre de 2026. Esquema ilustrativo; no representa datos observados.</a:t>
            </a:r>
          </a:p>
          <a:p/>
          <a:p>
            <a:r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Toma de Muestra 2 · Navegación web en laboratorio</a:t>
            </a:r>
          </a:p>
          <a:p/>
          <a:p>
            <a:r>
              <a:t>Datos disponibles</a:t>
            </a:r>
          </a:p>
          <a:p/>
          <a:p>
            <a:r>
              <a:t>48 participantes registrados</a:t>
            </a:r>
          </a:p>
          <a:p/>
          <a:p>
            <a:r>
              <a:t>41 en el conjunto principal</a:t>
            </a:r>
          </a:p>
          <a:p/>
          <a:p>
            <a:r>
              <a:t>6 excluidos por calidad o falta de señal</a:t>
            </a:r>
          </a:p>
          <a:p>
            <a:r>
              <a:t>1 analizado por separado por sincronización</a:t>
            </a:r>
          </a:p>
          <a:p/>
          <a:p>
            <a:r>
              <a:t>La partición se hace por persona</a:t>
            </a:r>
          </a:p>
          <a:p/>
          <a:p>
            <a:r>
              <a:t>25</a:t>
            </a:r>
          </a:p>
          <a:p/>
          <a:p>
            <a:r>
              <a:t>Entrenamiento</a:t>
            </a:r>
          </a:p>
          <a:p/>
          <a:p>
            <a:r>
              <a:t>8</a:t>
            </a:r>
          </a:p>
          <a:p/>
          <a:p>
            <a:r>
              <a:t>Validación</a:t>
            </a:r>
          </a:p>
          <a:p/>
          <a:p>
            <a:r>
              <a:t>8</a:t>
            </a:r>
          </a:p>
          <a:p/>
          <a:p>
            <a:r>
              <a:t>Prueba</a:t>
            </a:r>
          </a:p>
          <a:p/>
          <a:p>
            <a:r>
              <a:t>Cada ventana resume 2 segundos de registro.</a:t>
            </a:r>
          </a:p>
          <a:p>
            <a:r>
              <a:t>La siguiente comienza 1 segundo después.</a:t>
            </a:r>
          </a:p>
          <a:p/>
          <a:p>
            <a:r>
              <a:t>EEG · actividad eléctrica cerebral</a:t>
            </a:r>
          </a:p>
          <a:p/>
          <a:p>
            <a:r>
              <a:t>16 canales · 125 Hz</a:t>
            </a:r>
          </a:p>
          <a:p/>
          <a:p>
            <a:r>
              <a:t>GSR · respuesta electrodérmica</a:t>
            </a:r>
          </a:p>
          <a:p/>
          <a:p>
            <a:r>
              <a:t>Cambios en la conductancia de la piel · ≈15 Hz</a:t>
            </a:r>
          </a:p>
          <a:p/>
          <a:p>
            <a:r>
              <a:t>Eye tracking · seguimiento ocular</a:t>
            </a:r>
          </a:p>
          <a:p/>
          <a:p>
            <a:r>
              <a:t>Posición de la mirada y fijaciones · ≈60 Hz</a:t>
            </a:r>
          </a:p>
          <a:p/>
          <a:p>
            <a:r>
              <a:t>Pupilometría</a:t>
            </a:r>
          </a:p>
          <a:p/>
          <a:p>
            <a:r>
              <a:t>Diámetro de la pupila y validez de la medición</a:t>
            </a:r>
          </a:p>
          <a:p/>
          <a:p>
            <a:r>
              <a:t>Fuente: preprocesamiento y partición guardada. 25.992 ventanas generadas; 22.201 válidas antes de separar el caso de sensibilidad.</a:t>
            </a:r>
          </a:p>
          <a:p/>
          <a:p>
            <a: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Temporalidad y fusión de señales</a:t>
            </a:r>
          </a:p>
          <a:p/>
          <a:p>
            <a:r>
              <a:t>Objetivo general</a:t>
            </a:r>
          </a:p>
          <a:p/>
          <a:p>
            <a:r>
              <a:t>Evaluar si la información temporal y la fusión multimodal mejoran la predicción de pseudoetiquetas de atención y activación emocional durante la navegación web, comparando modelos temporales y estáticos en participantes no utilizados para su ajuste.</a:t>
            </a:r>
          </a:p>
          <a:p/>
          <a:p>
            <a:r>
              <a:t>Modelo estático</a:t>
            </a:r>
          </a:p>
          <a:p/>
          <a:p>
            <a:r>
              <a:t>Ventana actual</a:t>
            </a:r>
          </a:p>
          <a:p/>
          <a:p>
            <a:r>
              <a:t>Predicción</a:t>
            </a:r>
          </a:p>
          <a:p/>
          <a:p>
            <a:r>
              <a:t>Usa las características de una ventana.</a:t>
            </a:r>
          </a:p>
          <a:p/>
          <a:p>
            <a:r>
              <a:t>Modelo temporal</a:t>
            </a:r>
          </a:p>
          <a:p/>
          <a:p>
            <a:r>
              <a:t>t−2</a:t>
            </a:r>
          </a:p>
          <a:p/>
          <a:p>
            <a:r>
              <a:t>t−1</a:t>
            </a:r>
          </a:p>
          <a:p/>
          <a:p>
            <a:r>
              <a:t>t</a:t>
            </a:r>
          </a:p>
          <a:p/>
          <a:p>
            <a:r>
              <a:t>Predicción</a:t>
            </a:r>
          </a:p>
          <a:p/>
          <a:p>
            <a:r>
              <a:t>Usa varias ventanas en su orden temporal.</a:t>
            </a:r>
          </a:p>
          <a:p/>
          <a:p>
            <a:r>
              <a:t>En ambos casos se comparan distintas formas de combinar las señales: fusión temprana, intermedia y tardía.</a:t>
            </a:r>
          </a:p>
          <a:p/>
          <a:p>
            <a:r>
              <a:t>Las comparaciones usan las mismas etiquetas y particiones. Esquema de entradas; no representa predicciones ni resultados.</a:t>
            </a:r>
          </a:p>
          <a:p/>
          <a:p>
            <a:r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se hará en la tesis</a:t>
            </a:r>
          </a:p>
          <a:p/>
          <a:p>
            <a:r>
              <a:t>Objetivos específicos</a:t>
            </a:r>
          </a:p>
          <a:p/>
          <a:p>
            <a:r>
              <a:t>1</a:t>
            </a:r>
          </a:p>
          <a:p/>
          <a:p>
            <a:r>
              <a:t>Revisar la literatura sobre atención y activación emocional, con énfasis en modelos temporales y fusión de señales.</a:t>
            </a:r>
          </a:p>
          <a:p/>
          <a:p>
            <a:r>
              <a:t>2</a:t>
            </a:r>
          </a:p>
          <a:p/>
          <a:p>
            <a:r>
              <a:t>Caracterizar las señales disponibles y sincronizar EEG, GSR, eye tracking y pupilometría con criterios de calidad definidos.</a:t>
            </a:r>
          </a:p>
          <a:p/>
          <a:p>
            <a:r>
              <a:t>3</a:t>
            </a:r>
          </a:p>
          <a:p/>
          <a:p>
            <a:r>
              <a:t>Definir las pseudoetiquetas continuas y categóricas de atención y activación, comprobar su estabilidad y separar las señales de etiquetado y predicción.</a:t>
            </a:r>
          </a:p>
          <a:p/>
          <a:p>
            <a:r>
              <a:t>4</a:t>
            </a:r>
          </a:p>
          <a:p/>
          <a:p>
            <a:r>
              <a:t>Comparar modelos temporales y estáticos en participantes no usados para su ajuste, seleccionando hiperparámetros dentro del entrenamiento.</a:t>
            </a:r>
          </a:p>
          <a:p/>
          <a:p>
            <a:r>
              <a:t>5</a:t>
            </a:r>
          </a:p>
          <a:p/>
          <a:p>
            <a:r>
              <a:t>Medir el aporte de señales e historial mediante estudios de ablación y comparaciones entre fusión temprana, intermedia y tardía.</a:t>
            </a:r>
          </a:p>
          <a:p/>
          <a:p>
            <a:r>
              <a:t>6</a:t>
            </a:r>
          </a:p>
          <a:p/>
          <a:p>
            <a:r>
              <a:t>Describir los cambios durante la sesión en los scores de atención y activación, buscando patrones compatibles con fatiga o habituación.</a:t>
            </a:r>
          </a:p>
          <a:p/>
          <a:p>
            <a:r>
              <a:t>7</a:t>
            </a:r>
          </a:p>
          <a:p/>
          <a:p>
            <a:r>
              <a:t>Contrastar la hipótesis a partir de las diferencias de desempeño, sus intervalos de incertidumbre y la variación entre participantes.</a:t>
            </a:r>
          </a:p>
          <a:p/>
          <a:p>
            <a:r>
              <a:t>Ablación: retirar una señal o el historial y medir cuánto cambia el desempeño. El análisis de fatiga y habituación es descriptivo.</a:t>
            </a:r>
          </a:p>
          <a:p/>
          <a:p>
            <a:r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Discovery in Databases · Descubrimiento de conocimiento en datos</a:t>
            </a:r>
          </a:p>
          <a:p/>
          <a:p>
            <a:r>
              <a:t>Metodología KDD</a:t>
            </a:r>
          </a:p>
          <a:p/>
          <a:p>
            <a:r>
              <a:t>KDD organiza el trabajo desde los registros originales hasta la interpretación de los resultados.</a:t>
            </a:r>
          </a:p>
          <a:p/>
          <a:p>
            <a:r>
              <a:t>Etapa</a:t>
            </a:r>
          </a:p>
          <a:p/>
          <a:p>
            <a:r>
              <a:t>Qué se hace en esta tesis</a:t>
            </a:r>
          </a:p>
          <a:p/>
          <a:p>
            <a:r>
              <a:t>Qué se obtiene</a:t>
            </a:r>
          </a:p>
          <a:p/>
          <a:p>
            <a:r>
              <a:t>1</a:t>
            </a:r>
          </a:p>
          <a:p/>
          <a:p>
            <a:r>
              <a:t>Selección</a:t>
            </a:r>
          </a:p>
          <a:p/>
          <a:p>
            <a:r>
              <a:t>Elegir participantes, sesiones y señales de la Toma de Muestra 2.</a:t>
            </a:r>
          </a:p>
          <a:p/>
          <a:p>
            <a:r>
              <a:t>Corpus de trabajo</a:t>
            </a:r>
          </a:p>
          <a:p/>
          <a:p>
            <a:r>
              <a:t>2</a:t>
            </a:r>
          </a:p>
          <a:p/>
          <a:p>
            <a:r>
              <a:t>Preprocesamiento</a:t>
            </a:r>
          </a:p>
          <a:p/>
          <a:p>
            <a:r>
              <a:t>Revisar calidad, tratar faltantes y alinear las señales en el tiempo.</a:t>
            </a:r>
          </a:p>
          <a:p/>
          <a:p>
            <a:r>
              <a:t>Registros sincronizados</a:t>
            </a:r>
          </a:p>
          <a:p/>
          <a:p>
            <a:r>
              <a:t>3</a:t>
            </a:r>
          </a:p>
          <a:p/>
          <a:p>
            <a:r>
              <a:t>Transformación</a:t>
            </a:r>
          </a:p>
          <a:p/>
          <a:p>
            <a:r>
              <a:t>Crear ventanas de 2 s, características, pseudoetiquetas y secuencias.</a:t>
            </a:r>
          </a:p>
          <a:p/>
          <a:p>
            <a:r>
              <a:t>Datos para los modelos</a:t>
            </a:r>
          </a:p>
          <a:p/>
          <a:p>
            <a:r>
              <a:t>4</a:t>
            </a:r>
          </a:p>
          <a:p/>
          <a:p>
            <a:r>
              <a:t>Minería de datos</a:t>
            </a:r>
          </a:p>
          <a:p/>
          <a:p>
            <a:r>
              <a:t>Entrenar modelos estáticos y temporales; ajustar sus parámetros.</a:t>
            </a:r>
          </a:p>
          <a:p/>
          <a:p>
            <a:r>
              <a:t>Modelos ajustados</a:t>
            </a:r>
          </a:p>
          <a:p/>
          <a:p>
            <a:r>
              <a:t>5</a:t>
            </a:r>
          </a:p>
          <a:p/>
          <a:p>
            <a:r>
              <a:t>Interpretación y evaluación</a:t>
            </a:r>
          </a:p>
          <a:p/>
          <a:p>
            <a:r>
              <a:t>Comparar el desempeño y revisar qué señales e historial aportan.</a:t>
            </a:r>
          </a:p>
          <a:p/>
          <a:p>
            <a:r>
              <a:t>Resultados y limitaciones</a:t>
            </a:r>
          </a:p>
          <a:p/>
          <a:p>
            <a:r>
              <a:t>Se vuelve a las etapas anteriores cuando hace falta, usando solo los datos de desarrollo.</a:t>
            </a:r>
          </a:p>
          <a:p/>
          <a:p>
            <a:r>
              <a:t>Adaptación de Fayyad, Piatetsky-Shapiro y Smyth (1996), AI Magazine 17(3), 37–54. DOI: 10.1609/aimag.v17i3.1230.</a:t>
            </a:r>
          </a:p>
          <a:p/>
          <a:p>
            <a:r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Transformación · Etapa 3 de KDD</a:t>
            </a:r>
          </a:p>
          <a:p/>
          <a:p>
            <a:r>
              <a:t>Cómo se construyen las etiquetas</a:t>
            </a:r>
          </a:p>
          <a:p/>
          <a:p>
            <a:r>
              <a:t>Una pseudoetiqueta es un valor estimado a partir de las señales: se usa como referencia para entrenar y evaluar.</a:t>
            </a:r>
          </a:p>
          <a:p/>
          <a:p>
            <a:r>
              <a:t>Modelo Profesor: crea la referencia</a:t>
            </a:r>
          </a:p>
          <a:p/>
          <a:p>
            <a:r>
              <a:t>Modelo Estudiante: intenta predecirla</a:t>
            </a:r>
          </a:p>
          <a:p/>
          <a:p>
            <a:r>
              <a:t>Atención</a:t>
            </a:r>
          </a:p>
          <a:p/>
          <a:p>
            <a:r>
              <a:t>Mirada + pupilometría</a:t>
            </a:r>
          </a:p>
          <a:p/>
          <a:p>
            <a:r>
              <a:t>Pseudoetiqueta</a:t>
            </a:r>
          </a:p>
          <a:p/>
          <a:p>
            <a:r>
              <a:t>EEG + GSR</a:t>
            </a:r>
          </a:p>
          <a:p/>
          <a:p>
            <a:r>
              <a:t>predice</a:t>
            </a:r>
          </a:p>
          <a:p/>
          <a:p>
            <a:r>
              <a:t>Activación</a:t>
            </a:r>
          </a:p>
          <a:p/>
          <a:p>
            <a:r>
              <a:t>GSR</a:t>
            </a:r>
          </a:p>
          <a:p/>
          <a:p>
            <a:r>
              <a:t>Pseudoetiqueta</a:t>
            </a:r>
          </a:p>
          <a:p/>
          <a:p>
            <a:r>
              <a:t>EEG + mirada + pupilometría</a:t>
            </a:r>
          </a:p>
          <a:p/>
          <a:p>
            <a:r>
              <a:t>predice</a:t>
            </a:r>
          </a:p>
          <a:p/>
          <a:p>
            <a:r>
              <a:t>Las señales que crean la etiqueta quedan fuera de las entradas del modelo que la predice.</a:t>
            </a:r>
          </a:p>
          <a:p/>
          <a:p>
            <a:r>
              <a:t>Eye tracking mide la mirada, no la atención directa. GSR aproxima activación (arousal), sin identificar alegría, tristeza u otras emociones.</a:t>
            </a:r>
          </a:p>
          <a:p/>
          <a:p>
            <a:r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Minería de datos y evaluación · Etapas 4 y 5 de KDD</a:t>
            </a:r>
          </a:p>
          <a:p/>
          <a:p>
            <a:r>
              <a:t>Cómo se comparan los modelos</a:t>
            </a:r>
          </a:p>
          <a:p/>
          <a:p>
            <a:r>
              <a:t>La fusión cambia el momento en que se combinan las señales.</a:t>
            </a:r>
          </a:p>
          <a:p/>
          <a:p>
            <a:r>
              <a:t>Temprana</a:t>
            </a:r>
          </a:p>
          <a:p/>
          <a:p>
            <a:r>
              <a:t>Unir características antes del modelo.</a:t>
            </a:r>
          </a:p>
          <a:p/>
          <a:p>
            <a:r>
              <a:t>A</a:t>
            </a:r>
          </a:p>
          <a:p/>
          <a:p>
            <a:r>
              <a:t>B</a:t>
            </a:r>
          </a:p>
          <a:p/>
          <a:p>
            <a:r>
              <a:t>A + B</a:t>
            </a:r>
          </a:p>
          <a:p/>
          <a:p>
            <a:r>
              <a:t>Modelo</a:t>
            </a:r>
          </a:p>
          <a:p/>
          <a:p>
            <a:r>
              <a:t>Intermedia</a:t>
            </a:r>
          </a:p>
          <a:p/>
          <a:p>
            <a:r>
              <a:t>Unir representaciones aprendidas.</a:t>
            </a:r>
          </a:p>
          <a:p/>
          <a:p>
            <a:r>
              <a:t>A</a:t>
            </a:r>
          </a:p>
          <a:p/>
          <a:p>
            <a:r>
              <a:t>B</a:t>
            </a:r>
          </a:p>
          <a:p/>
          <a:p>
            <a:r>
              <a:t>Red</a:t>
            </a:r>
          </a:p>
          <a:p/>
          <a:p>
            <a:r>
              <a:t>Red</a:t>
            </a:r>
          </a:p>
          <a:p/>
          <a:p>
            <a:r>
              <a:t>Unión</a:t>
            </a:r>
          </a:p>
          <a:p/>
          <a:p>
            <a:r>
              <a:t>Tardía</a:t>
            </a:r>
          </a:p>
          <a:p/>
          <a:p>
            <a:r>
              <a:t>Combinar las predicciones de cada modelo.</a:t>
            </a:r>
          </a:p>
          <a:p/>
          <a:p>
            <a:r>
              <a:t>Modelo A</a:t>
            </a:r>
          </a:p>
          <a:p/>
          <a:p>
            <a:r>
              <a:t>Modelo B</a:t>
            </a:r>
          </a:p>
          <a:p/>
          <a:p>
            <a:r>
              <a:t>Promedio /</a:t>
            </a:r>
          </a:p>
          <a:p>
            <a:r>
              <a:t>combinación</a:t>
            </a:r>
          </a:p>
          <a:p/>
          <a:p>
            <a:r>
              <a:t>A y B representan modalidades, como EEG y GSR. Solo se usan las señales permitidas para cada variable.</a:t>
            </a:r>
          </a:p>
          <a:p/>
          <a:p>
            <a:r>
              <a:t>Comparación justa</a:t>
            </a:r>
          </a:p>
          <a:p/>
          <a:p>
            <a:r>
              <a:t>Mismas etiquetas y participantes.</a:t>
            </a:r>
          </a:p>
          <a:p>
            <a:r>
              <a:t>Ajuste dentro del entrenamiento; evaluación final reservada.</a:t>
            </a:r>
          </a:p>
          <a:p/>
          <a:p>
            <a:r>
              <a:t>Exactitud balanceada (BA),</a:t>
            </a:r>
          </a:p>
          <a:p>
            <a:r>
              <a:t>macro-F1 y recall por clase.</a:t>
            </a:r>
          </a:p>
          <a:p>
            <a:r>
              <a:t>Variación entre participantes.</a:t>
            </a:r>
          </a:p>
          <a:p/>
          <a:p>
            <a:r>
              <a:t>Evaluación offline; búsquedas previas exploratorias. Recall: proporción detectada por clase. BA: promedio de esos recalls. Macro-F1: promedio por clase del equilibrio entre precisión y recall.</a:t>
            </a:r>
          </a:p>
          <a:p/>
          <a:p>
            <a:r>
              <a:t>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Universidad de Chile · Magíster en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9372600" cy="278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700" b="0">
                <a:solidFill>
                  <a:srgbClr val="16324F"/>
                </a:solidFill>
                <a:latin typeface="Cambria"/>
              </a:defRPr>
            </a:pPr>
            <a:r>
              <a:t>Modelos temporales multimodales para la detección de atención y activación emocional durante la navegación web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4000500"/>
            <a:ext cx="86360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6324F"/>
                </a:solidFill>
                <a:latin typeface="Arial"/>
              </a:defRPr>
            </a:pPr>
            <a:r>
              <a:t>Mario Romero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4572000"/>
            <a:ext cx="90805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Profesor guía: Dr. Juan D. Velásquez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5499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Antecedentes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121400"/>
            <a:ext cx="8636000" cy="146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El proyecto registra señales fisiológicas mientras las personas navegan por la web. La tesis estudia si su evolución en el tiempo ayuda a predecir atención y activación.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53700" y="1168400"/>
            <a:ext cx="5016500" cy="4343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95000" y="1422400"/>
            <a:ext cx="4445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Una sesión, cuatro señales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0" y="2247900"/>
            <a:ext cx="10795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EEG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026900" y="2387600"/>
            <a:ext cx="76200" cy="8571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03100" y="2473314"/>
            <a:ext cx="76200" cy="4229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179300" y="2494916"/>
            <a:ext cx="76200" cy="2069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255500" y="2426239"/>
            <a:ext cx="76200" cy="6867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331700" y="2350855"/>
            <a:ext cx="76200" cy="7538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407900" y="2313557"/>
            <a:ext cx="76200" cy="3729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484100" y="2313557"/>
            <a:ext cx="76200" cy="244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560300" y="2337962"/>
            <a:ext cx="76200" cy="755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636500" y="2413477"/>
            <a:ext cx="76200" cy="8761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712700" y="2501093"/>
            <a:ext cx="76200" cy="5373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788900" y="2546987"/>
            <a:ext cx="76200" cy="783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865100" y="2483412"/>
            <a:ext cx="76200" cy="6357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941300" y="2400218"/>
            <a:ext cx="76200" cy="8319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017500" y="2343919"/>
            <a:ext cx="76200" cy="5629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093700" y="2343919"/>
            <a:ext cx="76200" cy="190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169900" y="2345821"/>
            <a:ext cx="76200" cy="5896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246100" y="2404786"/>
            <a:ext cx="76200" cy="8307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322300" y="2487861"/>
            <a:ext cx="76200" cy="605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398500" y="2548419"/>
            <a:ext cx="76200" cy="341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3474700" y="2494534"/>
            <a:ext cx="76200" cy="5729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3550900" y="2406023"/>
            <a:ext cx="76200" cy="8851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3627100" y="2332630"/>
            <a:ext cx="76200" cy="7339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703300" y="2312066"/>
            <a:ext cx="76200" cy="2056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779500" y="2312066"/>
            <a:ext cx="76200" cy="4062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855700" y="2352695"/>
            <a:ext cx="76200" cy="762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931900" y="2428966"/>
            <a:ext cx="76200" cy="6655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8100" y="2495517"/>
            <a:ext cx="76200" cy="166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084300" y="2466112"/>
            <a:ext cx="76200" cy="4606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160500" y="2378945"/>
            <a:ext cx="76200" cy="8716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236700" y="2294887"/>
            <a:ext cx="76200" cy="840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312900" y="2256460"/>
            <a:ext cx="76200" cy="3842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389100" y="2256460"/>
            <a:ext cx="76200" cy="2467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465300" y="2281138"/>
            <a:ext cx="76200" cy="7064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541500" y="2351778"/>
            <a:ext cx="76200" cy="7431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617700" y="2426095"/>
            <a:ext cx="76200" cy="3387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4693900" y="2431784"/>
            <a:ext cx="76200" cy="2818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4770100" y="2354328"/>
            <a:ext cx="76200" cy="7745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4846300" y="2267816"/>
            <a:ext cx="76200" cy="8651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4922500" y="2217777"/>
            <a:ext cx="76200" cy="5003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4998700" y="2217777"/>
            <a:ext cx="76200" cy="1224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795000" y="2933700"/>
            <a:ext cx="10795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GSR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026900" y="3169580"/>
            <a:ext cx="76200" cy="1889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103100" y="3188474"/>
            <a:ext cx="76200" cy="1261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179300" y="3201086"/>
            <a:ext cx="76200" cy="592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2255500" y="3206198"/>
            <a:ext cx="76200" cy="80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2331700" y="3199001"/>
            <a:ext cx="76200" cy="719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2407900" y="3186106"/>
            <a:ext cx="76200" cy="1289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2484100" y="3168510"/>
            <a:ext cx="76200" cy="1759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2560300" y="3147463"/>
            <a:ext cx="76200" cy="2104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2636500" y="3124383"/>
            <a:ext cx="76200" cy="2308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2712700" y="3100783"/>
            <a:ext cx="76200" cy="236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2788900" y="3078173"/>
            <a:ext cx="76200" cy="2261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2865100" y="3057976"/>
            <a:ext cx="76200" cy="2019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941300" y="3041447"/>
            <a:ext cx="76200" cy="1652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3017500" y="3029593"/>
            <a:ext cx="76200" cy="1185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3093700" y="3023122"/>
            <a:ext cx="76200" cy="647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169900" y="3022396"/>
            <a:ext cx="76200" cy="72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246100" y="3022396"/>
            <a:ext cx="76200" cy="50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322300" y="3027415"/>
            <a:ext cx="76200" cy="104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398500" y="3037815"/>
            <a:ext cx="76200" cy="1507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3474700" y="3052890"/>
            <a:ext cx="76200" cy="1874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3550900" y="3071635"/>
            <a:ext cx="76200" cy="2116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3627100" y="3092803"/>
            <a:ext cx="76200" cy="2217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3703300" y="3114982"/>
            <a:ext cx="76200" cy="2169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3779500" y="3136675"/>
            <a:ext cx="76200" cy="1971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3855700" y="3156390"/>
            <a:ext cx="76200" cy="1633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3931900" y="3172729"/>
            <a:ext cx="76200" cy="1174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4008100" y="3184470"/>
            <a:ext cx="76200" cy="617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4084300" y="3190584"/>
            <a:ext cx="76200" cy="5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4160500" y="3183985"/>
            <a:ext cx="76200" cy="659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4236700" y="3170908"/>
            <a:ext cx="76200" cy="1307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4312900" y="3151789"/>
            <a:ext cx="76200" cy="191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4389100" y="3127414"/>
            <a:ext cx="76200" cy="2437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4465300" y="3098881"/>
            <a:ext cx="76200" cy="2853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4541500" y="3067540"/>
            <a:ext cx="76200" cy="3134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4617700" y="3034917"/>
            <a:ext cx="76200" cy="3262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4693900" y="3002630"/>
            <a:ext cx="76200" cy="3228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4770100" y="2972304"/>
            <a:ext cx="76200" cy="3032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4846300" y="2945473"/>
            <a:ext cx="76200" cy="2683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4922500" y="2923500"/>
            <a:ext cx="76200" cy="2197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4998700" y="2907500"/>
            <a:ext cx="76200" cy="160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0795000" y="3619500"/>
            <a:ext cx="10795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Mirada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12026900" y="3855818"/>
            <a:ext cx="76200" cy="731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2103100" y="3843280"/>
            <a:ext cx="76200" cy="1253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2179300" y="3826549"/>
            <a:ext cx="76200" cy="1673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2255500" y="3806889"/>
            <a:ext cx="76200" cy="1966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2331700" y="3785718"/>
            <a:ext cx="76200" cy="211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2407900" y="3764528"/>
            <a:ext cx="76200" cy="2119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2484100" y="3744795"/>
            <a:ext cx="76200" cy="1973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2560300" y="3727886"/>
            <a:ext cx="76200" cy="1690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2636500" y="3714987"/>
            <a:ext cx="76200" cy="1289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2712700" y="3707023"/>
            <a:ext cx="76200" cy="796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2788900" y="3704610"/>
            <a:ext cx="76200" cy="241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2865100" y="3704610"/>
            <a:ext cx="76200" cy="34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2941300" y="3708015"/>
            <a:ext cx="76200" cy="912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3017500" y="3717136"/>
            <a:ext cx="76200" cy="1437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3093700" y="3731512"/>
            <a:ext cx="76200" cy="1883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3169900" y="3750347"/>
            <a:ext cx="76200" cy="222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3246100" y="3772552"/>
            <a:ext cx="76200" cy="2426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3322300" y="3796814"/>
            <a:ext cx="76200" cy="2485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3398500" y="3821664"/>
            <a:ext cx="76200" cy="239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3474700" y="3845569"/>
            <a:ext cx="76200" cy="2144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3550900" y="3867016"/>
            <a:ext cx="76200" cy="1759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3627100" y="3884606"/>
            <a:ext cx="76200" cy="1252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3703300" y="3897129"/>
            <a:ext cx="76200" cy="65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3779500" y="3903527"/>
            <a:ext cx="76200" cy="11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3855700" y="3896519"/>
            <a:ext cx="76200" cy="700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3931900" y="3882735"/>
            <a:ext cx="76200" cy="1378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4008100" y="3862667"/>
            <a:ext cx="76200" cy="2006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4084300" y="3837159"/>
            <a:ext cx="76200" cy="2550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4160500" y="3807359"/>
            <a:ext cx="76200" cy="2980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4236700" y="3774659"/>
            <a:ext cx="76200" cy="3270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4312900" y="3740620"/>
            <a:ext cx="76200" cy="3403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4389100" y="3706884"/>
            <a:ext cx="76200" cy="3373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465300" y="3675086"/>
            <a:ext cx="76200" cy="3179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4541500" y="3646761"/>
            <a:ext cx="76200" cy="2832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4617700" y="3623264"/>
            <a:ext cx="76200" cy="2349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4693900" y="3605691"/>
            <a:ext cx="76200" cy="1757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4770100" y="3594820"/>
            <a:ext cx="76200" cy="108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4846300" y="3591072"/>
            <a:ext cx="76200" cy="374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4922500" y="3591072"/>
            <a:ext cx="76200" cy="34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4998700" y="3594487"/>
            <a:ext cx="76200" cy="1023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795000" y="4305300"/>
            <a:ext cx="10795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Pupila</a:t>
            </a:r>
          </a:p>
        </p:txBody>
      </p:sp>
      <p:cxnSp>
        <p:nvCxnSpPr>
          <p:cNvPr id="136" name="Connector 135"/>
          <p:cNvCxnSpPr/>
          <p:nvPr/>
        </p:nvCxnSpPr>
        <p:spPr>
          <a:xfrm flipV="1">
            <a:off x="12026900" y="4440741"/>
            <a:ext cx="76200" cy="2038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2103100" y="4420911"/>
            <a:ext cx="76200" cy="1983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2179300" y="4403089"/>
            <a:ext cx="76200" cy="178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2255500" y="4388601"/>
            <a:ext cx="76200" cy="1448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2331700" y="4378569"/>
            <a:ext cx="76200" cy="1003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2407900" y="4373847"/>
            <a:ext cx="76200" cy="47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2484100" y="4373847"/>
            <a:ext cx="76200" cy="111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2560300" y="4374964"/>
            <a:ext cx="76200" cy="713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2636500" y="4382096"/>
            <a:ext cx="76200" cy="1295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2712700" y="4395048"/>
            <a:ext cx="76200" cy="1821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2788900" y="4413264"/>
            <a:ext cx="76200" cy="2259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2865100" y="4435860"/>
            <a:ext cx="76200" cy="2580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2941300" y="4461667"/>
            <a:ext cx="76200" cy="2763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3017500" y="4489302"/>
            <a:ext cx="76200" cy="2793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3093700" y="4517241"/>
            <a:ext cx="76200" cy="2666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3169900" y="4543910"/>
            <a:ext cx="76200" cy="2386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3246100" y="4567772"/>
            <a:ext cx="76200" cy="1964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3322300" y="4587418"/>
            <a:ext cx="76200" cy="1422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3398500" y="4601645"/>
            <a:ext cx="76200" cy="788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3474700" y="4609527"/>
            <a:ext cx="76200" cy="94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3550900" y="4604254"/>
            <a:ext cx="76200" cy="62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3627100" y="4591030"/>
            <a:ext cx="76200" cy="1322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3703300" y="4571332"/>
            <a:ext cx="76200" cy="1969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3779500" y="4546042"/>
            <a:ext cx="76200" cy="2529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3855700" y="4516340"/>
            <a:ext cx="76200" cy="2970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3931900" y="4483645"/>
            <a:ext cx="76200" cy="3269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4008100" y="4449534"/>
            <a:ext cx="76200" cy="3411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4084300" y="4415652"/>
            <a:ext cx="76200" cy="3388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4160500" y="4383630"/>
            <a:ext cx="76200" cy="320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4236700" y="4354987"/>
            <a:ext cx="76200" cy="2864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4312900" y="4331051"/>
            <a:ext cx="76200" cy="2393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4389100" y="4312884"/>
            <a:ext cx="76200" cy="1816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4465300" y="4301230"/>
            <a:ext cx="76200" cy="1165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4541500" y="4296470"/>
            <a:ext cx="76200" cy="476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4617700" y="4296470"/>
            <a:ext cx="76200" cy="213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4693900" y="4298606"/>
            <a:ext cx="76200" cy="865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4770100" y="4307264"/>
            <a:ext cx="76200" cy="1445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4846300" y="4321721"/>
            <a:ext cx="76200" cy="1922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4922500" y="4340945"/>
            <a:ext cx="76200" cy="2271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4998700" y="4363659"/>
            <a:ext cx="76200" cy="2475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2065000" y="5232400"/>
            <a:ext cx="3136900" cy="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15093629" y="5232400"/>
            <a:ext cx="108271" cy="6638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 flipV="1">
            <a:off x="15093629" y="5166018"/>
            <a:ext cx="108271" cy="66382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13335000" y="5575300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Tiempo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553700" y="62357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Pregunta de la tesis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553700" y="6756400"/>
            <a:ext cx="49530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6324F"/>
                </a:solidFill>
                <a:latin typeface="Cambria"/>
              </a:defRPr>
            </a:pPr>
            <a:r>
              <a:t>¿Aporta información el historial de las señales?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Fondecyt 1231122 · Toma de Muestra 2 · 23 de septiembre de 2026. Esquema ilustrativo; no representa datos observados.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Toma de Muestra 2 · Navegación web en laboratorio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Datos disponibles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2006600"/>
            <a:ext cx="87630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Arial"/>
              </a:defRPr>
            </a:pPr>
            <a:r>
              <a:t>48 participantes registrados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2984500"/>
            <a:ext cx="0" cy="5842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46418" y="3460429"/>
            <a:ext cx="66382" cy="1082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12800" y="3460429"/>
            <a:ext cx="66381" cy="1082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06500" y="3060700"/>
            <a:ext cx="78740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66A70"/>
                </a:solidFill>
                <a:latin typeface="Arial"/>
              </a:defRPr>
            </a:pPr>
            <a:r>
              <a:t>41 en el conjunto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500" y="3695700"/>
            <a:ext cx="8255000" cy="838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968"/>
                </a:solidFill>
                <a:latin typeface="Arial"/>
              </a:defRPr>
            </a:pPr>
            <a:r>
              <a:t>6 excluidos por calidad o falta de señal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968"/>
                </a:solidFill>
                <a:latin typeface="Arial"/>
              </a:defRPr>
            </a:pPr>
            <a:r>
              <a:t>1 analizado por separado por sincronización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4876800"/>
            <a:ext cx="87630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La partición se hace por persona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4200" y="5511800"/>
            <a:ext cx="4838700" cy="11176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700" y="5651500"/>
            <a:ext cx="45085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700" y="6184900"/>
            <a:ext cx="45085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Entrenamiento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11800" y="5511800"/>
            <a:ext cx="1549400" cy="11176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2300" y="5651500"/>
            <a:ext cx="12192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2300" y="6184900"/>
            <a:ext cx="12192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Validación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100" y="5511800"/>
            <a:ext cx="1549400" cy="11176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0600" y="5651500"/>
            <a:ext cx="12192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0600" y="6184900"/>
            <a:ext cx="12192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Prueba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7099300"/>
            <a:ext cx="83947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Cada ventana resume 2 segundos de registro.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La siguiente comienza 1 segundo después.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53600" y="21209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45700" y="2095500"/>
            <a:ext cx="54737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EEG · actividad eléctrica cerebral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5700" y="2768600"/>
            <a:ext cx="54737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16 canales · 125 Hz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53600" y="35814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045700" y="3556000"/>
            <a:ext cx="54737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GSR · respuesta electrodérmica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5700" y="4229100"/>
            <a:ext cx="54737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Cambios en la conductancia de la piel · ≈15 Hz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53600" y="50419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45700" y="5016500"/>
            <a:ext cx="54737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Eye tracking · seguimiento ocular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5700" y="5689600"/>
            <a:ext cx="54737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Posición de la mirada y fijaciones · ≈60 Hz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53600" y="65024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45700" y="6477000"/>
            <a:ext cx="54737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Pupilometría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5700" y="7150100"/>
            <a:ext cx="54737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Diámetro de la pupila y validez de la medición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Fuente: preprocesamiento y partición guardada. 25.992 ventanas generadas; 22.201 válidas antes de separar el caso de sensibilidad.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Temporalidad y fusión de señales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Objetivo general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93900"/>
            <a:ext cx="15024100" cy="171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6324F"/>
                </a:solidFill>
                <a:latin typeface="Arial"/>
              </a:defRPr>
            </a:pPr>
            <a:r>
              <a:t>Evaluar si la información temporal y la fusión multimodal mejoran la predicción de pseudoetiquetas de atención y activación emocional durante la navegación web, comparando modelos temporales y estáticos en participantes no utilizados para su ajuste.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4356100"/>
            <a:ext cx="6731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24F"/>
                </a:solidFill>
                <a:latin typeface="Arial"/>
              </a:defRPr>
            </a:pPr>
            <a:r>
              <a:t>Modelo estático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5143500"/>
            <a:ext cx="28448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2959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Ventana actual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94100" y="5537200"/>
            <a:ext cx="800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285929" y="5537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285929" y="5470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59300" y="5143500"/>
            <a:ext cx="2755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7100" y="5295900"/>
            <a:ext cx="24003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Predicción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261100"/>
            <a:ext cx="6858000" cy="711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B5968"/>
                </a:solidFill>
                <a:latin typeface="Arial"/>
              </a:defRPr>
            </a:pPr>
            <a:r>
              <a:t>Usa las características de una ventana.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0" y="4356100"/>
            <a:ext cx="6731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24F"/>
                </a:solidFill>
                <a:latin typeface="Arial"/>
              </a:defRPr>
            </a:pPr>
            <a:r>
              <a:t>Modelo temporal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35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1300" y="5295900"/>
            <a:ext cx="4953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t−2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187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96500" y="5295900"/>
            <a:ext cx="4953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t−1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39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1700" y="5295900"/>
            <a:ext cx="4953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99900" y="5537200"/>
            <a:ext cx="6223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413929" y="5537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2413929" y="5470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2674600" y="5143500"/>
            <a:ext cx="28448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52400" y="52959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Predicción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0" y="6261100"/>
            <a:ext cx="654050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B5968"/>
                </a:solidFill>
                <a:latin typeface="Arial"/>
              </a:defRPr>
            </a:pPr>
            <a:r>
              <a:t>Usa varias ventanas en su orden temporal.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7391400"/>
            <a:ext cx="1490980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En ambos casos se comparan distintas formas de combinar las señales: fusión temprana, intermedia y tardía.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Las comparaciones usan las mismas etiquetas y particiones. Esquema de entradas; no representa predicciones ni resultados.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Qué se hará en la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Objetivos específicos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20955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1900" y="2095500"/>
            <a:ext cx="64262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Revisar la literatura sobre atención y activación emocional, con énfasis en modelos temporales y fusión de señales.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40132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00" y="4013200"/>
            <a:ext cx="64262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Caracterizar las señales disponibles y sincronizar EEG, GSR, eye tracking y pupilometría con criterios de calidad definidos.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59309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1900" y="5930900"/>
            <a:ext cx="64262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Definir las pseudoetiquetas continuas y categóricas de atención y activación, comprobar su estabilidad y separar las señales de etiquetado y predicción.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0" y="19685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3700" y="1968500"/>
            <a:ext cx="63500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Comparar modelos temporales y estáticos en participantes no usados para su ajuste, seleccionando hiperparámetros dentro del entrenamiento.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5814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3700" y="3581400"/>
            <a:ext cx="63500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Medir el aporte de señales e historial mediante estudios de ablación y comparaciones entre fusión temprana, intermedia y tardía.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51943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3700" y="5194300"/>
            <a:ext cx="63500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Describir los cambios durante la sesión en los scores de atención y activación, buscando patrones compatibles con fatiga o habituación.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0" y="6807200"/>
            <a:ext cx="4826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3700" y="6807200"/>
            <a:ext cx="6350000" cy="142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Contrastar la hipótesis a partir de las diferencias de desempeño, sus intervalos de incertidumbre y la variación entre participantes.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Ablación: retirar una señal o el historial y medir cuánto cambia el desempeño. El análisis de fatiga y habituación es descriptivo.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Knowledge Discovery in Databases · Descubrimiento de conocimiento en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Metodología KDD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05000"/>
            <a:ext cx="15062200" cy="69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6324F"/>
                </a:solidFill>
                <a:latin typeface="Arial"/>
              </a:defRPr>
            </a:pPr>
            <a:r>
              <a:t>KDD organiza el trabajo desde los registros originales hasta la interpretación de los resultados.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2781300"/>
            <a:ext cx="3619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B5968"/>
                </a:solidFill>
                <a:latin typeface="Arial"/>
              </a:defRPr>
            </a:pPr>
            <a:r>
              <a:t>Etapa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8600" y="2781300"/>
            <a:ext cx="5156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B5968"/>
                </a:solidFill>
                <a:latin typeface="Arial"/>
              </a:defRPr>
            </a:pPr>
            <a:r>
              <a:t>Qué se hace en esta tesis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23700" y="2781300"/>
            <a:ext cx="3746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B5968"/>
                </a:solidFill>
                <a:latin typeface="Arial"/>
              </a:defRPr>
            </a:pPr>
            <a:r>
              <a:t>Qué se obtiene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3302000"/>
            <a:ext cx="15087600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4417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34036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Selección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8600" y="34036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Elegir participantes, sesiones y señales de la Toma de Muestra 2.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60100" y="36830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423329" y="36830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1423329" y="36166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823700" y="34544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Corpus de trabajo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800" y="38989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873418" y="40192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39800" y="40192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300" y="42799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42418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Preprocesamiento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8600" y="42418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Revisar calidad, tratar faltantes y alinear las señales en el tiempo.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60100" y="45212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423329" y="4521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1423329" y="4454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823700" y="42926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Registros sincronizados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9800" y="47371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73418" y="48574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39800" y="48574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84200" y="4978400"/>
            <a:ext cx="15087600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300" y="51181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0000" y="50800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Transformación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8600" y="50800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Crear ventanas de 2 s, características, pseudoetiquetas y secuencias.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960100" y="53594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1423329" y="53594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1423329" y="52930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823700" y="51308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Datos para los modelos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9800" y="55753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73418" y="56956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39800" y="56956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9300" y="59563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0000" y="59182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Minería de datos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8600" y="59182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Entrenar modelos estáticos y temporales; ajustar sus parámetros.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960100" y="61976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1423329" y="61976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1423329" y="61312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823700" y="59690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Modelos ajustados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9800" y="64135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873418" y="65338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39800" y="65338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84200" y="6654800"/>
            <a:ext cx="15087600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300" y="6794500"/>
            <a:ext cx="393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0000" y="6756400"/>
            <a:ext cx="37211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Interpretación y evaluación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8600" y="6756400"/>
            <a:ext cx="53467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Comparar el desempeño y revisar qué señales e historial aportan.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960100" y="7035800"/>
            <a:ext cx="5715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1423329" y="70358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1423329" y="69694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1823700" y="68072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6A70"/>
                </a:solidFill>
                <a:latin typeface="Arial"/>
              </a:defRPr>
            </a:pPr>
            <a:r>
              <a:t>Resultados y limitaciones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1409700" y="8013700"/>
            <a:ext cx="89662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409700" y="7947318"/>
            <a:ext cx="108270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409700" y="8013700"/>
            <a:ext cx="108270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409700" y="7658100"/>
            <a:ext cx="139446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B5968"/>
                </a:solidFill>
                <a:latin typeface="Arial"/>
              </a:defRPr>
            </a:pPr>
            <a:r>
              <a:t>Se vuelve a las etapas anteriores cuando hace falta, usando solo los datos de desarrollo.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Adaptación de Fayyad, Piatetsky-Shapiro y Smyth (1996), AI Magazine 17(3), 37–54. DOI: 10.1609/aimag.v17i3.1230.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Transformación · Etapa 3 de KDD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Cómo se construyen las etiquetas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81200"/>
            <a:ext cx="15011400" cy="812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6324F"/>
                </a:solidFill>
                <a:latin typeface="Arial"/>
              </a:defRPr>
            </a:pPr>
            <a:r>
              <a:t>Una pseudoetiqueta es un valor estimado a partir de las señales: se usa como referencia para entrenar y evaluar.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3175000"/>
            <a:ext cx="81153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B5968"/>
                </a:solidFill>
                <a:latin typeface="Arial"/>
              </a:defRPr>
            </a:pPr>
            <a:r>
              <a:t>Modelo Profesor: crea la referencia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2900" y="3175000"/>
            <a:ext cx="64262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B5968"/>
                </a:solidFill>
                <a:latin typeface="Arial"/>
              </a:defRPr>
            </a:pPr>
            <a:r>
              <a:t>Modelo Estudiante: intenta predecirla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924300"/>
            <a:ext cx="20828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Atención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7500" y="3911600"/>
            <a:ext cx="36957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300" y="4064000"/>
            <a:ext cx="3340100" cy="749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Mirada + pupilometría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80200" y="4394200"/>
            <a:ext cx="5969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68829" y="4394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168829" y="4327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416800" y="3911600"/>
            <a:ext cx="2311400" cy="977900"/>
          </a:xfrm>
          <a:prstGeom prst="rect">
            <a:avLst/>
          </a:prstGeom>
          <a:solidFill>
            <a:srgbClr val="FFFFFF"/>
          </a:solidFill>
          <a:ln w="16510">
            <a:solidFill>
              <a:srgbClr val="066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1900" y="4191000"/>
            <a:ext cx="20066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66A70"/>
                </a:solidFill>
                <a:latin typeface="Arial"/>
              </a:defRPr>
            </a:pPr>
            <a:r>
              <a:t>Pseudoetiqueta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918700" y="4394200"/>
            <a:ext cx="2806700" cy="0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918700" y="4327818"/>
            <a:ext cx="108270" cy="66382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18700" y="4394200"/>
            <a:ext cx="108270" cy="66381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2839700" y="3911600"/>
            <a:ext cx="28321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017500" y="4064000"/>
            <a:ext cx="2476500" cy="749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EEG + GSR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975100"/>
            <a:ext cx="17526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5DA0"/>
                </a:solidFill>
                <a:latin typeface="Arial"/>
              </a:defRPr>
            </a:pPr>
            <a:r>
              <a:t>predice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5765800"/>
            <a:ext cx="20828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Activación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0" y="5753100"/>
            <a:ext cx="36957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5300" y="5905500"/>
            <a:ext cx="3340100" cy="749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GSR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80200" y="6235700"/>
            <a:ext cx="5969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168829" y="62357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7168829" y="61693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416800" y="5753100"/>
            <a:ext cx="2311400" cy="977900"/>
          </a:xfrm>
          <a:prstGeom prst="rect">
            <a:avLst/>
          </a:prstGeom>
          <a:solidFill>
            <a:srgbClr val="FFFFFF"/>
          </a:solidFill>
          <a:ln w="16510">
            <a:solidFill>
              <a:srgbClr val="066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1900" y="6032500"/>
            <a:ext cx="20066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66A70"/>
                </a:solidFill>
                <a:latin typeface="Arial"/>
              </a:defRPr>
            </a:pPr>
            <a:r>
              <a:t>Pseudoetiqueta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9918700" y="6235700"/>
            <a:ext cx="2806700" cy="0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918700" y="6169318"/>
            <a:ext cx="108270" cy="66382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18700" y="6235700"/>
            <a:ext cx="108270" cy="66381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2839700" y="5753100"/>
            <a:ext cx="28321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017500" y="5905500"/>
            <a:ext cx="2476500" cy="749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EEG + mirada + pupilometría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5816600"/>
            <a:ext cx="17526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5DA0"/>
                </a:solidFill>
                <a:latin typeface="Arial"/>
              </a:defRPr>
            </a:pPr>
            <a:r>
              <a:t>predice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7607300"/>
            <a:ext cx="15062200" cy="622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324F"/>
                </a:solidFill>
                <a:latin typeface="Arial"/>
              </a:defRPr>
            </a:pPr>
            <a:r>
              <a:t>Las señales que crean la etiqueta quedan fuera de las entradas del modelo que la predice.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Eye tracking mide la mirada, no la atención directa. GSR aproxima activación (arousal), sin identificar alegría, tristeza u otras emociones.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200" y="520700"/>
            <a:ext cx="431800" cy="508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Minería de datos y evaluación · Etapas 4 y 5 de KDD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Cómo se comparan los modelos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68500"/>
            <a:ext cx="1507490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6324F"/>
                </a:solidFill>
                <a:latin typeface="Arial"/>
              </a:defRPr>
            </a:pPr>
            <a:r>
              <a:t>La fusión cambia el momento en que se combinan las señales.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781300"/>
            <a:ext cx="45974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Temprana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3365500"/>
            <a:ext cx="45974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Unir características antes del modelo.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4483100"/>
            <a:ext cx="7366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46355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200" y="5283200"/>
            <a:ext cx="7366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4356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09700" y="4762500"/>
            <a:ext cx="609600" cy="3683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892302" y="5130800"/>
            <a:ext cx="126998" cy="82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960956" y="5017994"/>
            <a:ext cx="58344" cy="112806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09700" y="5130800"/>
            <a:ext cx="609600" cy="4318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969318" y="5130800"/>
            <a:ext cx="49982" cy="11675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92578" y="5130800"/>
            <a:ext cx="126722" cy="8413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46300" y="4876800"/>
            <a:ext cx="11557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4100" y="502920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 + 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03600" y="5156200"/>
            <a:ext cx="3302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625529" y="5156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625529" y="5089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873500" y="4826000"/>
            <a:ext cx="1435100" cy="6858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1300" y="4978400"/>
            <a:ext cx="10795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6600" y="2781300"/>
            <a:ext cx="45974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Intermedia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6600" y="3365500"/>
            <a:ext cx="45974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Unir representaciones aprendidas.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16600" y="4483100"/>
            <a:ext cx="6604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4400" y="4635500"/>
            <a:ext cx="3048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6600" y="5283200"/>
            <a:ext cx="6604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94400" y="5435600"/>
            <a:ext cx="3048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78600" y="4762500"/>
            <a:ext cx="292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762429" y="47625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762429" y="46961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997700" y="4483100"/>
            <a:ext cx="9144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5500" y="4635500"/>
            <a:ext cx="5588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Red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78600" y="5562600"/>
            <a:ext cx="292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762429" y="55626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6762429" y="54962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997700" y="5283200"/>
            <a:ext cx="9144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5500" y="5435600"/>
            <a:ext cx="5588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Red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13700" y="4762500"/>
            <a:ext cx="330200" cy="3556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221583" y="5083929"/>
            <a:ext cx="122317" cy="341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8318870" y="4993590"/>
            <a:ext cx="25030" cy="12451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013700" y="5118100"/>
            <a:ext cx="330200" cy="4445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332622" y="5118100"/>
            <a:ext cx="11278" cy="12649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226048" y="5118100"/>
            <a:ext cx="117852" cy="4732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470900" y="4826000"/>
            <a:ext cx="1968500" cy="6858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8700" y="4978400"/>
            <a:ext cx="16129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Unión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49000" y="2781300"/>
            <a:ext cx="45974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Tardía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3365500"/>
            <a:ext cx="45974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Combinar las predicciones de cada modelo.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49000" y="4483100"/>
            <a:ext cx="19685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26800" y="4635500"/>
            <a:ext cx="16129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 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131800" y="4762500"/>
            <a:ext cx="419100" cy="3937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13426537" y="5130451"/>
            <a:ext cx="124363" cy="25749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3517436" y="5033687"/>
            <a:ext cx="33464" cy="122513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049000" y="5283200"/>
            <a:ext cx="19685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26800" y="5435600"/>
            <a:ext cx="16129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 B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3131800" y="5156200"/>
            <a:ext cx="419100" cy="4064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3519383" y="5156200"/>
            <a:ext cx="31517" cy="123027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3426961" y="5156200"/>
            <a:ext cx="123939" cy="27716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3728700" y="4711700"/>
            <a:ext cx="1981200" cy="952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906500" y="4864100"/>
            <a:ext cx="16256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Promedio /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combinación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4200" y="6108700"/>
            <a:ext cx="150241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B5968"/>
                </a:solidFill>
                <a:latin typeface="Arial"/>
              </a:defRPr>
            </a:pPr>
            <a:r>
              <a:t>A y B representan modalidades, como EEG y GSR. Solo se usan las señales permitidas para cada variable.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4200" y="68961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84200" y="7213600"/>
            <a:ext cx="38481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324F"/>
                </a:solidFill>
                <a:latin typeface="Arial"/>
              </a:defRPr>
            </a:pPr>
            <a:r>
              <a:t>Comparación justa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13300" y="7150100"/>
            <a:ext cx="5549900" cy="101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Mismas etiquetas y participantes.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Ajuste dentro del entrenamiento; evaluación final reservada.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14100" y="7112000"/>
            <a:ext cx="43307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Exactitud balanceada (BA),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macro-F1 y recall por clase.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Variación entre participantes.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Evaluación offline; búsquedas previas exploratorias. Recall: proporción detectada por clase. BA: promedio de esos recalls. Macro-F1: promedio por clase del equilibrio entre precisión y recall.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393192"/>
            <a:ext cx="256032" cy="32004"/>
          </a:xfrm>
          <a:prstGeom prst="roundRect">
            <a:avLst/>
          </a:prstGeom>
          <a:solidFill>
            <a:srgbClr val="066A70"/>
          </a:solidFill>
          <a:ln w="8890">
            <a:solidFill>
              <a:srgbClr val="06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1014984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968"/>
                </a:solidFill>
                <a:latin typeface="Arial"/>
              </a:rPr>
              <a:t>Revisión del pipeline · 24-10-2026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115568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0">
                <a:solidFill>
                  <a:srgbClr val="16324F"/>
                </a:solidFill>
                <a:latin typeface="Cambria"/>
              </a:rPr>
              <a:t>La auditoría cambió la referencia de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6473952"/>
            <a:ext cx="11292840" cy="10972"/>
          </a:xfrm>
          <a:prstGeom prst="roundRect">
            <a:avLst/>
          </a:prstGeom>
          <a:solidFill>
            <a:srgbClr val="CDD7DF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6510528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B5968"/>
                </a:solidFill>
                <a:latin typeface="Arial"/>
              </a:rPr>
              <a:t>Fuente: Auditoria_PCA_Senales_v2_24-10-2026.md · análisis exploratorio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288" y="6492240"/>
            <a:ext cx="320040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B5968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645920"/>
            <a:ext cx="3611880" cy="2487168"/>
          </a:xfrm>
          <a:prstGeom prst="roundRect">
            <a:avLst/>
          </a:prstGeom>
          <a:solidFill>
            <a:srgbClr val="F1F5F8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56231"/>
            <a:ext cx="324612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66A70"/>
                </a:solidFill>
                <a:latin typeface="Arial"/>
              </a:rPr>
              <a:t>Alineación histórica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78024"/>
            <a:ext cx="3246120" cy="1362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6324F"/>
                </a:solidFill>
                <a:latin typeface="Arial"/>
              </a:rPr>
              <a:t>21.719/21.719 ventanas válidas tenían el componente pupilar en una fila incorrecta.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45920"/>
            <a:ext cx="3611880" cy="2487168"/>
          </a:xfrm>
          <a:prstGeom prst="roundRect">
            <a:avLst/>
          </a:prstGeom>
          <a:solidFill>
            <a:srgbClr val="F1F5F8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56231"/>
            <a:ext cx="324612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66A70"/>
                </a:solidFill>
                <a:latin typeface="Arial"/>
              </a:rPr>
              <a:t>Profesor GSR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478024"/>
            <a:ext cx="3246120" cy="1362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6324F"/>
                </a:solidFill>
                <a:latin typeface="Arial"/>
              </a:rPr>
              <a:t>El PC1 cargaba sobre dos variables SCR que valían cero en ~97 % de train.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645920"/>
            <a:ext cx="3611880" cy="2487168"/>
          </a:xfrm>
          <a:prstGeom prst="roundRect">
            <a:avLst/>
          </a:prstGeom>
          <a:solidFill>
            <a:srgbClr val="F1F5F8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856231"/>
            <a:ext cx="324612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66A70"/>
                </a:solidFill>
                <a:latin typeface="Arial"/>
              </a:rPr>
              <a:t>Contexto 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78024"/>
            <a:ext cx="3246120" cy="1362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6324F"/>
                </a:solidFill>
                <a:latin typeface="Arial"/>
              </a:rPr>
              <a:t>El promedio cruzaba 28 huecos entre ventanas elegibles.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" y="4608576"/>
            <a:ext cx="11247120" cy="11247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6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718304"/>
            <a:ext cx="10789920" cy="7863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6324F"/>
                </a:solidFill>
                <a:latin typeface="Arial"/>
              </a:rPr>
              <a:t>v2: normalización con ventanas elegibles, GSR continuo y reinicio del historial ante huecos.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5971032"/>
            <a:ext cx="110642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9A5C15"/>
                </a:solidFill>
                <a:latin typeface="Arial"/>
              </a:rPr>
              <a:t>Las métricas anteriores quedan como registro histórico; no son comparables con la v2.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393192"/>
            <a:ext cx="256032" cy="32004"/>
          </a:xfrm>
          <a:prstGeom prst="roundRect">
            <a:avLst/>
          </a:prstGeom>
          <a:solidFill>
            <a:srgbClr val="066A70"/>
          </a:solidFill>
          <a:ln w="8890">
            <a:solidFill>
              <a:srgbClr val="06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1014984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968"/>
                </a:solidFill>
                <a:latin typeface="Arial"/>
              </a:rPr>
              <a:t>Transformación y minería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115568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0">
                <a:solidFill>
                  <a:srgbClr val="16324F"/>
                </a:solidFill>
                <a:latin typeface="Cambria"/>
              </a:rPr>
              <a:t>Un PCA por señal, en dos etapas separadas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6473952"/>
            <a:ext cx="11292840" cy="10972"/>
          </a:xfrm>
          <a:prstGeom prst="roundRect">
            <a:avLst/>
          </a:prstGeom>
          <a:solidFill>
            <a:srgbClr val="CDD7DF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6510528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B5968"/>
                </a:solidFill>
                <a:latin typeface="Arial"/>
              </a:rPr>
              <a:t>Fuente: Auditoria_PCA_Senales_v2_24-10-2026.md · análisis exploratorio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288" y="6492240"/>
            <a:ext cx="320040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B5968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1545336"/>
            <a:ext cx="5449824" cy="4361688"/>
          </a:xfrm>
          <a:prstGeom prst="roundRect">
            <a:avLst/>
          </a:prstGeom>
          <a:solidFill>
            <a:srgbClr val="F1F5F8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0488" y="1545336"/>
            <a:ext cx="5522976" cy="4361688"/>
          </a:xfrm>
          <a:prstGeom prst="roundRect">
            <a:avLst/>
          </a:prstGeom>
          <a:solidFill>
            <a:srgbClr val="F1F5F8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709928"/>
            <a:ext cx="4956048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66A70"/>
                </a:solidFill>
                <a:latin typeface="Arial"/>
              </a:rPr>
              <a:t>Modelo Profesor · crea etiquetas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40864"/>
            <a:ext cx="4882896" cy="5577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rial"/>
              </a:rPr>
              <a:t>Atención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61488"/>
            <a:ext cx="4800600" cy="6217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6324F"/>
                </a:solidFill>
                <a:latin typeface="Arial"/>
              </a:rPr>
              <a:t>Mirada 4 → 1 PC (64,2 %)
Pupila 1 → 1 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94176"/>
            <a:ext cx="4754880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rial"/>
              </a:rPr>
              <a:t>Activación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114800"/>
            <a:ext cx="4754880" cy="6766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6324F"/>
                </a:solidFill>
                <a:latin typeface="Arial"/>
              </a:rPr>
              <a:t>GSR tónica + fásica 2 → 1 PC (52,1 %)
Contexto causal de 6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230368"/>
            <a:ext cx="4809744" cy="37490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B5968"/>
                </a:solidFill>
                <a:latin typeface="Arial"/>
              </a:rPr>
              <a:t>Terciles por participante; protocolo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709928"/>
            <a:ext cx="4992624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66A70"/>
                </a:solidFill>
                <a:latin typeface="Arial"/>
              </a:rPr>
              <a:t>Modelo Estudiante · predice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40864"/>
            <a:ext cx="4828032" cy="5577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rial"/>
              </a:rPr>
              <a:t>Atención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761488"/>
            <a:ext cx="4754880" cy="6217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6324F"/>
                </a:solidFill>
                <a:latin typeface="Arial"/>
              </a:rPr>
              <a:t>EEG 9 → 4 PC + GSR 9 → 5 PC
18 entradas → 9 componentes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694176"/>
            <a:ext cx="4754880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rial"/>
              </a:rPr>
              <a:t>Activación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114800"/>
            <a:ext cx="4754880" cy="6766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6324F"/>
                </a:solidFill>
                <a:latin typeface="Arial"/>
              </a:rPr>
              <a:t>EEG 9 → 4 + mirada 10 → 7 + pupila 6 → 4
25 entradas → 15 componentes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5230368"/>
            <a:ext cx="4837176" cy="37490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B5968"/>
                </a:solidFill>
                <a:latin typeface="Arial"/>
              </a:rPr>
              <a:t>Mínimo para retener ≥90 % por señal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6071616"/>
            <a:ext cx="11064240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45DA0"/>
                </a:solidFill>
                <a:latin typeface="Arial"/>
              </a:rPr>
              <a:t>Los PCA, imputadores y modelos se ajustan solo con train; validation y test se transforman.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393192"/>
            <a:ext cx="256032" cy="32004"/>
          </a:xfrm>
          <a:prstGeom prst="roundRect">
            <a:avLst/>
          </a:prstGeom>
          <a:solidFill>
            <a:srgbClr val="066A70"/>
          </a:solidFill>
          <a:ln w="8890">
            <a:solidFill>
              <a:srgbClr val="06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1014984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968"/>
                </a:solidFill>
                <a:latin typeface="Arial"/>
              </a:rPr>
              <a:t>Evaluación · 4.017 ventanas y ocho participantes 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1115568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0">
                <a:solidFill>
                  <a:srgbClr val="16324F"/>
                </a:solidFill>
                <a:latin typeface="Cambria"/>
              </a:rPr>
              <a:t>Reducir entradas conserva casi toda la predicción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6473952"/>
            <a:ext cx="11292840" cy="10972"/>
          </a:xfrm>
          <a:prstGeom prst="roundRect">
            <a:avLst/>
          </a:prstGeom>
          <a:solidFill>
            <a:srgbClr val="CDD7DF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6510528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B5968"/>
                </a:solidFill>
                <a:latin typeface="Arial"/>
              </a:rPr>
              <a:t>Fuente: Auditoria_PCA_Senales_v2_24-10-2026.md · análisis exploratorio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288" y="6492240"/>
            <a:ext cx="320040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4B5968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645920"/>
            <a:ext cx="1993392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66A70"/>
                </a:solidFill>
                <a:latin typeface="Arial"/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1645920"/>
            <a:ext cx="1472184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66A70"/>
                </a:solidFill>
                <a:latin typeface="Arial"/>
              </a:rPr>
              <a:t>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645920"/>
            <a:ext cx="155448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66A70"/>
                </a:solidFill>
                <a:latin typeface="Arial"/>
              </a:rPr>
              <a:t>PCA ≥90 %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645920"/>
            <a:ext cx="1655064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66A70"/>
                </a:solidFill>
                <a:latin typeface="Arial"/>
              </a:rPr>
              <a:t>1 PC/señal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1645920"/>
            <a:ext cx="210312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66A70"/>
                </a:solidFill>
                <a:latin typeface="Arial"/>
              </a:rPr>
              <a:t>Solo estímulo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194560"/>
            <a:ext cx="11201400" cy="804672"/>
          </a:xfrm>
          <a:prstGeom prst="roundRect">
            <a:avLst/>
          </a:prstGeom>
          <a:solidFill>
            <a:srgbClr val="F1F5F8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350008"/>
            <a:ext cx="1993392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6324F"/>
                </a:solidFill>
                <a:latin typeface="Arial"/>
              </a:rPr>
              <a:t>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2350008"/>
            <a:ext cx="1472184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6324F"/>
                </a:solidFill>
                <a:latin typeface="Arial"/>
              </a:rPr>
              <a:t>0,3893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50008"/>
            <a:ext cx="1554480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6324F"/>
                </a:solidFill>
                <a:latin typeface="Arial"/>
              </a:rPr>
              <a:t>0,3871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50008"/>
            <a:ext cx="1655064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6324F"/>
                </a:solidFill>
                <a:latin typeface="Arial"/>
              </a:rPr>
              <a:t>0,3834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350008"/>
            <a:ext cx="2103120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9A5C15"/>
                </a:solidFill>
                <a:latin typeface="Arial"/>
              </a:rPr>
              <a:t>0,4610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227832"/>
            <a:ext cx="11201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383279"/>
            <a:ext cx="1993392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6324F"/>
                </a:solidFill>
                <a:latin typeface="Arial"/>
              </a:rPr>
              <a:t>Activación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3383279"/>
            <a:ext cx="1472184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6324F"/>
                </a:solidFill>
                <a:latin typeface="Arial"/>
              </a:rPr>
              <a:t>0,3637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383279"/>
            <a:ext cx="1554480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6324F"/>
                </a:solidFill>
                <a:latin typeface="Arial"/>
              </a:rPr>
              <a:t>0,3635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383279"/>
            <a:ext cx="1655064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6324F"/>
                </a:solidFill>
                <a:latin typeface="Arial"/>
              </a:rPr>
              <a:t>0,3757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383279"/>
            <a:ext cx="2103120" cy="4480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9A5C15"/>
                </a:solidFill>
                <a:latin typeface="Arial"/>
              </a:rPr>
              <a:t>0,4167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4517136"/>
            <a:ext cx="112014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6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663440"/>
            <a:ext cx="10762488" cy="7680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6324F"/>
                </a:solidFill>
                <a:latin typeface="Arial"/>
              </a:rPr>
              <a:t>El PCA ≥90 % reduce casi a la mitad las entradas. Solo estímulo predice mejor: la validez de las etiquetas sigue abierta.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07608"/>
            <a:ext cx="11018520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B5968"/>
                </a:solidFill>
                <a:latin typeface="Arial"/>
              </a:rPr>
              <a:t>BA = precisión balanceada; Dummy = 0,3333. Test exploratorio, previamente observado.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de tesis MDS · Mario Romero</dc:title>
  <dc:subject/>
  <dc:creator>Mario Romero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es-CL</dc:language>
</cp:coreProperties>
</file>