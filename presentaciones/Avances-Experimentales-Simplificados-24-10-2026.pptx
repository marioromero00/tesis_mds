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etiqueta es una referencia computacional, no una medida directa del estado psicológico.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construcción de las etiquetas es offline. La etiqueta de atención depende de mirada y pupila.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P29 se reserva solo para sensibilidad; seis personas fueron excluidas. La BA global por ventana es otra métrica.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historial puede abarcar hasta nueve segundos. La fusión tardía usa expertos por modalidad y distinta capacidad.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atención, los intervalos descriptivos de esos contrastes fueron [-1,20; -0,05] y [+0,13; +1,86] pp. No corrigen búsqueda previa ni comparaciones múltiples.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Train usa un modelo por fold; test promedia probabilidades de cinco modelos. La diferencia train-test es descriptiva. La referencia 1/k no es un clasificador desplegable.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control preserva frecuencias de clase; el modelo original fue seleccionado con etiquetas de train. Las reglas alternativas de test no reentrenan el predictor.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Conservar la distinción entre evaluación de la pseudoetiqueta y validez del constructo. La disponibilidad de datos externos sigue pendiente de confirmación.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42900"/>
            <a:ext cx="10414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DF0ED"/>
                </a:solidFill>
                <a:latin typeface="Aptos"/>
              </a:defRPr>
            </a:pPr>
            <a:r>
              <a:t>01  /  TESIS MDS · 24 DE OCTUBRE DE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23900"/>
            <a:ext cx="10972800" cy="990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Aptos"/>
              </a:defRPr>
            </a:pPr>
            <a:r>
              <a:t>¿Qué muestran los experimentos recientes?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134100"/>
            <a:ext cx="10972800" cy="12700"/>
          </a:xfrm>
          <a:prstGeom prst="rect">
            <a:avLst/>
          </a:prstGeom>
          <a:solidFill>
            <a:srgbClr val="3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6083300"/>
            <a:ext cx="1371600" cy="381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6235700"/>
            <a:ext cx="102235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DDF0ED"/>
                </a:solidFill>
                <a:latin typeface="Aptos"/>
              </a:defRPr>
            </a:pPr>
            <a:r>
              <a:t>Fuentes: informes experimentales del 24-10-2026; Toma de Muestra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400" y="6235700"/>
            <a:ext cx="7366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DDF0ED"/>
                </a:solidFill>
                <a:latin typeface="Aptos"/>
              </a:defRPr>
            </a:pPr>
            <a:r>
              <a:t>01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879600"/>
            <a:ext cx="10922000" cy="533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Predicción de pseudoetiquetas de activación y atención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2768600"/>
            <a:ext cx="10972800" cy="1968500"/>
          </a:xfrm>
          <a:prstGeom prst="roundRect">
            <a:avLst>
              <a:gd name="adj" fmla="val 10000"/>
            </a:avLst>
          </a:prstGeom>
          <a:solidFill>
            <a:srgbClr val="3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2768600"/>
            <a:ext cx="88900" cy="19685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6300" y="2946400"/>
            <a:ext cx="101092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DDF0ED"/>
                </a:solidFill>
                <a:latin typeface="Aptos"/>
              </a:defRPr>
            </a:pPr>
            <a:r>
              <a:t>PREGUNTA CENTRAL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467100"/>
            <a:ext cx="10121900" cy="977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FFFFFF"/>
                </a:solidFill>
                <a:latin typeface="Aptos"/>
              </a:defRPr>
            </a:pPr>
            <a:r>
              <a:t>¿Pueden EEG, mirada y pupila anticipar una etiqueta calculada con otras señales? ¿Aportan valor el historial o la fusión?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600" y="5003800"/>
            <a:ext cx="10972800" cy="800100"/>
          </a:xfrm>
          <a:prstGeom prst="roundRect">
            <a:avLst>
              <a:gd name="adj" fmla="val 10000"/>
            </a:avLst>
          </a:prstGeom>
          <a:solidFill>
            <a:srgbClr val="DD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900" y="5067300"/>
            <a:ext cx="10477500" cy="660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02A3D"/>
                </a:solidFill>
                <a:latin typeface="Aptos"/>
              </a:defRPr>
            </a:pPr>
            <a:r>
              <a:t>Hay señal alineada en train; la generalización y la validez psicológica siguen abiertas.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42900"/>
            <a:ext cx="10414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E83"/>
                </a:solidFill>
                <a:latin typeface="Aptos"/>
              </a:defRPr>
            </a:pPr>
            <a:r>
              <a:t>02  /  DISEÑO Y SIGNIFICADO DE LA ETIQUETA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23900"/>
            <a:ext cx="10972800" cy="990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02A3D"/>
                </a:solidFill>
                <a:latin typeface="Aptos"/>
              </a:defRPr>
            </a:pPr>
            <a:r>
              <a:t>Profesor y estudiante usan señales separadas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134100"/>
            <a:ext cx="10972800" cy="12700"/>
          </a:xfrm>
          <a:prstGeom prst="rect">
            <a:avLst/>
          </a:prstGeom>
          <a:solidFill>
            <a:srgbClr val="D9E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6083300"/>
            <a:ext cx="2743200" cy="381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6235700"/>
            <a:ext cx="102235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D7180"/>
                </a:solidFill>
                <a:latin typeface="Aptos"/>
              </a:defRPr>
            </a:pPr>
            <a:r>
              <a:t>Fuente: metodología del manuscrito; Evaluacion_Independiente_y_Validez_24-10-2026.md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400" y="6235700"/>
            <a:ext cx="7366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D7180"/>
                </a:solidFill>
                <a:latin typeface="Aptos"/>
              </a:defRPr>
            </a:pPr>
            <a:r>
              <a:t>02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" y="1879600"/>
            <a:ext cx="5143500" cy="2209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879600"/>
            <a:ext cx="5143500" cy="635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900" y="2095500"/>
            <a:ext cx="46863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87E83"/>
                </a:solidFill>
                <a:latin typeface="Aptos"/>
              </a:defRPr>
            </a:pPr>
            <a:r>
              <a:t>PROFESOR · DEFINE EL OBJETIVO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900" y="2565400"/>
            <a:ext cx="4660900" cy="140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348"/>
                </a:solidFill>
                <a:latin typeface="Aptos"/>
              </a:defRPr>
            </a:pPr>
            <a:r>
              <a:t>GSR genera la pseudoetiqueta principal de activación: bajo, medio o alto. Se usan terciles relativos a cada persona y toda su sesión.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38900" y="1879600"/>
            <a:ext cx="5143500" cy="22098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38900" y="1879600"/>
            <a:ext cx="5143500" cy="63500"/>
          </a:xfrm>
          <a:prstGeom prst="rect">
            <a:avLst/>
          </a:prstGeom>
          <a:solidFill>
            <a:srgbClr val="3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80200" y="2095500"/>
            <a:ext cx="46863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76B91"/>
                </a:solidFill>
                <a:latin typeface="Aptos"/>
              </a:defRPr>
            </a:pPr>
            <a:r>
              <a:t>ESTUDIANTE · HACE LA PREDICCIÓN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80200" y="2565400"/>
            <a:ext cx="4660900" cy="140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348"/>
                </a:solidFill>
                <a:latin typeface="Aptos"/>
              </a:defRPr>
            </a:pPr>
            <a:r>
              <a:t>EEG, mirada y pupila predicen esa etiqueta. GSR no entra al predictor. Atención es un objetivo secundario con otra etiqueta.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600" y="4445000"/>
            <a:ext cx="10972800" cy="736600"/>
          </a:xfrm>
          <a:prstGeom prst="roundRect">
            <a:avLst>
              <a:gd name="adj" fmla="val 10000"/>
            </a:avLst>
          </a:prstGeom>
          <a:solidFill>
            <a:srgbClr val="F9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4445000"/>
            <a:ext cx="63500" cy="736600"/>
          </a:xfrm>
          <a:prstGeom prst="rect">
            <a:avLst/>
          </a:prstGeom>
          <a:solidFill>
            <a:srgbClr val="C66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3600" y="4508500"/>
            <a:ext cx="104648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C66A44"/>
                </a:solidFill>
                <a:latin typeface="Aptos"/>
              </a:defRPr>
            </a:pPr>
            <a:r>
              <a:t>“Alto” significa alto para esa persona; no es un umbral fisiológico común ni una etiqueta causal en tiempo real.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42900"/>
            <a:ext cx="10414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E83"/>
                </a:solidFill>
                <a:latin typeface="Aptos"/>
              </a:defRPr>
            </a:pPr>
            <a:r>
              <a:t>03  /  MUESTRA, EVALUACIÓN Y LECTURA DE LA MÉTRICA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23900"/>
            <a:ext cx="10972800" cy="990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02A3D"/>
                </a:solidFill>
                <a:latin typeface="Aptos"/>
              </a:defRPr>
            </a:pPr>
            <a:r>
              <a:t>La partición es por persona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134100"/>
            <a:ext cx="10972800" cy="12700"/>
          </a:xfrm>
          <a:prstGeom prst="rect">
            <a:avLst/>
          </a:prstGeom>
          <a:solidFill>
            <a:srgbClr val="D9E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6083300"/>
            <a:ext cx="4114800" cy="381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6235700"/>
            <a:ext cx="102235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D7180"/>
                </a:solidFill>
                <a:latin typeface="Aptos"/>
              </a:defRPr>
            </a:pPr>
            <a:r>
              <a:t>Fuente: Evaluacion_Independiente_y_Validez_24-10-2026.md; protocolo de robustez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400" y="6235700"/>
            <a:ext cx="7366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D7180"/>
                </a:solidFill>
                <a:latin typeface="Aptos"/>
              </a:defRPr>
            </a:pPr>
            <a:r>
              <a:t>03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" y="1879600"/>
            <a:ext cx="3302000" cy="241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879600"/>
            <a:ext cx="3302000" cy="762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8200" y="2120900"/>
            <a:ext cx="284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E83"/>
                </a:solidFill>
                <a:latin typeface="Aptos"/>
              </a:defRPr>
            </a:pPr>
            <a:r>
              <a:t>TRAIN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2501900"/>
            <a:ext cx="2895600" cy="939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5800" b="1">
                <a:solidFill>
                  <a:srgbClr val="102A3D"/>
                </a:solidFill>
                <a:latin typeface="Aptos"/>
              </a:defRPr>
            </a:pPr>
            <a:r>
              <a:t>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619500"/>
            <a:ext cx="28448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D7180"/>
                </a:solidFill>
                <a:latin typeface="Aptos"/>
              </a:defRPr>
            </a:pPr>
            <a:r>
              <a:t>13.524 ventanas · 5 folds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40200" y="1879600"/>
            <a:ext cx="3302000" cy="241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40200" y="1879600"/>
            <a:ext cx="3302000" cy="76200"/>
          </a:xfrm>
          <a:prstGeom prst="rect">
            <a:avLst/>
          </a:prstGeom>
          <a:solidFill>
            <a:srgbClr val="3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8800" y="2120900"/>
            <a:ext cx="28448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76B91"/>
                </a:solidFill>
                <a:latin typeface="Aptos"/>
              </a:defRPr>
            </a:pPr>
            <a: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501900"/>
            <a:ext cx="2895600" cy="939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5800" b="1">
                <a:solidFill>
                  <a:srgbClr val="102A3D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8800" y="3619500"/>
            <a:ext cx="28448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D7180"/>
                </a:solidFill>
                <a:latin typeface="Aptos"/>
              </a:defRPr>
            </a:pPr>
            <a:r>
              <a:t>Ya usada para comparar entradas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70800" y="1879600"/>
            <a:ext cx="3911600" cy="241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70800" y="1879600"/>
            <a:ext cx="3911600" cy="76200"/>
          </a:xfrm>
          <a:prstGeom prst="rect">
            <a:avLst/>
          </a:prstGeom>
          <a:solidFill>
            <a:srgbClr val="C66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99400" y="2120900"/>
            <a:ext cx="34544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C66A44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74000" y="2501900"/>
            <a:ext cx="3505200" cy="939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5800" b="1">
                <a:solidFill>
                  <a:srgbClr val="102A3D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9400" y="3619500"/>
            <a:ext cx="34544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D7180"/>
                </a:solidFill>
                <a:latin typeface="Aptos"/>
              </a:defRPr>
            </a:pPr>
            <a:r>
              <a:t>4.025 ventanas · ya consultado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9600" y="4521200"/>
            <a:ext cx="10972800" cy="1155700"/>
          </a:xfrm>
          <a:prstGeom prst="roundRect">
            <a:avLst>
              <a:gd name="adj" fmla="val 10000"/>
            </a:avLst>
          </a:prstGeom>
          <a:solidFill>
            <a:srgbClr val="10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3600" y="4660900"/>
            <a:ext cx="97790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BA macro por persona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3600" y="5092700"/>
            <a:ext cx="1009650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DDF0ED"/>
                </a:solidFill>
                <a:latin typeface="Aptos"/>
              </a:defRPr>
            </a:pPr>
            <a:r>
              <a:t>Recall por clase presente, promediado por persona con igual peso.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42900"/>
            <a:ext cx="10414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E83"/>
                </a:solidFill>
                <a:latin typeface="Aptos"/>
              </a:defRPr>
            </a:pPr>
            <a:r>
              <a:t>04  /  CONTRASTE FACTORIAL 2 × 2 · TRAIN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23900"/>
            <a:ext cx="10972800" cy="990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02A3D"/>
                </a:solidFill>
                <a:latin typeface="Aptos"/>
              </a:defRPr>
            </a:pPr>
            <a:r>
              <a:t>El historial aporta poco en activación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134100"/>
            <a:ext cx="10972800" cy="12700"/>
          </a:xfrm>
          <a:prstGeom prst="rect">
            <a:avLst/>
          </a:prstGeom>
          <a:solidFill>
            <a:srgbClr val="D9E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6083300"/>
            <a:ext cx="5486400" cy="381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6235700"/>
            <a:ext cx="102235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D7180"/>
                </a:solidFill>
                <a:latin typeface="Aptos"/>
              </a:defRPr>
            </a:pPr>
            <a:r>
              <a:t>Fuente: Contraste_Temporalidad_Fusion_24-10-2026.md; 25 personas, 5 folds, 2 semillas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400" y="6235700"/>
            <a:ext cx="7366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D7180"/>
                </a:solidFill>
                <a:latin typeface="Aptos"/>
              </a:defRPr>
            </a:pPr>
            <a:r>
              <a:t>04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778000"/>
            <a:ext cx="10972800" cy="482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348"/>
                </a:solidFill>
                <a:latin typeface="Aptos"/>
              </a:defRPr>
            </a:pPr>
            <a:r>
              <a:t>TCN: historial real (R) o ventana actual repetida (C); fusión temprana (E) o tardía (T).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" y="2501900"/>
            <a:ext cx="2552700" cy="1104900"/>
          </a:xfrm>
          <a:prstGeom prst="roundRect">
            <a:avLst>
              <a:gd name="adj" fmla="val 10000"/>
            </a:avLst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7400" y="2628900"/>
            <a:ext cx="21844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5D7180"/>
                </a:solidFill>
                <a:latin typeface="Aptos"/>
              </a:defRPr>
            </a:pPr>
            <a:r>
              <a:t>E-C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7400" y="3009900"/>
            <a:ext cx="21844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02A3D"/>
                </a:solidFill>
                <a:latin typeface="Aptos"/>
              </a:defRPr>
            </a:pPr>
            <a:r>
              <a:t>0,3524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16300" y="2501900"/>
            <a:ext cx="2552700" cy="1104900"/>
          </a:xfrm>
          <a:prstGeom prst="roundRect">
            <a:avLst>
              <a:gd name="adj" fmla="val 10000"/>
            </a:avLst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4100" y="2628900"/>
            <a:ext cx="21844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87E83"/>
                </a:solidFill>
                <a:latin typeface="Aptos"/>
              </a:defRPr>
            </a:pPr>
            <a:r>
              <a:t>E-R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4100" y="3009900"/>
            <a:ext cx="21844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02A3D"/>
                </a:solidFill>
                <a:latin typeface="Aptos"/>
              </a:defRPr>
            </a:pPr>
            <a:r>
              <a:t>0,3612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3000" y="2501900"/>
            <a:ext cx="2552700" cy="1104900"/>
          </a:xfrm>
          <a:prstGeom prst="roundRect">
            <a:avLst>
              <a:gd name="adj" fmla="val 10000"/>
            </a:avLst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628900"/>
            <a:ext cx="21844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76B91"/>
                </a:solidFill>
                <a:latin typeface="Aptos"/>
              </a:defRPr>
            </a:pPr>
            <a:r>
              <a:t>T-C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09900"/>
            <a:ext cx="21844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02A3D"/>
                </a:solidFill>
                <a:latin typeface="Aptos"/>
              </a:defRPr>
            </a:pPr>
            <a:r>
              <a:t>0,3596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29700" y="2501900"/>
            <a:ext cx="2552700" cy="1104900"/>
          </a:xfrm>
          <a:prstGeom prst="roundRect">
            <a:avLst>
              <a:gd name="adj" fmla="val 10000"/>
            </a:avLst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7500" y="2628900"/>
            <a:ext cx="2184400" cy="317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76B91"/>
                </a:solidFill>
                <a:latin typeface="Aptos"/>
              </a:defRPr>
            </a:pPr>
            <a:r>
              <a:t>T-R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7500" y="3009900"/>
            <a:ext cx="21844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102A3D"/>
                </a:solidFill>
                <a:latin typeface="Aptos"/>
              </a:defRPr>
            </a:pPr>
            <a:r>
              <a:t>0,3630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9600" y="3683000"/>
            <a:ext cx="10972800" cy="292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D7180"/>
                </a:solidFill>
                <a:latin typeface="Aptos"/>
              </a:defRPr>
            </a:pPr>
            <a:r>
              <a:t>BA macro por persona fuera de fold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600" y="4152900"/>
            <a:ext cx="5143500" cy="889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09600" y="4152900"/>
            <a:ext cx="5143500" cy="635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900" y="4305300"/>
            <a:ext cx="46863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87E83"/>
                </a:solidFill>
                <a:latin typeface="Aptos"/>
              </a:defRPr>
            </a:pPr>
            <a:r>
              <a:t>HISTORIAL: E-R − E-C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900" y="4699000"/>
            <a:ext cx="4660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3348"/>
                </a:solidFill>
                <a:latin typeface="Aptos"/>
              </a:defRPr>
            </a:pPr>
            <a:r>
              <a:t>+0,88 pp · intervalo [−0,28; +2,00]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38900" y="4152900"/>
            <a:ext cx="5143500" cy="889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38900" y="4152900"/>
            <a:ext cx="5143500" cy="63500"/>
          </a:xfrm>
          <a:prstGeom prst="rect">
            <a:avLst/>
          </a:prstGeom>
          <a:solidFill>
            <a:srgbClr val="3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80200" y="4305300"/>
            <a:ext cx="46863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76B91"/>
                </a:solidFill>
                <a:latin typeface="Aptos"/>
              </a:defRPr>
            </a:pPr>
            <a:r>
              <a:t>FUSIÓN: T-R − E-R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80200" y="4699000"/>
            <a:ext cx="4660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3348"/>
                </a:solidFill>
                <a:latin typeface="Aptos"/>
              </a:defRPr>
            </a:pPr>
            <a:r>
              <a:t>+0,18 pp · intervalo [−0,80; +1,37]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9600" y="5219700"/>
            <a:ext cx="10972800" cy="736600"/>
          </a:xfrm>
          <a:prstGeom prst="roundRect">
            <a:avLst>
              <a:gd name="adj" fmla="val 10000"/>
            </a:avLst>
          </a:prstGeom>
          <a:solidFill>
            <a:srgbClr val="F9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9600" y="5219700"/>
            <a:ext cx="63500" cy="736600"/>
          </a:xfrm>
          <a:prstGeom prst="rect">
            <a:avLst/>
          </a:prstGeom>
          <a:solidFill>
            <a:srgbClr val="C66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3600" y="5283200"/>
            <a:ext cx="104648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66A44"/>
                </a:solidFill>
                <a:latin typeface="Aptos"/>
              </a:defRPr>
            </a:pPr>
            <a:r>
              <a:t>Ambos intervalos incluyen cero; no hay ventaja general confirmada.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42900"/>
            <a:ext cx="10414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E83"/>
                </a:solidFill>
                <a:latin typeface="Aptos"/>
              </a:defRPr>
            </a:pPr>
            <a:r>
              <a:t>05  /  DIAGNÓSTICO DEL CONTRASTE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23900"/>
            <a:ext cx="10972800" cy="990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02A3D"/>
                </a:solidFill>
                <a:latin typeface="Aptos"/>
              </a:defRPr>
            </a:pPr>
            <a:r>
              <a:t>Una media similar oculta diferencias por clase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134100"/>
            <a:ext cx="10972800" cy="12700"/>
          </a:xfrm>
          <a:prstGeom prst="rect">
            <a:avLst/>
          </a:prstGeom>
          <a:solidFill>
            <a:srgbClr val="D9E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6083300"/>
            <a:ext cx="6858000" cy="381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6235700"/>
            <a:ext cx="102235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D7180"/>
                </a:solidFill>
                <a:latin typeface="Aptos"/>
              </a:defRPr>
            </a:pPr>
            <a:r>
              <a:t>Fuente: Contraste_Temporalidad_Fusion_24-10-2026.md; diagnóstico por clase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400" y="6235700"/>
            <a:ext cx="7366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D7180"/>
                </a:solidFill>
                <a:latin typeface="Aptos"/>
              </a:defRPr>
            </a:pPr>
            <a:r>
              <a:t>05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" y="1905000"/>
            <a:ext cx="5143500" cy="20701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905000"/>
            <a:ext cx="5143500" cy="63500"/>
          </a:xfrm>
          <a:prstGeom prst="rect">
            <a:avLst/>
          </a:prstGeom>
          <a:solidFill>
            <a:srgbClr val="C66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900" y="2095500"/>
            <a:ext cx="46355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C66A44"/>
                </a:solidFill>
                <a:latin typeface="Aptos"/>
              </a:defRPr>
            </a:pPr>
            <a:r>
              <a:t>ACTIVACIÓN · CLASE MEDIA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600" y="2578100"/>
            <a:ext cx="21590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02A3D"/>
                </a:solidFill>
                <a:latin typeface="Aptos"/>
              </a:defRPr>
            </a:pPr>
            <a:r>
              <a:t>23,4 %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3700" y="2628900"/>
            <a:ext cx="508000" cy="520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C66A4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56000" y="2578100"/>
            <a:ext cx="1930400" cy="622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C66A44"/>
                </a:solidFill>
                <a:latin typeface="Aptos"/>
              </a:defRPr>
            </a:pPr>
            <a:r>
              <a:t>8,2 %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600" y="3327400"/>
            <a:ext cx="4508500" cy="393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D7180"/>
                </a:solidFill>
                <a:latin typeface="Aptos"/>
              </a:defRPr>
            </a:pPr>
            <a:r>
              <a:t>E-R · fusión temprana       T-R · fusión tardía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38900" y="1905000"/>
            <a:ext cx="5143500" cy="20701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38900" y="1905000"/>
            <a:ext cx="5143500" cy="63500"/>
          </a:xfrm>
          <a:prstGeom prst="rect">
            <a:avLst/>
          </a:prstGeom>
          <a:solidFill>
            <a:srgbClr val="3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80200" y="2120900"/>
            <a:ext cx="46863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76B91"/>
                </a:solidFill>
                <a:latin typeface="Aptos"/>
              </a:defRPr>
            </a:pPr>
            <a:r>
              <a:t>ATENCIÓN · OBJETIVO SECUNDARIO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0200" y="2590800"/>
            <a:ext cx="4660900" cy="1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3348"/>
                </a:solidFill>
                <a:latin typeface="Aptos"/>
              </a:defRPr>
            </a:pPr>
            <a:r>
              <a:t>El historial temprano baja BA en 0,65 pp. La fusión tardía con historial sube 1,01 pp; resultados exploratorios.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600" y="4394200"/>
            <a:ext cx="10972800" cy="736600"/>
          </a:xfrm>
          <a:prstGeom prst="roundRect">
            <a:avLst>
              <a:gd name="adj" fmla="val 10000"/>
            </a:avLst>
          </a:prstGeom>
          <a:solidFill>
            <a:srgbClr val="DD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9600" y="4394200"/>
            <a:ext cx="63500" cy="736600"/>
          </a:xfrm>
          <a:prstGeom prst="rect">
            <a:avLst/>
          </a:prstGeom>
          <a:solidFill>
            <a:srgbClr val="10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3600" y="4457700"/>
            <a:ext cx="104648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02A3D"/>
                </a:solidFill>
                <a:latin typeface="Aptos"/>
              </a:defRPr>
            </a:pPr>
            <a:r>
              <a:t>La pequeña diferencia media de activación no representa una mejora uniforme de las tres clases.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5308600"/>
            <a:ext cx="10922000" cy="546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D7180"/>
                </a:solidFill>
                <a:latin typeface="Aptos"/>
              </a:defRPr>
            </a:pPr>
            <a:r>
              <a:t>Los contrastes usan solo train y pseudoetiquetas; no verifican activación o atención psicológica.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42900"/>
            <a:ext cx="10414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E83"/>
                </a:solidFill>
                <a:latin typeface="Aptos"/>
              </a:defRPr>
            </a:pPr>
            <a:r>
              <a:t>06  /  RIDGE DE ACTIVACIÓN · EVALUACIÓN ADICIONAL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23900"/>
            <a:ext cx="10972800" cy="990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02A3D"/>
                </a:solidFill>
                <a:latin typeface="Aptos"/>
              </a:defRPr>
            </a:pPr>
            <a:r>
              <a:t>En test, la BA queda cerca de la referencia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134100"/>
            <a:ext cx="10972800" cy="12700"/>
          </a:xfrm>
          <a:prstGeom prst="rect">
            <a:avLst/>
          </a:prstGeom>
          <a:solidFill>
            <a:srgbClr val="D9E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6083300"/>
            <a:ext cx="8229600" cy="381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6235700"/>
            <a:ext cx="102235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D7180"/>
                </a:solidFill>
                <a:latin typeface="Aptos"/>
              </a:defRPr>
            </a:pPr>
            <a:r>
              <a:t>Fuentes: Evaluacion_Independiente_y_Validez_24-10-2026.md; Robustez_Sin_Cohorte_Nueva_24-10-2026.md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400" y="6235700"/>
            <a:ext cx="7366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D7180"/>
                </a:solidFill>
                <a:latin typeface="Aptos"/>
              </a:defRPr>
            </a:pPr>
            <a:r>
              <a:t>06 / 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981200"/>
            <a:ext cx="41021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3348"/>
                </a:solidFill>
                <a:latin typeface="Aptos"/>
              </a:defRPr>
            </a:pPr>
            <a:r>
              <a:t>Train · fuera de fold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13300" y="2044700"/>
            <a:ext cx="5029200" cy="279400"/>
          </a:xfrm>
          <a:prstGeom prst="roundRect">
            <a:avLst>
              <a:gd name="adj" fmla="val 10000"/>
            </a:avLst>
          </a:prstGeom>
          <a:solidFill>
            <a:srgbClr val="DD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13300" y="2044700"/>
            <a:ext cx="3865443" cy="279400"/>
          </a:xfrm>
          <a:prstGeom prst="roundRect">
            <a:avLst>
              <a:gd name="adj" fmla="val 10000"/>
            </a:avLst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09200" y="1955800"/>
            <a:ext cx="14351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02A3D"/>
                </a:solidFill>
                <a:latin typeface="Aptos"/>
              </a:defRPr>
            </a:pPr>
            <a:r>
              <a:t>0,3843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895600"/>
            <a:ext cx="41021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3348"/>
                </a:solidFill>
                <a:latin typeface="Aptos"/>
              </a:defRPr>
            </a:pPr>
            <a:r>
              <a:t>Test · ensamble fijo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13300" y="2959100"/>
            <a:ext cx="5029200" cy="279400"/>
          </a:xfrm>
          <a:prstGeom prst="roundRect">
            <a:avLst>
              <a:gd name="adj" fmla="val 10000"/>
            </a:avLst>
          </a:prstGeom>
          <a:solidFill>
            <a:srgbClr val="DD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813300" y="2959100"/>
            <a:ext cx="3577772" cy="279400"/>
          </a:xfrm>
          <a:prstGeom prst="roundRect">
            <a:avLst>
              <a:gd name="adj" fmla="val 10000"/>
            </a:avLst>
          </a:prstGeom>
          <a:solidFill>
            <a:srgbClr val="3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09200" y="2870200"/>
            <a:ext cx="14351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02A3D"/>
                </a:solidFill>
                <a:latin typeface="Aptos"/>
              </a:defRPr>
            </a:pPr>
            <a:r>
              <a:t>0,3557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3810000"/>
            <a:ext cx="4102100" cy="406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3348"/>
                </a:solidFill>
                <a:latin typeface="Aptos"/>
              </a:defRPr>
            </a:pPr>
            <a:r>
              <a:t>Referencia matemática 1/k · test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13300" y="3873500"/>
            <a:ext cx="5029200" cy="279400"/>
          </a:xfrm>
          <a:prstGeom prst="roundRect">
            <a:avLst>
              <a:gd name="adj" fmla="val 10000"/>
            </a:avLst>
          </a:prstGeom>
          <a:solidFill>
            <a:srgbClr val="DD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813300" y="3873500"/>
            <a:ext cx="3562685" cy="279400"/>
          </a:xfrm>
          <a:prstGeom prst="roundRect">
            <a:avLst>
              <a:gd name="adj" fmla="val 10000"/>
            </a:avLst>
          </a:prstGeom>
          <a:solidFill>
            <a:srgbClr val="5D71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09200" y="3784600"/>
            <a:ext cx="14351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02A3D"/>
                </a:solidFill>
                <a:latin typeface="Aptos"/>
              </a:defRPr>
            </a:pPr>
            <a:r>
              <a:t>0,3542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4610100"/>
            <a:ext cx="109728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5D7180"/>
                </a:solidFill>
                <a:latin typeface="Aptos"/>
              </a:defRPr>
            </a:pPr>
            <a:r>
              <a:t>1/k = BA de predecir siempre una clase presente; en test la media es 0,3542 porque una persona tiene dos clases.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9600" y="5232400"/>
            <a:ext cx="10972800" cy="736600"/>
          </a:xfrm>
          <a:prstGeom prst="roundRect">
            <a:avLst>
              <a:gd name="adj" fmla="val 10000"/>
            </a:avLst>
          </a:prstGeom>
          <a:solidFill>
            <a:srgbClr val="F9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9600" y="5232400"/>
            <a:ext cx="63500" cy="736600"/>
          </a:xfrm>
          <a:prstGeom prst="rect">
            <a:avLst/>
          </a:prstGeom>
          <a:solidFill>
            <a:srgbClr val="C66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3600" y="5295900"/>
            <a:ext cx="104648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C66A44"/>
                </a:solidFill>
                <a:latin typeface="Aptos"/>
              </a:defRPr>
            </a:pPr>
            <a:r>
              <a:t>Solo 4/8 personas superan 1/k. El recall de la clase media en test es 21,8 %.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42900"/>
            <a:ext cx="10414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E83"/>
                </a:solidFill>
                <a:latin typeface="Aptos"/>
              </a:defRPr>
            </a:pPr>
            <a:r>
              <a:t>07  /  CONTROL NEGATIVO Y SENSIBILIDAD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23900"/>
            <a:ext cx="10972800" cy="990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02A3D"/>
                </a:solidFill>
                <a:latin typeface="Aptos"/>
              </a:defRPr>
            </a:pPr>
            <a:r>
              <a:t>La alineación importa; la etiqueta influye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134100"/>
            <a:ext cx="10972800" cy="12700"/>
          </a:xfrm>
          <a:prstGeom prst="rect">
            <a:avLst/>
          </a:prstGeom>
          <a:solidFill>
            <a:srgbClr val="D9E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6083300"/>
            <a:ext cx="9601200" cy="381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6235700"/>
            <a:ext cx="102235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D7180"/>
                </a:solidFill>
                <a:latin typeface="Aptos"/>
              </a:defRPr>
            </a:pPr>
            <a:r>
              <a:t>Fuentes: Control_Negativo_Temporal_y_Errores_24-10-2026.md; Robustez_Sin_Cohorte_Nueva_24-10-2026.md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400" y="6235700"/>
            <a:ext cx="7366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D7180"/>
                </a:solidFill>
                <a:latin typeface="Aptos"/>
              </a:defRPr>
            </a:pPr>
            <a:r>
              <a:t>07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" y="1892300"/>
            <a:ext cx="5143500" cy="27051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892300"/>
            <a:ext cx="5143500" cy="635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900" y="2120900"/>
            <a:ext cx="45974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87E83"/>
                </a:solidFill>
                <a:latin typeface="Aptos"/>
              </a:defRPr>
            </a:pPr>
            <a:r>
              <a:t>CONTROL TEMPORAL · TRAIN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900" y="2603500"/>
            <a:ext cx="46101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102A3D"/>
                </a:solidFill>
                <a:latin typeface="Aptos"/>
              </a:defRPr>
            </a:pPr>
            <a:r>
              <a:t>+5,76 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900" y="3454400"/>
            <a:ext cx="4572000" cy="596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3348"/>
                </a:solidFill>
                <a:latin typeface="Aptos"/>
              </a:defRPr>
            </a:pPr>
            <a:r>
              <a:t>BA 0,3843 original vs. 0,3268 con etiqueta desplazada.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900" y="4140200"/>
            <a:ext cx="457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D7180"/>
                </a:solidFill>
                <a:latin typeface="Aptos"/>
              </a:defRPr>
            </a:pPr>
            <a:r>
              <a:t>Ninguno de 12 controles alcanzó el original.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38900" y="1892300"/>
            <a:ext cx="5143500" cy="27051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38900" y="1892300"/>
            <a:ext cx="5143500" cy="63500"/>
          </a:xfrm>
          <a:prstGeom prst="rect">
            <a:avLst/>
          </a:prstGeom>
          <a:solidFill>
            <a:srgbClr val="3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80200" y="2120900"/>
            <a:ext cx="45974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76B91"/>
                </a:solidFill>
                <a:latin typeface="Aptos"/>
              </a:defRPr>
            </a:pPr>
            <a:r>
              <a:t>OTRAS REGLAS ·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0200" y="2603500"/>
            <a:ext cx="4635500" cy="698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100" b="1">
                <a:solidFill>
                  <a:srgbClr val="102A3D"/>
                </a:solidFill>
                <a:latin typeface="Aptos"/>
              </a:defRPr>
            </a:pPr>
            <a:r>
              <a:t>19,7–30,5 %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0200" y="3454400"/>
            <a:ext cx="4572000" cy="596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173348"/>
                </a:solidFill>
                <a:latin typeface="Aptos"/>
              </a:defRPr>
            </a:pPr>
            <a:r>
              <a:t>de etiquetas cambian con GSR de 2 s o PCA GSR.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80200" y="4140200"/>
            <a:ext cx="457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5D7180"/>
                </a:solidFill>
                <a:latin typeface="Aptos"/>
              </a:defRPr>
            </a:pPr>
            <a:r>
              <a:t>Las diferencias de BA son inciertas.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600" y="4940300"/>
            <a:ext cx="10972800" cy="736600"/>
          </a:xfrm>
          <a:prstGeom prst="roundRect">
            <a:avLst>
              <a:gd name="adj" fmla="val 10000"/>
            </a:avLst>
          </a:prstGeom>
          <a:solidFill>
            <a:srgbClr val="F9EB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4940300"/>
            <a:ext cx="63500" cy="736600"/>
          </a:xfrm>
          <a:prstGeom prst="rect">
            <a:avLst/>
          </a:prstGeom>
          <a:solidFill>
            <a:srgbClr val="C66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3600" y="5003800"/>
            <a:ext cx="104648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C66A44"/>
                </a:solidFill>
                <a:latin typeface="Aptos"/>
              </a:defRPr>
            </a:pPr>
            <a:r>
              <a:t>El control apoya dependencia de la pseudoetiqueta GSR, no validez psicológica ni rendimiento en personas nuevas.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342900"/>
            <a:ext cx="10414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87E83"/>
                </a:solidFill>
                <a:latin typeface="Aptos"/>
              </a:defRPr>
            </a:pPr>
            <a:r>
              <a:t>08  /  BALANCE Y SIGUIENTE EVIDENCIA NECESARIA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23900"/>
            <a:ext cx="10972800" cy="990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102A3D"/>
                </a:solidFill>
                <a:latin typeface="Aptos"/>
              </a:defRPr>
            </a:pPr>
            <a:r>
              <a:t>Qué se puede afirmar ahora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6134100"/>
            <a:ext cx="10972800" cy="12700"/>
          </a:xfrm>
          <a:prstGeom prst="rect">
            <a:avLst/>
          </a:prstGeom>
          <a:solidFill>
            <a:srgbClr val="D9E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6083300"/>
            <a:ext cx="10972800" cy="381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6235700"/>
            <a:ext cx="102235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5D7180"/>
                </a:solidFill>
                <a:latin typeface="Aptos"/>
              </a:defRPr>
            </a:pPr>
            <a:r>
              <a:t>Fuentes: informes del 24-10-2026; Evaluacion_Independiente_y_Validez_24-10-2026.md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400" y="6235700"/>
            <a:ext cx="7366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5D7180"/>
                </a:solidFill>
                <a:latin typeface="Aptos"/>
              </a:defRPr>
            </a:pPr>
            <a:r>
              <a:t>08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9600" y="1841500"/>
            <a:ext cx="10972800" cy="1117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841500"/>
            <a:ext cx="10972800" cy="63500"/>
          </a:xfrm>
          <a:prstGeom prst="rect">
            <a:avLst/>
          </a:prstGeom>
          <a:solidFill>
            <a:srgbClr val="087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900" y="1993900"/>
            <a:ext cx="105156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87E83"/>
                </a:solidFill>
                <a:latin typeface="Aptos"/>
              </a:defRPr>
            </a:pPr>
            <a:r>
              <a:t>OBSERVADO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900" y="2387600"/>
            <a:ext cx="104902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3348"/>
                </a:solidFill>
                <a:latin typeface="Aptos"/>
              </a:defRPr>
            </a:pPr>
            <a:r>
              <a:t>En train, la predicción Ridge depende de la alineación temporal con su pseudoetiqueta GSR.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600" y="3098800"/>
            <a:ext cx="10972800" cy="1117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9600" y="3098800"/>
            <a:ext cx="10972800" cy="63500"/>
          </a:xfrm>
          <a:prstGeom prst="rect">
            <a:avLst/>
          </a:prstGeom>
          <a:solidFill>
            <a:srgbClr val="C66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900" y="3251200"/>
            <a:ext cx="105156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C66A44"/>
                </a:solidFill>
                <a:latin typeface="Aptos"/>
              </a:defRPr>
            </a:pPr>
            <a:r>
              <a:t>LÍMITE DE LA CONCLUSIÓN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900" y="3644900"/>
            <a:ext cx="104902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348"/>
                </a:solidFill>
                <a:latin typeface="Aptos"/>
              </a:defRPr>
            </a:pPr>
            <a:r>
              <a:t>No se confirma una ventaja general del historial o la fusión; test ya se había consultado y falta una medida externa del estado psicológico.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9600" y="4356100"/>
            <a:ext cx="10972800" cy="13843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" y="4356100"/>
            <a:ext cx="10972800" cy="63500"/>
          </a:xfrm>
          <a:prstGeom prst="rect">
            <a:avLst/>
          </a:prstGeom>
          <a:solidFill>
            <a:srgbClr val="376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900" y="4508500"/>
            <a:ext cx="1051560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376B91"/>
                </a:solidFill>
                <a:latin typeface="Aptos"/>
              </a:defRPr>
            </a:pPr>
            <a:r>
              <a:t>PARA CONFIRMAR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900" y="4902200"/>
            <a:ext cx="10490200" cy="774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348"/>
                </a:solidFill>
                <a:latin typeface="Aptos"/>
              </a:defRPr>
            </a:pPr>
            <a:r>
              <a:t>Fijar predictor y protocolo antes de evaluar personas no utilizadas en decisiones previas; contrastar la pseudoetiqueta con una medida independiente y apropiada a su escala temporal.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Avances experimentales autocontenidos — tesis MDS</dc:title>
  <dc:subject>Temporalidad, fusión, robustez y control negativo</dc:subject>
  <dc:creator>Mario Romero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es-CL</dc:language>
</cp:coreProperties>
</file>