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etiqueta es una referencia computacional, no una medida directa del estado psicológico.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Atención es un objetivo secundario con otra etiqueta, dependiente de mirada y pupila.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intervalos descriptivos remuestrean personas, no ventanas. P29 se reserva solo para sensibilidad; seis personas fueron excluidas. La BA global por ventana es otra métrica.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 significa historial real; C, ventana actual repetida. E significa fusión temprana; T, tardía. El historial puede abarcar hasta nueve segundos. La fusión tardía usa expertos por modalidad y distinta capacidad.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intervalos descriptivos de atención fueron [−1,20; −0,05] y [+0,13; +1,86] pp. No corrigen búsqueda previa ni comparaciones múltiples. Los contrastes usan solo train y pseudoetiquetas; no verifican activación o atención psicológica.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1/k es la BA de predecir siempre una clase presente. En test, su media es 0,3542 porque una persona tiene dos clases. Train usa un modelo por fold; test promedia probabilidades de cinco modelos. La diferencia train-test es descriptiva; test ya había sido consultado.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control preserva frecuencias de clase; el modelo original fue seleccionado con etiquetas de train. Las reglas alternativas de test usan predicciones fijas y no reentrenan el predictor. El control no prueba rendimiento en personas nuevas.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Conservar la distinción entre evaluación de la pseudoetiqueta y validez del constructo. La disponibilidad de datos externos sigue pendiente de confirmación.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342900"/>
            <a:ext cx="96520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2686C"/>
                </a:solidFill>
                <a:latin typeface="Arial"/>
              </a:defRPr>
            </a:pPr>
            <a:r>
              <a:t>TESIS MDS · 24 DE OCTUBRE DE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53700" y="342900"/>
            <a:ext cx="8763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3636B"/>
                </a:solidFill>
                <a:latin typeface="Arial"/>
              </a:defRPr>
            </a:pPr>
            <a:r>
              <a:t>01 / 08</a:t>
            </a:r>
          </a:p>
        </p:txBody>
      </p:sp>
      <p:sp>
        <p:nvSpPr>
          <p:cNvPr id="4" name="Rectangle 3"/>
          <p:cNvSpPr/>
          <p:nvPr/>
        </p:nvSpPr>
        <p:spPr>
          <a:xfrm>
            <a:off x="762000" y="762000"/>
            <a:ext cx="10668000" cy="12700"/>
          </a:xfrm>
          <a:prstGeom prst="rect">
            <a:avLst/>
          </a:prstGeom>
          <a:solidFill>
            <a:srgbClr val="C9D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965200"/>
            <a:ext cx="106680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7252D"/>
                </a:solidFill>
                <a:latin typeface="Arial"/>
              </a:defRPr>
            </a:pPr>
            <a:r>
              <a:t>Avances experimentales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6134100"/>
            <a:ext cx="10668000" cy="12700"/>
          </a:xfrm>
          <a:prstGeom prst="rect">
            <a:avLst/>
          </a:prstGeom>
          <a:solidFill>
            <a:srgbClr val="C9D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6223000"/>
            <a:ext cx="10668000" cy="469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3636B"/>
                </a:solidFill>
                <a:latin typeface="Arial"/>
              </a:defRPr>
            </a:pPr>
            <a:r>
              <a:t>Fuentes: informes experimentales del 24-10-2026; Toma de Muestra 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2057400"/>
            <a:ext cx="10668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53636B"/>
                </a:solidFill>
                <a:latin typeface="Arial"/>
              </a:defRPr>
            </a:pPr>
            <a:r>
              <a:t>Pseudoetiquetas de activación y atención</a:t>
            </a:r>
          </a:p>
        </p:txBody>
      </p:sp>
      <p:sp>
        <p:nvSpPr>
          <p:cNvPr id="9" name="Rectangle 8"/>
          <p:cNvSpPr/>
          <p:nvPr/>
        </p:nvSpPr>
        <p:spPr>
          <a:xfrm>
            <a:off x="762000" y="2857500"/>
            <a:ext cx="10668000" cy="38100"/>
          </a:xfrm>
          <a:prstGeom prst="rect">
            <a:avLst/>
          </a:prstGeom>
          <a:solidFill>
            <a:srgbClr val="126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2000" y="3073400"/>
            <a:ext cx="10033000" cy="1155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7252D"/>
                </a:solidFill>
                <a:latin typeface="Arial"/>
              </a:defRPr>
            </a:pPr>
            <a:r>
              <a:t>¿Pueden EEG, mirada y pupila predecir una etiqueta calculada con otras señales?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4470400"/>
            <a:ext cx="9982200" cy="749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53636B"/>
                </a:solidFill>
                <a:latin typeface="Arial"/>
              </a:defRPr>
            </a:pPr>
            <a:r>
              <a:t>También se evaluó si ayudan el historial temporal y la fusión por modalidad.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5473700"/>
            <a:ext cx="10668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2686C"/>
                </a:solidFill>
                <a:latin typeface="Arial"/>
              </a:defRPr>
            </a:pPr>
            <a:r>
              <a:t>Resultado hasta ahora: hay señal alineada en train. La generalización y la validez psicológica siguen abiertas.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342900"/>
            <a:ext cx="96520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2686C"/>
                </a:solidFill>
                <a:latin typeface="Arial"/>
              </a:defRPr>
            </a:pPr>
            <a:r>
              <a:t>DISEÑO DE LA TAREA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53700" y="342900"/>
            <a:ext cx="8763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3636B"/>
                </a:solidFill>
                <a:latin typeface="Arial"/>
              </a:defRPr>
            </a:pPr>
            <a:r>
              <a:t>02 / 08</a:t>
            </a:r>
          </a:p>
        </p:txBody>
      </p:sp>
      <p:sp>
        <p:nvSpPr>
          <p:cNvPr id="4" name="Rectangle 3"/>
          <p:cNvSpPr/>
          <p:nvPr/>
        </p:nvSpPr>
        <p:spPr>
          <a:xfrm>
            <a:off x="762000" y="762000"/>
            <a:ext cx="10668000" cy="12700"/>
          </a:xfrm>
          <a:prstGeom prst="rect">
            <a:avLst/>
          </a:prstGeom>
          <a:solidFill>
            <a:srgbClr val="C9D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965200"/>
            <a:ext cx="106680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7252D"/>
                </a:solidFill>
                <a:latin typeface="Arial"/>
              </a:defRPr>
            </a:pPr>
            <a:r>
              <a:t>La señal que define la etiqueta no entra al predictor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6134100"/>
            <a:ext cx="10668000" cy="12700"/>
          </a:xfrm>
          <a:prstGeom prst="rect">
            <a:avLst/>
          </a:prstGeom>
          <a:solidFill>
            <a:srgbClr val="C9D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6223000"/>
            <a:ext cx="10668000" cy="469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3636B"/>
                </a:solidFill>
                <a:latin typeface="Arial"/>
              </a:defRPr>
            </a:pPr>
            <a:r>
              <a:t>Fuente: metodología del manuscrito; Evaluacion_Independiente_y_Validez_24-10-2026.md.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2070100"/>
            <a:ext cx="4102100" cy="317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2686C"/>
                </a:solidFill>
                <a:latin typeface="Arial"/>
              </a:defRPr>
            </a:pPr>
            <a:r>
              <a:t>ETIQUETA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2463800"/>
            <a:ext cx="4102100" cy="660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17252D"/>
                </a:solidFill>
                <a:latin typeface="Arial"/>
              </a:defRPr>
            </a:pPr>
            <a:r>
              <a:t>GSR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3340100"/>
            <a:ext cx="4254500" cy="1155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7252D"/>
                </a:solidFill>
                <a:latin typeface="Arial"/>
              </a:defRPr>
            </a:pPr>
            <a:r>
              <a:t>Activación baja, media o alta, según terciles de cada persona y de toda su sesión.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27700" y="2070100"/>
            <a:ext cx="12700" cy="2921000"/>
          </a:xfrm>
          <a:prstGeom prst="rect">
            <a:avLst/>
          </a:prstGeom>
          <a:solidFill>
            <a:srgbClr val="C9D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6200" y="2070100"/>
            <a:ext cx="5003800" cy="317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2686C"/>
                </a:solidFill>
                <a:latin typeface="Arial"/>
              </a:defRPr>
            </a:pPr>
            <a:r>
              <a:t>PREDICTOR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6200" y="2463800"/>
            <a:ext cx="5003800" cy="660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7252D"/>
                </a:solidFill>
                <a:latin typeface="Arial"/>
              </a:defRPr>
            </a:pPr>
            <a:r>
              <a:t>EEG + mirada + pupila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6200" y="3340100"/>
            <a:ext cx="4749800" cy="1155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7252D"/>
                </a:solidFill>
                <a:latin typeface="Arial"/>
              </a:defRPr>
            </a:pPr>
            <a:r>
              <a:t>El modelo intenta recuperar la etiqueta de GSR. GSR no figura entre sus entradas.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2000" y="4991100"/>
            <a:ext cx="10668000" cy="12700"/>
          </a:xfrm>
          <a:prstGeom prst="rect">
            <a:avLst/>
          </a:prstGeom>
          <a:solidFill>
            <a:srgbClr val="C9D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5118100"/>
            <a:ext cx="10668000" cy="774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3636B"/>
                </a:solidFill>
                <a:latin typeface="Arial"/>
              </a:defRPr>
            </a:pPr>
            <a:r>
              <a:t>“Alto” es relativo a esa persona. La etiqueta se calcula offline; no es una medición causal en tiempo real.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342900"/>
            <a:ext cx="96520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2686C"/>
                </a:solidFill>
                <a:latin typeface="Arial"/>
              </a:defRPr>
            </a:pPr>
            <a:r>
              <a:t>MUESTRA Y EVALUACIÓN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53700" y="342900"/>
            <a:ext cx="8763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3636B"/>
                </a:solidFill>
                <a:latin typeface="Arial"/>
              </a:defRPr>
            </a:pPr>
            <a:r>
              <a:t>03 / 08</a:t>
            </a:r>
          </a:p>
        </p:txBody>
      </p:sp>
      <p:sp>
        <p:nvSpPr>
          <p:cNvPr id="4" name="Rectangle 3"/>
          <p:cNvSpPr/>
          <p:nvPr/>
        </p:nvSpPr>
        <p:spPr>
          <a:xfrm>
            <a:off x="762000" y="762000"/>
            <a:ext cx="10668000" cy="12700"/>
          </a:xfrm>
          <a:prstGeom prst="rect">
            <a:avLst/>
          </a:prstGeom>
          <a:solidFill>
            <a:srgbClr val="C9D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965200"/>
            <a:ext cx="106680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7252D"/>
                </a:solidFill>
                <a:latin typeface="Arial"/>
              </a:defRPr>
            </a:pPr>
            <a:r>
              <a:t>Train, validation y test se separan por persona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6134100"/>
            <a:ext cx="10668000" cy="12700"/>
          </a:xfrm>
          <a:prstGeom prst="rect">
            <a:avLst/>
          </a:prstGeom>
          <a:solidFill>
            <a:srgbClr val="C9D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6223000"/>
            <a:ext cx="10668000" cy="469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3636B"/>
                </a:solidFill>
                <a:latin typeface="Arial"/>
              </a:defRPr>
            </a:pPr>
            <a:r>
              <a:t>Fuente: Evaluacion_Independiente_y_Validez_24-10-2026.md; protocolo de robustez.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2133600"/>
            <a:ext cx="2997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2686C"/>
                </a:solidFill>
                <a:latin typeface="Arial"/>
              </a:defRPr>
            </a:pPr>
            <a:r>
              <a:t>TRAIN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2527300"/>
            <a:ext cx="2819400" cy="1206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6900" b="1">
                <a:solidFill>
                  <a:srgbClr val="17252D"/>
                </a:solidFill>
                <a:latin typeface="Arial"/>
              </a:defRPr>
            </a:pPr>
            <a:r>
              <a:t>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3848100"/>
            <a:ext cx="3009900" cy="82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3636B"/>
                </a:solidFill>
                <a:latin typeface="Arial"/>
              </a:defRPr>
            </a:pPr>
            <a:r>
              <a:t>13.524 ventanas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3636B"/>
                </a:solidFill>
                <a:latin typeface="Arial"/>
              </a:defRPr>
            </a:pPr>
            <a:r>
              <a:t>5 folds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9600" y="2133600"/>
            <a:ext cx="2997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2686C"/>
                </a:solidFill>
                <a:latin typeface="Arial"/>
              </a:defRPr>
            </a:pPr>
            <a:r>
              <a:t>VALIDATION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19600" y="2527300"/>
            <a:ext cx="2819400" cy="1206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6900" b="1">
                <a:solidFill>
                  <a:srgbClr val="17252D"/>
                </a:solidFill>
                <a:latin typeface="Arial"/>
              </a:defRPr>
            </a:pPr>
            <a:r>
              <a:t>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19600" y="3848100"/>
            <a:ext cx="3009900" cy="82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3636B"/>
                </a:solidFill>
                <a:latin typeface="Arial"/>
              </a:defRPr>
            </a:pPr>
            <a:r>
              <a:t>Usado antes para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3636B"/>
                </a:solidFill>
                <a:latin typeface="Arial"/>
              </a:defRPr>
            </a:pPr>
            <a:r>
              <a:t>comparar entradas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4500" y="2133600"/>
            <a:ext cx="2997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2686C"/>
                </a:solidFill>
                <a:latin typeface="Arial"/>
              </a:defRPr>
            </a:pPr>
            <a:r>
              <a:t>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4500" y="2527300"/>
            <a:ext cx="2819400" cy="1206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6900" b="1">
                <a:solidFill>
                  <a:srgbClr val="17252D"/>
                </a:solidFill>
                <a:latin typeface="Arial"/>
              </a:defRPr>
            </a:pPr>
            <a:r>
              <a:t>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64500" y="3848100"/>
            <a:ext cx="3009900" cy="82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3636B"/>
                </a:solidFill>
                <a:latin typeface="Arial"/>
              </a:defRPr>
            </a:pPr>
            <a:r>
              <a:t>4.025 ventanas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3636B"/>
                </a:solidFill>
                <a:latin typeface="Arial"/>
              </a:defRPr>
            </a:pPr>
            <a:r>
              <a:t>ya consultado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52900" y="2146300"/>
            <a:ext cx="12700" cy="2489200"/>
          </a:xfrm>
          <a:prstGeom prst="rect">
            <a:avLst/>
          </a:prstGeom>
          <a:solidFill>
            <a:srgbClr val="C9D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810500" y="2146300"/>
            <a:ext cx="12700" cy="2489200"/>
          </a:xfrm>
          <a:prstGeom prst="rect">
            <a:avLst/>
          </a:prstGeom>
          <a:solidFill>
            <a:srgbClr val="C9D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62000" y="4965700"/>
            <a:ext cx="10668000" cy="12700"/>
          </a:xfrm>
          <a:prstGeom prst="rect">
            <a:avLst/>
          </a:prstGeom>
          <a:solidFill>
            <a:srgbClr val="C9D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000" y="5105400"/>
            <a:ext cx="10668000" cy="36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7252D"/>
                </a:solidFill>
                <a:latin typeface="Arial"/>
              </a:defRPr>
            </a:pPr>
            <a:r>
              <a:t>Métrica principal: BA macro por persona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5486400"/>
            <a:ext cx="10668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3636B"/>
                </a:solidFill>
                <a:latin typeface="Arial"/>
              </a:defRPr>
            </a:pPr>
            <a:r>
              <a:t>Se promedia el recall de las clases presentes en cada persona y luego se promedian las personas con igual peso.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342900"/>
            <a:ext cx="96520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2686C"/>
                </a:solidFill>
                <a:latin typeface="Arial"/>
              </a:defRPr>
            </a:pPr>
            <a:r>
              <a:t>CONTRASTE FACTORIAL · TRAIN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53700" y="342900"/>
            <a:ext cx="8763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3636B"/>
                </a:solidFill>
                <a:latin typeface="Arial"/>
              </a:defRPr>
            </a:pPr>
            <a:r>
              <a:t>04 / 08</a:t>
            </a:r>
          </a:p>
        </p:txBody>
      </p:sp>
      <p:sp>
        <p:nvSpPr>
          <p:cNvPr id="4" name="Rectangle 3"/>
          <p:cNvSpPr/>
          <p:nvPr/>
        </p:nvSpPr>
        <p:spPr>
          <a:xfrm>
            <a:off x="762000" y="762000"/>
            <a:ext cx="10668000" cy="12700"/>
          </a:xfrm>
          <a:prstGeom prst="rect">
            <a:avLst/>
          </a:prstGeom>
          <a:solidFill>
            <a:srgbClr val="C9D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965200"/>
            <a:ext cx="106680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7252D"/>
                </a:solidFill>
                <a:latin typeface="Arial"/>
              </a:defRPr>
            </a:pPr>
            <a:r>
              <a:t>Historial y fusión: ventajas pequeñas e inciertas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6134100"/>
            <a:ext cx="10668000" cy="12700"/>
          </a:xfrm>
          <a:prstGeom prst="rect">
            <a:avLst/>
          </a:prstGeom>
          <a:solidFill>
            <a:srgbClr val="C9D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6223000"/>
            <a:ext cx="10668000" cy="469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3636B"/>
                </a:solidFill>
                <a:latin typeface="Arial"/>
              </a:defRPr>
            </a:pPr>
            <a:r>
              <a:t>Fuente: Contraste_Temporalidad_Fusion_24-10-2026.md; 25 personas, 5 folds, 2 semillas.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917700"/>
            <a:ext cx="10668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3636B"/>
                </a:solidFill>
                <a:latin typeface="Arial"/>
              </a:defRPr>
            </a:pPr>
            <a:r>
              <a:t>BA macro por persona, fuera de fold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2501900"/>
            <a:ext cx="2159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12686C"/>
                </a:solidFill>
                <a:latin typeface="Arial"/>
              </a:defRPr>
            </a:pPr>
            <a:r>
              <a:t>Fusión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60800" y="2501900"/>
            <a:ext cx="2921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12686C"/>
                </a:solidFill>
                <a:latin typeface="Arial"/>
              </a:defRPr>
            </a:pPr>
            <a:r>
              <a:t>Ventana repetida (C)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05800" y="2501900"/>
            <a:ext cx="3124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12686C"/>
                </a:solidFill>
                <a:latin typeface="Arial"/>
              </a:defRPr>
            </a:pPr>
            <a:r>
              <a:t>Historial real (R)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2000" y="2971800"/>
            <a:ext cx="10668000" cy="12700"/>
          </a:xfrm>
          <a:prstGeom prst="rect">
            <a:avLst/>
          </a:prstGeom>
          <a:solidFill>
            <a:srgbClr val="C9D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3086100"/>
            <a:ext cx="26416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7252D"/>
                </a:solidFill>
                <a:latin typeface="Arial"/>
              </a:defRPr>
            </a:pPr>
            <a:r>
              <a:t>Temprana (E)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60800" y="3086100"/>
            <a:ext cx="25654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7252D"/>
                </a:solidFill>
                <a:latin typeface="Arial"/>
              </a:defRPr>
            </a:pPr>
            <a:r>
              <a:t>0,3524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5800" y="3086100"/>
            <a:ext cx="25654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7252D"/>
                </a:solidFill>
                <a:latin typeface="Arial"/>
              </a:defRPr>
            </a:pPr>
            <a:r>
              <a:t>0,3612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2000" y="3733800"/>
            <a:ext cx="10668000" cy="12700"/>
          </a:xfrm>
          <a:prstGeom prst="rect">
            <a:avLst/>
          </a:prstGeom>
          <a:solidFill>
            <a:srgbClr val="C9D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000" y="3860800"/>
            <a:ext cx="26416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7252D"/>
                </a:solidFill>
                <a:latin typeface="Arial"/>
              </a:defRPr>
            </a:pPr>
            <a:r>
              <a:t>Tardía (T)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60800" y="3860800"/>
            <a:ext cx="25654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7252D"/>
                </a:solidFill>
                <a:latin typeface="Arial"/>
              </a:defRPr>
            </a:pPr>
            <a:r>
              <a:t>0,3596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5800" y="3860800"/>
            <a:ext cx="25654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7252D"/>
                </a:solidFill>
                <a:latin typeface="Arial"/>
              </a:defRPr>
            </a:pPr>
            <a:r>
              <a:t>0,3630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2000" y="4508500"/>
            <a:ext cx="10668000" cy="12700"/>
          </a:xfrm>
          <a:prstGeom prst="rect">
            <a:avLst/>
          </a:prstGeom>
          <a:solidFill>
            <a:srgbClr val="C9D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2000" y="4813300"/>
            <a:ext cx="53340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7252D"/>
                </a:solidFill>
                <a:latin typeface="Arial"/>
              </a:defRPr>
            </a:pPr>
            <a:r>
              <a:t>Historial E: +0,88 pp  [−0,28; +2,00]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11900" y="4813300"/>
            <a:ext cx="51181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7252D"/>
                </a:solidFill>
                <a:latin typeface="Arial"/>
              </a:defRPr>
            </a:pPr>
            <a:r>
              <a:t>Fusión con R: +0,18 pp  [−0,80; +1,37]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000" y="5549900"/>
            <a:ext cx="10668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2686C"/>
                </a:solidFill>
                <a:latin typeface="Arial"/>
              </a:defRPr>
            </a:pPr>
            <a:r>
              <a:t>Ambos intervalos descriptivos incluyen cero.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342900"/>
            <a:ext cx="96520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2686C"/>
                </a:solidFill>
                <a:latin typeface="Arial"/>
              </a:defRPr>
            </a:pPr>
            <a:r>
              <a:t>DIAGNÓSTICO POR CLASE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53700" y="342900"/>
            <a:ext cx="8763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3636B"/>
                </a:solidFill>
                <a:latin typeface="Arial"/>
              </a:defRPr>
            </a:pPr>
            <a:r>
              <a:t>05 / 08</a:t>
            </a:r>
          </a:p>
        </p:txBody>
      </p:sp>
      <p:sp>
        <p:nvSpPr>
          <p:cNvPr id="4" name="Rectangle 3"/>
          <p:cNvSpPr/>
          <p:nvPr/>
        </p:nvSpPr>
        <p:spPr>
          <a:xfrm>
            <a:off x="762000" y="762000"/>
            <a:ext cx="10668000" cy="12700"/>
          </a:xfrm>
          <a:prstGeom prst="rect">
            <a:avLst/>
          </a:prstGeom>
          <a:solidFill>
            <a:srgbClr val="C9D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965200"/>
            <a:ext cx="106680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7252D"/>
                </a:solidFill>
                <a:latin typeface="Arial"/>
              </a:defRPr>
            </a:pPr>
            <a:r>
              <a:t>La clase media cae con fusión tardía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6134100"/>
            <a:ext cx="10668000" cy="12700"/>
          </a:xfrm>
          <a:prstGeom prst="rect">
            <a:avLst/>
          </a:prstGeom>
          <a:solidFill>
            <a:srgbClr val="C9D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6223000"/>
            <a:ext cx="10668000" cy="469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3636B"/>
                </a:solidFill>
                <a:latin typeface="Arial"/>
              </a:defRPr>
            </a:pPr>
            <a:r>
              <a:t>Fuente: Contraste_Temporalidad_Fusion_24-10-2026.md; diagnóstico por clase.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993900"/>
            <a:ext cx="10668000" cy="317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2686C"/>
                </a:solidFill>
                <a:latin typeface="Arial"/>
              </a:defRPr>
            </a:pPr>
            <a:r>
              <a:t>RECALL DE ACTIVACIÓN, CLASE MEDIA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2527300"/>
            <a:ext cx="4318000" cy="1028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4900" b="1">
                <a:solidFill>
                  <a:srgbClr val="17252D"/>
                </a:solidFill>
                <a:latin typeface="Arial"/>
              </a:defRPr>
            </a:pPr>
            <a:r>
              <a:t>23,4 %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12000" y="2527300"/>
            <a:ext cx="4318000" cy="1028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4900" b="1">
                <a:solidFill>
                  <a:srgbClr val="17252D"/>
                </a:solidFill>
                <a:latin typeface="Arial"/>
              </a:defRPr>
            </a:pPr>
            <a:r>
              <a:t>8,2 %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3721100"/>
            <a:ext cx="10668000" cy="12700"/>
          </a:xfrm>
          <a:prstGeom prst="rect">
            <a:avLst/>
          </a:prstGeom>
          <a:solidFill>
            <a:srgbClr val="C9D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2000" y="3898900"/>
            <a:ext cx="43815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3636B"/>
                </a:solidFill>
                <a:latin typeface="Arial"/>
              </a:defRPr>
            </a:pPr>
            <a:r>
              <a:t>E-R · fusión temprana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8500" y="3898900"/>
            <a:ext cx="43815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3636B"/>
                </a:solidFill>
                <a:latin typeface="Arial"/>
              </a:defRPr>
            </a:pPr>
            <a:r>
              <a:t>T-R · fusión tardía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4610100"/>
            <a:ext cx="10668000" cy="469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7252D"/>
                </a:solidFill>
                <a:latin typeface="Arial"/>
              </a:defRPr>
            </a:pPr>
            <a:r>
              <a:t>La BA media no refleja una mejora uniforme de las tres clases.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2000" y="5245100"/>
            <a:ext cx="10668000" cy="12700"/>
          </a:xfrm>
          <a:prstGeom prst="rect">
            <a:avLst/>
          </a:prstGeom>
          <a:solidFill>
            <a:srgbClr val="C9D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5384800"/>
            <a:ext cx="10668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3636B"/>
                </a:solidFill>
                <a:latin typeface="Arial"/>
              </a:defRPr>
            </a:pPr>
            <a:r>
              <a:t>Atención, objetivo secundario: historial temprano −0,65 pp; fusión tardía con historial +1,01 pp. Resultados exploratorios.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342900"/>
            <a:ext cx="96520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2686C"/>
                </a:solidFill>
                <a:latin typeface="Arial"/>
              </a:defRPr>
            </a:pPr>
            <a:r>
              <a:t>RIDGE · EVALUACIÓN ADICIONAL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53700" y="342900"/>
            <a:ext cx="8763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3636B"/>
                </a:solidFill>
                <a:latin typeface="Arial"/>
              </a:defRPr>
            </a:pPr>
            <a:r>
              <a:t>06 / 08</a:t>
            </a:r>
          </a:p>
        </p:txBody>
      </p:sp>
      <p:sp>
        <p:nvSpPr>
          <p:cNvPr id="4" name="Rectangle 3"/>
          <p:cNvSpPr/>
          <p:nvPr/>
        </p:nvSpPr>
        <p:spPr>
          <a:xfrm>
            <a:off x="762000" y="762000"/>
            <a:ext cx="10668000" cy="12700"/>
          </a:xfrm>
          <a:prstGeom prst="rect">
            <a:avLst/>
          </a:prstGeom>
          <a:solidFill>
            <a:srgbClr val="C9D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965200"/>
            <a:ext cx="106680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7252D"/>
                </a:solidFill>
                <a:latin typeface="Arial"/>
              </a:defRPr>
            </a:pPr>
            <a:r>
              <a:t>El test queda prácticamente en la referencia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6134100"/>
            <a:ext cx="10668000" cy="12700"/>
          </a:xfrm>
          <a:prstGeom prst="rect">
            <a:avLst/>
          </a:prstGeom>
          <a:solidFill>
            <a:srgbClr val="C9D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6223000"/>
            <a:ext cx="10668000" cy="469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3636B"/>
                </a:solidFill>
                <a:latin typeface="Arial"/>
              </a:defRPr>
            </a:pPr>
            <a:r>
              <a:t>Fuentes: Evaluacion_Independiente_y_Validez_24-10-2026.md; Robustez_Sin_Cohorte_Nueva_24-10-2026.md.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2349500"/>
            <a:ext cx="3429000" cy="444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7252D"/>
                </a:solidFill>
                <a:latin typeface="Arial"/>
              </a:defRPr>
            </a:pPr>
            <a:r>
              <a:t>Train, fuera de fold</a:t>
            </a:r>
          </a:p>
        </p:txBody>
      </p:sp>
      <p:sp>
        <p:nvSpPr>
          <p:cNvPr id="9" name="Rectangle 8"/>
          <p:cNvSpPr/>
          <p:nvPr/>
        </p:nvSpPr>
        <p:spPr>
          <a:xfrm>
            <a:off x="4597400" y="2438400"/>
            <a:ext cx="4889500" cy="203200"/>
          </a:xfrm>
          <a:prstGeom prst="rect">
            <a:avLst/>
          </a:prstGeom>
          <a:solidFill>
            <a:srgbClr val="C9D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97400" y="2438400"/>
            <a:ext cx="3758069" cy="203200"/>
          </a:xfrm>
          <a:prstGeom prst="rect">
            <a:avLst/>
          </a:prstGeom>
          <a:solidFill>
            <a:srgbClr val="536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29800" y="2286000"/>
            <a:ext cx="16002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7252D"/>
                </a:solidFill>
                <a:latin typeface="Arial"/>
              </a:defRPr>
            </a:pPr>
            <a:r>
              <a:t>0,3843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3352800"/>
            <a:ext cx="3429000" cy="444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7252D"/>
                </a:solidFill>
                <a:latin typeface="Arial"/>
              </a:defRPr>
            </a:pPr>
            <a:r>
              <a:t>Test, ensamble fijo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97400" y="3441700"/>
            <a:ext cx="4889500" cy="203200"/>
          </a:xfrm>
          <a:prstGeom prst="rect">
            <a:avLst/>
          </a:prstGeom>
          <a:solidFill>
            <a:srgbClr val="C9D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97400" y="3441700"/>
            <a:ext cx="3478390" cy="203200"/>
          </a:xfrm>
          <a:prstGeom prst="rect">
            <a:avLst/>
          </a:prstGeom>
          <a:solidFill>
            <a:srgbClr val="126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29800" y="3289300"/>
            <a:ext cx="16002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7252D"/>
                </a:solidFill>
                <a:latin typeface="Arial"/>
              </a:defRPr>
            </a:pPr>
            <a:r>
              <a:t>0,3557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4356100"/>
            <a:ext cx="3429000" cy="444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7252D"/>
                </a:solidFill>
                <a:latin typeface="Arial"/>
              </a:defRPr>
            </a:pPr>
            <a:r>
              <a:t>Referencia 1/k en test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97400" y="4445000"/>
            <a:ext cx="4889500" cy="203200"/>
          </a:xfrm>
          <a:prstGeom prst="rect">
            <a:avLst/>
          </a:prstGeom>
          <a:solidFill>
            <a:srgbClr val="C9D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97400" y="4445000"/>
            <a:ext cx="3463721" cy="203200"/>
          </a:xfrm>
          <a:prstGeom prst="rect">
            <a:avLst/>
          </a:prstGeom>
          <a:solidFill>
            <a:srgbClr val="536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29800" y="4292600"/>
            <a:ext cx="16002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7252D"/>
                </a:solidFill>
                <a:latin typeface="Arial"/>
              </a:defRPr>
            </a:pPr>
            <a:r>
              <a:t>0,3542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7400" y="5130800"/>
            <a:ext cx="4889500" cy="317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3636B"/>
                </a:solidFill>
                <a:latin typeface="Arial"/>
              </a:defRPr>
            </a:pPr>
            <a:r>
              <a:t>Escala 0–0,5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2000" y="5562600"/>
            <a:ext cx="10668000" cy="12700"/>
          </a:xfrm>
          <a:prstGeom prst="rect">
            <a:avLst/>
          </a:prstGeom>
          <a:solidFill>
            <a:srgbClr val="C9D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2000" y="5651500"/>
            <a:ext cx="10668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2686C"/>
                </a:solidFill>
                <a:latin typeface="Arial"/>
              </a:defRPr>
            </a:pPr>
            <a:r>
              <a:t>Solo 4 de 8 personas superan 1/k. Recall de la clase media en test: 21,8 %.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342900"/>
            <a:ext cx="96520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2686C"/>
                </a:solidFill>
                <a:latin typeface="Arial"/>
              </a:defRPr>
            </a:pPr>
            <a:r>
              <a:t>CONTROL NEGATIVO Y SENSIBILIDAD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53700" y="342900"/>
            <a:ext cx="8763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3636B"/>
                </a:solidFill>
                <a:latin typeface="Arial"/>
              </a:defRPr>
            </a:pPr>
            <a:r>
              <a:t>07 / 08</a:t>
            </a:r>
          </a:p>
        </p:txBody>
      </p:sp>
      <p:sp>
        <p:nvSpPr>
          <p:cNvPr id="4" name="Rectangle 3"/>
          <p:cNvSpPr/>
          <p:nvPr/>
        </p:nvSpPr>
        <p:spPr>
          <a:xfrm>
            <a:off x="762000" y="762000"/>
            <a:ext cx="10668000" cy="12700"/>
          </a:xfrm>
          <a:prstGeom prst="rect">
            <a:avLst/>
          </a:prstGeom>
          <a:solidFill>
            <a:srgbClr val="C9D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965200"/>
            <a:ext cx="106680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7252D"/>
                </a:solidFill>
                <a:latin typeface="Arial"/>
              </a:defRPr>
            </a:pPr>
            <a:r>
              <a:t>La alineación con GSR importa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6134100"/>
            <a:ext cx="10668000" cy="12700"/>
          </a:xfrm>
          <a:prstGeom prst="rect">
            <a:avLst/>
          </a:prstGeom>
          <a:solidFill>
            <a:srgbClr val="C9D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6223000"/>
            <a:ext cx="10668000" cy="469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3636B"/>
                </a:solidFill>
                <a:latin typeface="Arial"/>
              </a:defRPr>
            </a:pPr>
            <a:r>
              <a:t>Fuentes: Control_Negativo_Temporal_y_Errores_24-10-2026.md; Robustez_Sin_Cohorte_Nueva_24-10-2026.md.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2006600"/>
            <a:ext cx="49784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2686C"/>
                </a:solidFill>
                <a:latin typeface="Arial"/>
              </a:defRPr>
            </a:pPr>
            <a:r>
              <a:t>CONTROL TEMPORAL · TRAIN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2413000"/>
            <a:ext cx="4978400" cy="927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4300" b="1">
                <a:solidFill>
                  <a:srgbClr val="17252D"/>
                </a:solidFill>
                <a:latin typeface="Arial"/>
              </a:defRPr>
            </a:pPr>
            <a:r>
              <a:t>+5,76 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3492500"/>
            <a:ext cx="4889500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7252D"/>
                </a:solidFill>
                <a:latin typeface="Arial"/>
              </a:defRPr>
            </a:pPr>
            <a:r>
              <a:t>BA 0,3843 original frente a 0,3268 con la etiqueta GSR desplazada.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4368800"/>
            <a:ext cx="4889500" cy="5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3636B"/>
                </a:solidFill>
                <a:latin typeface="Arial"/>
              </a:defRPr>
            </a:pPr>
            <a:r>
              <a:t>0 de 12 controles alcanzó el original.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70600" y="2019300"/>
            <a:ext cx="12700" cy="2908300"/>
          </a:xfrm>
          <a:prstGeom prst="rect">
            <a:avLst/>
          </a:prstGeom>
          <a:solidFill>
            <a:srgbClr val="C9D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200" y="2006600"/>
            <a:ext cx="48768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2686C"/>
                </a:solidFill>
                <a:latin typeface="Arial"/>
              </a:defRPr>
            </a:pPr>
            <a:r>
              <a:t>DEFINICIÓN DE ETIQUETA · 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200" y="2413000"/>
            <a:ext cx="4876800" cy="927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7252D"/>
                </a:solidFill>
                <a:latin typeface="Arial"/>
              </a:defRPr>
            </a:pPr>
            <a:r>
              <a:t>19,7 % y 30,5 %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3200" y="3492500"/>
            <a:ext cx="4876800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7252D"/>
                </a:solidFill>
                <a:latin typeface="Arial"/>
              </a:defRPr>
            </a:pPr>
            <a:r>
              <a:t>de etiquetas cambian con GSR de 2 s o PCA GSR, respectivamente.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3200" y="4368800"/>
            <a:ext cx="4876800" cy="520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3636B"/>
                </a:solidFill>
                <a:latin typeface="Arial"/>
              </a:defRPr>
            </a:pPr>
            <a:r>
              <a:t>Las diferencias de BA incluyen cero.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2000" y="5181600"/>
            <a:ext cx="10668000" cy="12700"/>
          </a:xfrm>
          <a:prstGeom prst="rect">
            <a:avLst/>
          </a:prstGeom>
          <a:solidFill>
            <a:srgbClr val="C9D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000" y="5334000"/>
            <a:ext cx="10668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2686C"/>
                </a:solidFill>
                <a:latin typeface="Arial"/>
              </a:defRPr>
            </a:pPr>
            <a:r>
              <a:t>El control mide dependencia de la pseudoetiqueta. Aún falta una medida externa del estado psicológico.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342900"/>
            <a:ext cx="96520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2686C"/>
                </a:solidFill>
                <a:latin typeface="Arial"/>
              </a:defRPr>
            </a:pPr>
            <a:r>
              <a:t>BALANCE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53700" y="342900"/>
            <a:ext cx="8763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3636B"/>
                </a:solidFill>
                <a:latin typeface="Arial"/>
              </a:defRPr>
            </a:pPr>
            <a:r>
              <a:t>08 / 08</a:t>
            </a:r>
          </a:p>
        </p:txBody>
      </p:sp>
      <p:sp>
        <p:nvSpPr>
          <p:cNvPr id="4" name="Rectangle 3"/>
          <p:cNvSpPr/>
          <p:nvPr/>
        </p:nvSpPr>
        <p:spPr>
          <a:xfrm>
            <a:off x="762000" y="762000"/>
            <a:ext cx="10668000" cy="12700"/>
          </a:xfrm>
          <a:prstGeom prst="rect">
            <a:avLst/>
          </a:prstGeom>
          <a:solidFill>
            <a:srgbClr val="C9D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965200"/>
            <a:ext cx="106680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7252D"/>
                </a:solidFill>
                <a:latin typeface="Arial"/>
              </a:defRPr>
            </a:pPr>
            <a:r>
              <a:t>Qué permite concluir esta evidencia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6134100"/>
            <a:ext cx="10668000" cy="12700"/>
          </a:xfrm>
          <a:prstGeom prst="rect">
            <a:avLst/>
          </a:prstGeom>
          <a:solidFill>
            <a:srgbClr val="C9D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6223000"/>
            <a:ext cx="10668000" cy="469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3636B"/>
                </a:solidFill>
                <a:latin typeface="Arial"/>
              </a:defRPr>
            </a:pPr>
            <a:r>
              <a:t>Fuentes: informes del 24-10-2026; Evaluacion_Independiente_y_Validez_24-10-2026.md.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2006600"/>
            <a:ext cx="787400" cy="71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2686C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14500" y="2006600"/>
            <a:ext cx="2159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7252D"/>
                </a:solidFill>
                <a:latin typeface="Arial"/>
              </a:defRPr>
            </a:pPr>
            <a:r>
              <a:t>En train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87800" y="1981200"/>
            <a:ext cx="7442200" cy="749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7252D"/>
                </a:solidFill>
                <a:latin typeface="Arial"/>
              </a:defRPr>
            </a:pPr>
            <a:r>
              <a:t>Ridge capta una relación temporal con la pseudoetiqueta GSR.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2921000"/>
            <a:ext cx="10668000" cy="12700"/>
          </a:xfrm>
          <a:prstGeom prst="rect">
            <a:avLst/>
          </a:prstGeom>
          <a:solidFill>
            <a:srgbClr val="C9D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2000" y="3238500"/>
            <a:ext cx="787400" cy="71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2686C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14500" y="3238500"/>
            <a:ext cx="2159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7252D"/>
                </a:solidFill>
                <a:latin typeface="Arial"/>
              </a:defRPr>
            </a:pPr>
            <a:r>
              <a:t>Alcance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87800" y="3213100"/>
            <a:ext cx="7442200" cy="749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7252D"/>
                </a:solidFill>
                <a:latin typeface="Arial"/>
              </a:defRPr>
            </a:pPr>
            <a:r>
              <a:t>No se confirma una ventaja general del historial o la fusión. El test ya se había consultado.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2000" y="4152900"/>
            <a:ext cx="10668000" cy="12700"/>
          </a:xfrm>
          <a:prstGeom prst="rect">
            <a:avLst/>
          </a:prstGeom>
          <a:solidFill>
            <a:srgbClr val="C9D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4470400"/>
            <a:ext cx="787400" cy="71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2686C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14500" y="4470400"/>
            <a:ext cx="2159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7252D"/>
                </a:solidFill>
                <a:latin typeface="Arial"/>
              </a:defRPr>
            </a:pPr>
            <a:r>
              <a:t>Siguiente paso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87800" y="4445000"/>
            <a:ext cx="7442200" cy="749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7252D"/>
                </a:solidFill>
                <a:latin typeface="Arial"/>
              </a:defRPr>
            </a:pPr>
            <a:r>
              <a:t>Fijar modelo y protocolo antes de evaluar personas nuevas y contrastar la etiqueta con una medida independiente.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2000" y="5384800"/>
            <a:ext cx="10668000" cy="12700"/>
          </a:xfrm>
          <a:prstGeom prst="rect">
            <a:avLst/>
          </a:prstGeom>
          <a:solidFill>
            <a:srgbClr val="C9D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Avances experimentales — tesis MDS</dc:title>
  <dc:subject>Temporalidad, fusión, robustez y control negativo</dc:subject>
  <dc:creator>Mario Romero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es-CL</dc:language>
</cp:coreProperties>
</file>