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etiqueta es una referencia computacional, no una medida directa del estado psicológico.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construcción de las etiquetas es offline. La etiqueta de atención depende de mirada y pupila.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P29 se reserva solo para sensibilidad; seis personas fueron excluidas. La BA global por ventana es otra métrica.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historial puede abarcar hasta nueve segundos. La fusión tardía usa expertos por modalidad y distinta capacidad.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atención, los intervalos descriptivos de esos contrastes fueron [-1,20; -0,05] y [+0,13; +1,86] pp. No corrigen búsqueda previa ni comparaciones múltiples.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 usa un modelo por fold; test promedia probabilidades de cinco modelos. La diferencia train-test es descriptiva. La referencia 1/k no es un clasificador desplegable.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control preserva frecuencias de clase; el modelo original fue seleccionado con etiquetas de train. Las reglas alternativas de test no reentrenan el predictor.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Conservar la distinción entre evaluación de la pseudoetiqueta y validez del constructo. La disponibilidad de datos externos sigue pendiente de confirmación.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0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42900"/>
            <a:ext cx="1041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87F86"/>
                </a:solidFill>
                <a:latin typeface="Arial"/>
              </a:defRPr>
            </a:pPr>
            <a:r>
              <a:t>TESIS MDS · 24 DE OCTUBRE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23900"/>
            <a:ext cx="10972800" cy="939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B42"/>
                </a:solidFill>
                <a:latin typeface="Arial"/>
              </a:defRPr>
            </a:pPr>
            <a:r>
              <a:t>¿Qué muestran los experimentos recientes?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096000"/>
            <a:ext cx="10972800" cy="127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197600"/>
            <a:ext cx="102235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675"/>
                </a:solidFill>
                <a:latin typeface="Arial"/>
              </a:defRPr>
            </a:pPr>
            <a:r>
              <a:t>Fuentes: informes experimentales del 24-10-2026; Toma de Muestra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210300"/>
            <a:ext cx="660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36675"/>
                </a:solidFill>
                <a:latin typeface="Arial"/>
              </a:defRPr>
            </a:pPr>
            <a:r>
              <a:t>1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79600"/>
            <a:ext cx="10922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3047"/>
                </a:solidFill>
                <a:latin typeface="Arial"/>
              </a:defRPr>
            </a:pPr>
            <a:r>
              <a:t>Predicción de pseudoetiquetas de activación y atención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600" y="2768600"/>
            <a:ext cx="10972800" cy="19685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2768600"/>
            <a:ext cx="63500" cy="1968500"/>
          </a:xfrm>
          <a:prstGeom prst="rect">
            <a:avLst/>
          </a:prstGeom>
          <a:solidFill>
            <a:srgbClr val="08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900" y="2921000"/>
            <a:ext cx="105156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87F86"/>
                </a:solidFill>
                <a:latin typeface="Arial"/>
              </a:defRPr>
            </a:pPr>
            <a:r>
              <a:t>PREGUNTA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3378200"/>
            <a:ext cx="10490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047"/>
                </a:solidFill>
                <a:latin typeface="Arial"/>
              </a:defRPr>
            </a:pPr>
            <a:r>
              <a:t>¿Pueden EEG, mirada y pupila anticipar una etiqueta calculada con otras señales, y aportan valor el historial temporal o la fusión por modalidad?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600" y="5016500"/>
            <a:ext cx="10972800" cy="736600"/>
          </a:xfrm>
          <a:prstGeom prst="roundRect">
            <a:avLst/>
          </a:prstGeom>
          <a:solidFill>
            <a:srgbClr val="EA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500" y="5080000"/>
            <a:ext cx="105283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02B42"/>
                </a:solidFill>
                <a:latin typeface="Arial"/>
              </a:defRPr>
            </a:pPr>
            <a:r>
              <a:t>Conclusión actual: hay señal alineada en train; la generalización y la validez psicológica siguen abiertas.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0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42900"/>
            <a:ext cx="1041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87F86"/>
                </a:solidFill>
                <a:latin typeface="Arial"/>
              </a:defRPr>
            </a:pPr>
            <a:r>
              <a:t>DISEÑO Y SIGNIFICADO DE LA ETIQUETA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23900"/>
            <a:ext cx="10972800" cy="939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B42"/>
                </a:solidFill>
                <a:latin typeface="Arial"/>
              </a:defRPr>
            </a:pPr>
            <a:r>
              <a:t>Profesor y estudiante usan señales separadas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096000"/>
            <a:ext cx="10972800" cy="127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197600"/>
            <a:ext cx="102235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675"/>
                </a:solidFill>
                <a:latin typeface="Arial"/>
              </a:defRPr>
            </a:pPr>
            <a:r>
              <a:t>Fuente: metodología del manuscrito; Evaluacion_Independiente_y_Validez_24-10-2026.md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210300"/>
            <a:ext cx="660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36675"/>
                </a:solidFill>
                <a:latin typeface="Arial"/>
              </a:defRPr>
            </a:pPr>
            <a:r>
              <a:t>2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1879600"/>
            <a:ext cx="5143500" cy="22098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1879600"/>
            <a:ext cx="63500" cy="2209800"/>
          </a:xfrm>
          <a:prstGeom prst="rect">
            <a:avLst/>
          </a:prstGeom>
          <a:solidFill>
            <a:srgbClr val="08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900" y="2032000"/>
            <a:ext cx="4686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87F86"/>
                </a:solidFill>
                <a:latin typeface="Arial"/>
              </a:defRPr>
            </a:pPr>
            <a:r>
              <a:t>PROFESOR · DEFINE EL OBJETIVO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900" y="2489200"/>
            <a:ext cx="4660900" cy="146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047"/>
                </a:solidFill>
                <a:latin typeface="Arial"/>
              </a:defRPr>
            </a:pPr>
            <a:r>
              <a:t>GSR genera la pseudoetiqueta principal de activación: bajo, medio o alto. Se usan terciles relativos a cada persona y toda su sesión.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38900" y="1879600"/>
            <a:ext cx="5143500" cy="22098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38900" y="1879600"/>
            <a:ext cx="63500" cy="2209800"/>
          </a:xfrm>
          <a:prstGeom prst="rect">
            <a:avLst/>
          </a:prstGeom>
          <a:solidFill>
            <a:srgbClr val="215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80200" y="2032000"/>
            <a:ext cx="4686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15C80"/>
                </a:solidFill>
                <a:latin typeface="Arial"/>
              </a:defRPr>
            </a:pPr>
            <a:r>
              <a:t>ESTUDIANTE · HACE LA PREDICCIÓN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2489200"/>
            <a:ext cx="4660900" cy="146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047"/>
                </a:solidFill>
                <a:latin typeface="Arial"/>
              </a:defRPr>
            </a:pPr>
            <a:r>
              <a:t>EEG, mirada y pupila predicen esa etiqueta. GSR no entra al predictor. Atención es un objetivo secundario con otra etiqueta.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10972800" cy="736600"/>
          </a:xfrm>
          <a:prstGeom prst="roundRect">
            <a:avLst/>
          </a:prstGeom>
          <a:solidFill>
            <a:srgbClr val="EA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500" y="4508500"/>
            <a:ext cx="105283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A45A22"/>
                </a:solidFill>
                <a:latin typeface="Arial"/>
              </a:defRPr>
            </a:pPr>
            <a:r>
              <a:t>“Alto” significa alto para esa persona; no es un umbral fisiológico común ni una etiqueta causal en tiempo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0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42900"/>
            <a:ext cx="1041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87F86"/>
                </a:solidFill>
                <a:latin typeface="Arial"/>
              </a:defRPr>
            </a:pPr>
            <a:r>
              <a:t>MUESTRA, EVALUACIÓN Y LECTURA DE LA MÉTRICA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23900"/>
            <a:ext cx="10972800" cy="939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B42"/>
                </a:solidFill>
                <a:latin typeface="Arial"/>
              </a:defRPr>
            </a:pPr>
            <a:r>
              <a:t>La partición es por persona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096000"/>
            <a:ext cx="10972800" cy="127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197600"/>
            <a:ext cx="102235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675"/>
                </a:solidFill>
                <a:latin typeface="Arial"/>
              </a:defRPr>
            </a:pPr>
            <a:r>
              <a:t>Fuente: Evaluacion_Independiente_y_Validez_24-10-2026.md; protocolo de robustez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210300"/>
            <a:ext cx="660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36675"/>
                </a:solidFill>
                <a:latin typeface="Arial"/>
              </a:defRPr>
            </a:pPr>
            <a:r>
              <a:t>3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1879600"/>
            <a:ext cx="3302000" cy="15748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1879600"/>
            <a:ext cx="63500" cy="1574800"/>
          </a:xfrm>
          <a:prstGeom prst="rect">
            <a:avLst/>
          </a:prstGeom>
          <a:solidFill>
            <a:srgbClr val="08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900" y="1981200"/>
            <a:ext cx="2844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87F86"/>
                </a:solidFill>
                <a:latin typeface="Arial"/>
              </a:defRPr>
            </a:pPr>
            <a:r>
              <a:t>TRAIN · 25 PERSONAS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900" y="2374900"/>
            <a:ext cx="2819400" cy="10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047"/>
                </a:solidFill>
                <a:latin typeface="Arial"/>
              </a:defRPr>
            </a:pPr>
            <a:r>
              <a:t>13.524 ventanas. Cinco folds; cada persona se predice fuera del fold donde se ajustó el modelo.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40200" y="1879600"/>
            <a:ext cx="3302000" cy="15748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40200" y="1879600"/>
            <a:ext cx="63500" cy="1574800"/>
          </a:xfrm>
          <a:prstGeom prst="rect">
            <a:avLst/>
          </a:prstGeom>
          <a:solidFill>
            <a:srgbClr val="215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1500" y="1981200"/>
            <a:ext cx="2844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15C80"/>
                </a:solidFill>
                <a:latin typeface="Arial"/>
              </a:defRPr>
            </a:pPr>
            <a:r>
              <a:t>VALIDATION ·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1500" y="2374900"/>
            <a:ext cx="2819400" cy="10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047"/>
                </a:solidFill>
                <a:latin typeface="Arial"/>
              </a:defRPr>
            </a:pPr>
            <a:r>
              <a:t>Ya se usó para comparar entradas en rondas anteriores.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70800" y="1879600"/>
            <a:ext cx="3911600" cy="15748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70800" y="1879600"/>
            <a:ext cx="63500" cy="1574800"/>
          </a:xfrm>
          <a:prstGeom prst="rect">
            <a:avLst/>
          </a:prstGeom>
          <a:solidFill>
            <a:srgbClr val="A45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12100" y="1981200"/>
            <a:ext cx="3454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A45A22"/>
                </a:solidFill>
                <a:latin typeface="Arial"/>
              </a:defRPr>
            </a:pPr>
            <a:r>
              <a:t>TEST · 8 PERSONAS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2100" y="2374900"/>
            <a:ext cx="3429000" cy="10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047"/>
                </a:solidFill>
                <a:latin typeface="Arial"/>
              </a:defRPr>
            </a:pPr>
            <a:r>
              <a:t>4.025 ventanas. Ya consultado: evaluación adicional, sin confirmación independiente.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3708400"/>
            <a:ext cx="10972800" cy="12065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600" y="3708400"/>
            <a:ext cx="63500" cy="1206500"/>
          </a:xfrm>
          <a:prstGeom prst="rect">
            <a:avLst/>
          </a:prstGeom>
          <a:solidFill>
            <a:srgbClr val="08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900" y="3810000"/>
            <a:ext cx="1051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87F86"/>
                </a:solidFill>
                <a:latin typeface="Arial"/>
              </a:defRPr>
            </a:pPr>
            <a:r>
              <a:t>BA MACRO POR PERSONA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" y="4203700"/>
            <a:ext cx="1049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047"/>
                </a:solidFill>
                <a:latin typeface="Arial"/>
              </a:defRPr>
            </a:pPr>
            <a:r>
              <a:t>Para cada persona se promedia el recall de las clases presentes; luego se promedian las personas con igual peso.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600" y="5105400"/>
            <a:ext cx="10972800" cy="736600"/>
          </a:xfrm>
          <a:prstGeom prst="roundRect">
            <a:avLst/>
          </a:prstGeom>
          <a:solidFill>
            <a:srgbClr val="EA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500" y="5168900"/>
            <a:ext cx="105283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02B42"/>
                </a:solidFill>
                <a:latin typeface="Arial"/>
              </a:defRPr>
            </a:pPr>
            <a:r>
              <a:t>Los intervalos descriptivos remuestrean personas, no ventanas.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0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42900"/>
            <a:ext cx="1041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87F86"/>
                </a:solidFill>
                <a:latin typeface="Arial"/>
              </a:defRPr>
            </a:pPr>
            <a:r>
              <a:t>CONTRASTE FACTORIAL 2 × 2 · TRAIN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23900"/>
            <a:ext cx="10972800" cy="939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B42"/>
                </a:solidFill>
                <a:latin typeface="Arial"/>
              </a:defRPr>
            </a:pPr>
            <a:r>
              <a:t>El historial aporta poco en activación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096000"/>
            <a:ext cx="10972800" cy="127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197600"/>
            <a:ext cx="102235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675"/>
                </a:solidFill>
                <a:latin typeface="Arial"/>
              </a:defRPr>
            </a:pPr>
            <a:r>
              <a:t>Fuente: Contraste_Temporalidad_Fusion_24-10-2026.md; 25 personas, 5 folds, 2 semillas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210300"/>
            <a:ext cx="660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36675"/>
                </a:solidFill>
                <a:latin typeface="Arial"/>
              </a:defRPr>
            </a:pPr>
            <a:r>
              <a:t>4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778000"/>
            <a:ext cx="109728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047"/>
                </a:solidFill>
                <a:latin typeface="Arial"/>
              </a:defRPr>
            </a:pPr>
            <a:r>
              <a:t>TCN: historial real (R) o ventana actual repetida (C); fusión temprana (E) o tardía (T).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600" y="2501900"/>
            <a:ext cx="2552700" cy="11049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7400" y="2628900"/>
            <a:ext cx="21844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536675"/>
                </a:solidFill>
                <a:latin typeface="Arial"/>
              </a:defRPr>
            </a:pPr>
            <a:r>
              <a:t>E-C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00" y="3009900"/>
            <a:ext cx="21844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02B42"/>
                </a:solidFill>
                <a:latin typeface="Arial"/>
              </a:defRPr>
            </a:pPr>
            <a:r>
              <a:t>0,3524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6300" y="2501900"/>
            <a:ext cx="2552700" cy="11049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4100" y="2628900"/>
            <a:ext cx="21844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87F86"/>
                </a:solidFill>
                <a:latin typeface="Arial"/>
              </a:defRPr>
            </a:pPr>
            <a:r>
              <a:t>E-R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4100" y="3009900"/>
            <a:ext cx="21844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02B42"/>
                </a:solidFill>
                <a:latin typeface="Arial"/>
              </a:defRPr>
            </a:pPr>
            <a:r>
              <a:t>0,3612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000" y="2501900"/>
            <a:ext cx="2552700" cy="11049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628900"/>
            <a:ext cx="21844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15C80"/>
                </a:solidFill>
                <a:latin typeface="Arial"/>
              </a:defRPr>
            </a:pPr>
            <a:r>
              <a:t>T-C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009900"/>
            <a:ext cx="21844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02B42"/>
                </a:solidFill>
                <a:latin typeface="Arial"/>
              </a:defRPr>
            </a:pPr>
            <a:r>
              <a:t>0,3596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29700" y="2501900"/>
            <a:ext cx="2552700" cy="11049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7500" y="2628900"/>
            <a:ext cx="21844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15C80"/>
                </a:solidFill>
                <a:latin typeface="Arial"/>
              </a:defRPr>
            </a:pPr>
            <a:r>
              <a:t>T-R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7500" y="3009900"/>
            <a:ext cx="21844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02B42"/>
                </a:solidFill>
                <a:latin typeface="Arial"/>
              </a:defRPr>
            </a:pPr>
            <a:r>
              <a:t>0,3630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683000"/>
            <a:ext cx="109728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36675"/>
                </a:solidFill>
                <a:latin typeface="Arial"/>
              </a:defRPr>
            </a:pPr>
            <a:r>
              <a:t>BA macro por persona fuera de fold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600" y="4152900"/>
            <a:ext cx="5143500" cy="8890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600" y="4152900"/>
            <a:ext cx="63500" cy="889000"/>
          </a:xfrm>
          <a:prstGeom prst="rect">
            <a:avLst/>
          </a:prstGeom>
          <a:solidFill>
            <a:srgbClr val="08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900" y="4254500"/>
            <a:ext cx="46863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87F86"/>
                </a:solidFill>
                <a:latin typeface="Arial"/>
              </a:defRPr>
            </a:pPr>
            <a:r>
              <a:t>HISTORIAL: E-R − E-C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900" y="4648200"/>
            <a:ext cx="46609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047"/>
                </a:solidFill>
                <a:latin typeface="Arial"/>
              </a:defRPr>
            </a:pPr>
            <a:r>
              <a:t>+0,88 pp · intervalo [−0,28; +2,00]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38900" y="4152900"/>
            <a:ext cx="5143500" cy="8890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38900" y="4152900"/>
            <a:ext cx="63500" cy="889000"/>
          </a:xfrm>
          <a:prstGeom prst="rect">
            <a:avLst/>
          </a:prstGeom>
          <a:solidFill>
            <a:srgbClr val="215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80200" y="4254500"/>
            <a:ext cx="46863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15C80"/>
                </a:solidFill>
                <a:latin typeface="Arial"/>
              </a:defRPr>
            </a:pPr>
            <a:r>
              <a:t>FUSIÓN: T-R − E-R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0200" y="4648200"/>
            <a:ext cx="46609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047"/>
                </a:solidFill>
                <a:latin typeface="Arial"/>
              </a:defRPr>
            </a:pPr>
            <a:r>
              <a:t>+0,18 pp · intervalo [−0,80; +1,37]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5219700"/>
            <a:ext cx="10972800" cy="736600"/>
          </a:xfrm>
          <a:prstGeom prst="roundRect">
            <a:avLst/>
          </a:prstGeom>
          <a:solidFill>
            <a:srgbClr val="EA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500" y="5283200"/>
            <a:ext cx="105283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A45A22"/>
                </a:solidFill>
                <a:latin typeface="Arial"/>
              </a:defRPr>
            </a:pPr>
            <a:r>
              <a:t>Ambos intervalos incluyen cero; no hay ventaja general confirmada.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0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42900"/>
            <a:ext cx="1041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87F86"/>
                </a:solidFill>
                <a:latin typeface="Arial"/>
              </a:defRPr>
            </a:pPr>
            <a:r>
              <a:t>DIAGNÓSTICO DEL CONTRASTE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23900"/>
            <a:ext cx="10972800" cy="939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B42"/>
                </a:solidFill>
                <a:latin typeface="Arial"/>
              </a:defRPr>
            </a:pPr>
            <a:r>
              <a:t>Una media similar oculta diferencias por clase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096000"/>
            <a:ext cx="10972800" cy="127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197600"/>
            <a:ext cx="102235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675"/>
                </a:solidFill>
                <a:latin typeface="Arial"/>
              </a:defRPr>
            </a:pPr>
            <a:r>
              <a:t>Fuente: Contraste_Temporalidad_Fusion_24-10-2026.md; diagnóstico por clase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210300"/>
            <a:ext cx="660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36675"/>
                </a:solidFill>
                <a:latin typeface="Arial"/>
              </a:defRPr>
            </a:pPr>
            <a:r>
              <a:t>5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1905000"/>
            <a:ext cx="5143500" cy="20701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1905000"/>
            <a:ext cx="63500" cy="2070100"/>
          </a:xfrm>
          <a:prstGeom prst="rect">
            <a:avLst/>
          </a:prstGeom>
          <a:solidFill>
            <a:srgbClr val="A45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900" y="2057400"/>
            <a:ext cx="4686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A45A22"/>
                </a:solidFill>
                <a:latin typeface="Arial"/>
              </a:defRPr>
            </a:pPr>
            <a:r>
              <a:t>ACTIVACIÓN · CLASE MEDIA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900" y="2514600"/>
            <a:ext cx="4660900" cy="132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73047"/>
                </a:solidFill>
                <a:latin typeface="Arial"/>
              </a:defRPr>
            </a:pPr>
            <a:r>
              <a:t>Al pasar de fusión temprana con historial (E-R) a tardía (T-R), el recall cae de 23,4 % a 8,2 %.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38900" y="1905000"/>
            <a:ext cx="5143500" cy="20701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38900" y="1905000"/>
            <a:ext cx="63500" cy="2070100"/>
          </a:xfrm>
          <a:prstGeom prst="rect">
            <a:avLst/>
          </a:prstGeom>
          <a:solidFill>
            <a:srgbClr val="215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80200" y="2057400"/>
            <a:ext cx="4686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15C80"/>
                </a:solidFill>
                <a:latin typeface="Arial"/>
              </a:defRPr>
            </a:pPr>
            <a:r>
              <a:t>ATENCIÓN · OBJETIVO SECUNDARIO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2514600"/>
            <a:ext cx="4660900" cy="132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047"/>
                </a:solidFill>
                <a:latin typeface="Arial"/>
              </a:defRPr>
            </a:pPr>
            <a:r>
              <a:t>El historial temprano baja BA en 0,65 pp. La fusión tardía con historial sube 1,01 pp; resultados exploratorios.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394200"/>
            <a:ext cx="10972800" cy="736600"/>
          </a:xfrm>
          <a:prstGeom prst="roundRect">
            <a:avLst/>
          </a:prstGeom>
          <a:solidFill>
            <a:srgbClr val="EA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500" y="4457700"/>
            <a:ext cx="105283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02B42"/>
                </a:solidFill>
                <a:latin typeface="Arial"/>
              </a:defRPr>
            </a:pPr>
            <a:r>
              <a:t>La pequeña diferencia media de activación no representa una mejora uniforme de las tres clases.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308600"/>
            <a:ext cx="109220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36675"/>
                </a:solidFill>
                <a:latin typeface="Arial"/>
              </a:defRPr>
            </a:pPr>
            <a:r>
              <a:t>Los contrastes usan solo train y pseudoetiquetas; no verifican activación o atención psicológica.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0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42900"/>
            <a:ext cx="1041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87F86"/>
                </a:solidFill>
                <a:latin typeface="Arial"/>
              </a:defRPr>
            </a:pPr>
            <a:r>
              <a:t>RIDGE DE ACTIVACIÓN · EVALUACIÓN ADICIONAL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23900"/>
            <a:ext cx="10972800" cy="939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B42"/>
                </a:solidFill>
                <a:latin typeface="Arial"/>
              </a:defRPr>
            </a:pPr>
            <a:r>
              <a:t>En test, la BA queda cerca de la referencia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096000"/>
            <a:ext cx="10972800" cy="127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197600"/>
            <a:ext cx="102235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675"/>
                </a:solidFill>
                <a:latin typeface="Arial"/>
              </a:defRPr>
            </a:pPr>
            <a:r>
              <a:t>Fuentes: Evaluacion_Independiente_y_Validez_24-10-2026.md; Robustez_Sin_Cohorte_Nueva_24-10-2026.md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210300"/>
            <a:ext cx="660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36675"/>
                </a:solidFill>
                <a:latin typeface="Arial"/>
              </a:defRPr>
            </a:pPr>
            <a:r>
              <a:t>6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81200"/>
            <a:ext cx="41021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047"/>
                </a:solidFill>
                <a:latin typeface="Arial"/>
              </a:defRPr>
            </a:pPr>
            <a:r>
              <a:t>Train · fuera de fold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13300" y="2044700"/>
            <a:ext cx="5029200" cy="279400"/>
          </a:xfrm>
          <a:prstGeom prst="roundRect">
            <a:avLst/>
          </a:prstGeom>
          <a:solidFill>
            <a:srgbClr val="EA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13300" y="2044700"/>
            <a:ext cx="3865443" cy="279400"/>
          </a:xfrm>
          <a:prstGeom prst="roundRect">
            <a:avLst/>
          </a:prstGeom>
          <a:solidFill>
            <a:srgbClr val="08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09200" y="1955800"/>
            <a:ext cx="143510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02B42"/>
                </a:solidFill>
                <a:latin typeface="Arial"/>
              </a:defRPr>
            </a:pPr>
            <a:r>
              <a:t>0,3843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895600"/>
            <a:ext cx="41021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047"/>
                </a:solidFill>
                <a:latin typeface="Arial"/>
              </a:defRPr>
            </a:pPr>
            <a:r>
              <a:t>Test · ensamble fijo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13300" y="2959100"/>
            <a:ext cx="5029200" cy="279400"/>
          </a:xfrm>
          <a:prstGeom prst="roundRect">
            <a:avLst/>
          </a:prstGeom>
          <a:solidFill>
            <a:srgbClr val="EA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13300" y="2959100"/>
            <a:ext cx="3577772" cy="279400"/>
          </a:xfrm>
          <a:prstGeom prst="roundRect">
            <a:avLst/>
          </a:prstGeom>
          <a:solidFill>
            <a:srgbClr val="215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09200" y="2870200"/>
            <a:ext cx="143510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02B42"/>
                </a:solidFill>
                <a:latin typeface="Arial"/>
              </a:defRPr>
            </a:pPr>
            <a:r>
              <a:t>0,3557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810000"/>
            <a:ext cx="41021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047"/>
                </a:solidFill>
                <a:latin typeface="Arial"/>
              </a:defRPr>
            </a:pPr>
            <a:r>
              <a:t>Referencia matemática 1/k · test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13300" y="3873500"/>
            <a:ext cx="5029200" cy="279400"/>
          </a:xfrm>
          <a:prstGeom prst="roundRect">
            <a:avLst/>
          </a:prstGeom>
          <a:solidFill>
            <a:srgbClr val="EA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13300" y="3873500"/>
            <a:ext cx="3562685" cy="279400"/>
          </a:xfrm>
          <a:prstGeom prst="roundRect">
            <a:avLst/>
          </a:prstGeom>
          <a:solidFill>
            <a:srgbClr val="536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09200" y="3784600"/>
            <a:ext cx="143510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02B42"/>
                </a:solidFill>
                <a:latin typeface="Arial"/>
              </a:defRPr>
            </a:pPr>
            <a:r>
              <a:t>0,3542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4610100"/>
            <a:ext cx="109728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36675"/>
                </a:solidFill>
                <a:latin typeface="Arial"/>
              </a:defRPr>
            </a:pPr>
            <a:r>
              <a:t>1/k = BA de predecir siempre una clase presente; en test la media es 0,3542 porque una persona tiene dos clases.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600" y="5232400"/>
            <a:ext cx="10972800" cy="736600"/>
          </a:xfrm>
          <a:prstGeom prst="roundRect">
            <a:avLst/>
          </a:prstGeom>
          <a:solidFill>
            <a:srgbClr val="EA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00" y="5295900"/>
            <a:ext cx="105283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A45A22"/>
                </a:solidFill>
                <a:latin typeface="Arial"/>
              </a:defRPr>
            </a:pPr>
            <a:r>
              <a:t>Solo 4/8 personas superan 1/k. El recall de la clase media en test es 21,8 %.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0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42900"/>
            <a:ext cx="1041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87F86"/>
                </a:solidFill>
                <a:latin typeface="Arial"/>
              </a:defRPr>
            </a:pPr>
            <a:r>
              <a:t>CONTROL NEGATIVO Y SENSIBILIDAD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23900"/>
            <a:ext cx="10972800" cy="939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B42"/>
                </a:solidFill>
                <a:latin typeface="Arial"/>
              </a:defRPr>
            </a:pPr>
            <a:r>
              <a:t>La alineación importa; la etiqueta influye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096000"/>
            <a:ext cx="10972800" cy="127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197600"/>
            <a:ext cx="102235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675"/>
                </a:solidFill>
                <a:latin typeface="Arial"/>
              </a:defRPr>
            </a:pPr>
            <a:r>
              <a:t>Fuentes: Control_Negativo_Temporal_y_Errores_24-10-2026.md; Robustez_Sin_Cohorte_Nueva_24-10-2026.md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210300"/>
            <a:ext cx="660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36675"/>
                </a:solidFill>
                <a:latin typeface="Arial"/>
              </a:defRPr>
            </a:pPr>
            <a:r>
              <a:t>7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1892300"/>
            <a:ext cx="5143500" cy="27051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1892300"/>
            <a:ext cx="63500" cy="2705100"/>
          </a:xfrm>
          <a:prstGeom prst="rect">
            <a:avLst/>
          </a:prstGeom>
          <a:solidFill>
            <a:srgbClr val="08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900" y="2044700"/>
            <a:ext cx="4686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87F86"/>
                </a:solidFill>
                <a:latin typeface="Arial"/>
              </a:defRPr>
            </a:pPr>
            <a:r>
              <a:t>CONTROL TEMPORAL · TRAIN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900" y="2501900"/>
            <a:ext cx="4660900" cy="195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047"/>
                </a:solidFill>
                <a:latin typeface="Arial"/>
              </a:defRPr>
            </a:pPr>
            <a:r>
              <a:t>Ridge original: BA 0,3843. Al desplazar circularmente la etiqueta GSR en el ajuste: media 0,3268 en 12 controles. Diferencia +5,76 pp; 0/12 alcanzan el original.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38900" y="1892300"/>
            <a:ext cx="5143500" cy="27051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38900" y="1892300"/>
            <a:ext cx="63500" cy="2705100"/>
          </a:xfrm>
          <a:prstGeom prst="rect">
            <a:avLst/>
          </a:prstGeom>
          <a:solidFill>
            <a:srgbClr val="215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80200" y="2044700"/>
            <a:ext cx="4686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15C80"/>
                </a:solidFill>
                <a:latin typeface="Arial"/>
              </a:defRPr>
            </a:pPr>
            <a:r>
              <a:t>OTRAS REGLAS ·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2501900"/>
            <a:ext cx="4660900" cy="195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047"/>
                </a:solidFill>
                <a:latin typeface="Arial"/>
              </a:defRPr>
            </a:pPr>
            <a:r>
              <a:t>Con predicciones fijas, GSR 2 s cambia 19,7 % de etiquetas; PCA GSR cambia 30,5 %. Las diferencias de BA tienen intervalos que incluyen cero.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940300"/>
            <a:ext cx="10972800" cy="736600"/>
          </a:xfrm>
          <a:prstGeom prst="roundRect">
            <a:avLst/>
          </a:prstGeom>
          <a:solidFill>
            <a:srgbClr val="EA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500" y="5003800"/>
            <a:ext cx="105283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A45A22"/>
                </a:solidFill>
                <a:latin typeface="Arial"/>
              </a:defRPr>
            </a:pPr>
            <a:r>
              <a:t>El control apoya dependencia de la pseudoetiqueta GSR, no validez psicológica ni rendimiento en personas nuevas.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0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42900"/>
            <a:ext cx="1041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87F86"/>
                </a:solidFill>
                <a:latin typeface="Arial"/>
              </a:defRPr>
            </a:pPr>
            <a:r>
              <a:t>BALANCE Y SIGUIENTE EVIDENCIA NECESARIA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23900"/>
            <a:ext cx="10972800" cy="939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B42"/>
                </a:solidFill>
                <a:latin typeface="Arial"/>
              </a:defRPr>
            </a:pPr>
            <a:r>
              <a:t>Qué se puede afirmar ahora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096000"/>
            <a:ext cx="10972800" cy="127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197600"/>
            <a:ext cx="102235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675"/>
                </a:solidFill>
                <a:latin typeface="Arial"/>
              </a:defRPr>
            </a:pPr>
            <a:r>
              <a:t>Fuentes: informes del 24-10-2026; Evaluacion_Independiente_y_Validez_24-10-2026.md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210300"/>
            <a:ext cx="660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36675"/>
                </a:solidFill>
                <a:latin typeface="Arial"/>
              </a:defRPr>
            </a:pPr>
            <a:r>
              <a:t>8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1841500"/>
            <a:ext cx="10972800" cy="11176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1841500"/>
            <a:ext cx="63500" cy="1117600"/>
          </a:xfrm>
          <a:prstGeom prst="rect">
            <a:avLst/>
          </a:prstGeom>
          <a:solidFill>
            <a:srgbClr val="08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900" y="1943100"/>
            <a:ext cx="1051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87F86"/>
                </a:solidFill>
                <a:latin typeface="Arial"/>
              </a:defRPr>
            </a:pPr>
            <a:r>
              <a:t>OBSERVADO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900" y="2336800"/>
            <a:ext cx="104902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047"/>
                </a:solidFill>
                <a:latin typeface="Arial"/>
              </a:defRPr>
            </a:pPr>
            <a:r>
              <a:t>En train, la predicción Ridge depende de la alineación temporal con su pseudoetiqueta GSR.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3098800"/>
            <a:ext cx="10972800" cy="11176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3098800"/>
            <a:ext cx="63500" cy="1117600"/>
          </a:xfrm>
          <a:prstGeom prst="rect">
            <a:avLst/>
          </a:prstGeom>
          <a:solidFill>
            <a:srgbClr val="A45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900" y="3200400"/>
            <a:ext cx="1051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A45A22"/>
                </a:solidFill>
                <a:latin typeface="Arial"/>
              </a:defRPr>
            </a:pPr>
            <a:r>
              <a:t>LÍMITE DE LA CONCLUSIÓN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900" y="3594100"/>
            <a:ext cx="104902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047"/>
                </a:solidFill>
                <a:latin typeface="Arial"/>
              </a:defRPr>
            </a:pPr>
            <a:r>
              <a:t>No se confirma una ventaja general del historial o la fusión; test ya se había consultado y falta una medida externa del estado psicológico.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356100"/>
            <a:ext cx="10972800" cy="1384300"/>
          </a:xfrm>
          <a:prstGeom prst="round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356100"/>
            <a:ext cx="63500" cy="1384300"/>
          </a:xfrm>
          <a:prstGeom prst="rect">
            <a:avLst/>
          </a:prstGeom>
          <a:solidFill>
            <a:srgbClr val="215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900" y="4457700"/>
            <a:ext cx="1051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15C80"/>
                </a:solidFill>
                <a:latin typeface="Arial"/>
              </a:defRPr>
            </a:pPr>
            <a:r>
              <a:t>PARA CONFIRMAR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900" y="4851400"/>
            <a:ext cx="10490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047"/>
                </a:solidFill>
                <a:latin typeface="Arial"/>
              </a:defRPr>
            </a:pPr>
            <a:r>
              <a:t>Fijar predictor y protocolo antes de evaluar personas no utilizadas en decisiones previas; contrastar la pseudoetiqueta con una medida independiente y apropiada a su escala temporal.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Avances experimentales autocontenidos — tesis MDS</dc:title>
  <dc:subject>Temporalidad, fusión, robustez y control negativo</dc:subject>
  <dc:creator>Mario Romero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es-CL</dc:language>
</cp:coreProperties>
</file>