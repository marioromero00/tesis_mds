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trazas de la portada son esquemáticas; no son datos medidos. La pseudoetiqueta es una referencia computacional, no una medida directa del estado psicológico.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etiqueta de atención depende de mirada y pupila; para cada objetivo, las señales que crean la etiqueta quedan fuera del predictor correspondiente. Los terciles no son un umbral fisiológico común ni una etiqueta causal en tiempo real.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 usa cinco folds: cada persona se predice fuera del fold de ajuste. Validation ya se usó para comparar entradas. Test ya se había consultado, así que su evaluación adicional no confirma generalización independiente. Los intervalos descriptivos remuestrean personas, no ventanas.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fusión temprana; T: fusión tardía. C: repetir la ventana actual; R: historial real. La fusión tardía usa expertos por modalidad y otra capacidad. El historial alcanza hasta nueve segundos. No se corrige la búsqueda previa ni comparaciones múltiples.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barras muestran E-R y T-R, en ese orden, para activación. BA macro: E-R 0,3612 y T-R 0,3630. Para atención, objetivo secundario, historial temprano baja BA 0,65 pp y fusión tardía con historial sube 1,01 pp; resultados exploratorios. No verifican estados psicológicos.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1/k es la BA de predecir siempre una clase presente; en test promedia 0,3542 porque una persona tiene dos clases. Train usa un modelo por fold; test promedia probabilidades de cinco modelos. El test ya se había consultado; la diferencia es descriptiva y no confirma desempeño independiente.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desplazó circularmente la etiqueta GSR dentro de cada registro al ajustar el modelo, preservando las frecuencias de clase. Ninguno de los 12 controles alcanzó el original. El modelo original se había seleccionado con etiquetas de train. En test, GSR 2 s cambia 19,7 % de etiquetas y PCA GSR 30,5 %; las diferencias de BA incluyen cero. No es prueba de validez psicológica ni de generalización a personas nuevas.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Conservar la distinción entre predicción de una pseudoetiqueta y validez del constructo. La disponibilidad de una cohorte externa sigue pendiente de confirmación.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254000"/>
            <a:ext cx="10160000" cy="292100"/>
          </a:xfrm>
          <a:prstGeom prst="rect">
            <a:avLst/>
          </a:prstGeom>
          <a:noFill/>
        </p:spPr>
        <p:txBody>
          <a:bodyPr wrap="square" lIns="0" rIns="0" tIns="0" bIns="0" anchor="ctr">
            <a:spAutoFit/>
          </a:bodyPr>
          <a:lstStyle/>
          <a:p>
            <a:pPr algn="l">
              <a:lnSpc>
                <a:spcPct val="108000"/>
              </a:lnSpc>
              <a:spcBef>
                <a:spcPts val="0"/>
              </a:spcBef>
              <a:spcAft>
                <a:spcPts val="0"/>
              </a:spcAft>
              <a:defRPr sz="1100" b="0">
                <a:solidFill>
                  <a:srgbClr val="596E80"/>
                </a:solidFill>
                <a:latin typeface="Calibri"/>
              </a:defRPr>
            </a:pPr>
            <a:r>
              <a:t>Universidad de Chile · Magíster en Data Science</a:t>
            </a:r>
          </a:p>
        </p:txBody>
      </p:sp>
      <p:sp>
        <p:nvSpPr>
          <p:cNvPr id="3" name="TextBox 2"/>
          <p:cNvSpPr txBox="1"/>
          <p:nvPr/>
        </p:nvSpPr>
        <p:spPr>
          <a:xfrm>
            <a:off x="635000" y="698500"/>
            <a:ext cx="10922000" cy="838200"/>
          </a:xfrm>
          <a:prstGeom prst="rect">
            <a:avLst/>
          </a:prstGeom>
          <a:noFill/>
        </p:spPr>
        <p:txBody>
          <a:bodyPr wrap="square" lIns="0" rIns="0" tIns="0" bIns="0" anchor="ctr">
            <a:spAutoFit/>
          </a:bodyPr>
          <a:lstStyle/>
          <a:p>
            <a:pPr algn="l">
              <a:lnSpc>
                <a:spcPct val="108000"/>
              </a:lnSpc>
              <a:spcBef>
                <a:spcPts val="0"/>
              </a:spcBef>
              <a:spcAft>
                <a:spcPts val="0"/>
              </a:spcAft>
              <a:defRPr sz="3000" b="0">
                <a:solidFill>
                  <a:srgbClr val="16324F"/>
                </a:solidFill>
                <a:latin typeface="Cambria"/>
              </a:defRPr>
            </a:pPr>
            <a:r>
              <a:t>Avances experimentales</a:t>
            </a:r>
          </a:p>
        </p:txBody>
      </p:sp>
      <p:sp>
        <p:nvSpPr>
          <p:cNvPr id="4" name="Rectangle 3"/>
          <p:cNvSpPr/>
          <p:nvPr/>
        </p:nvSpPr>
        <p:spPr>
          <a:xfrm>
            <a:off x="635000" y="61468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35000" y="6235700"/>
            <a:ext cx="10261600" cy="419100"/>
          </a:xfrm>
          <a:prstGeom prst="rect">
            <a:avLst/>
          </a:prstGeom>
          <a:noFill/>
        </p:spPr>
        <p:txBody>
          <a:bodyPr wrap="square" lIns="0" rIns="0" tIns="0" bIns="0" anchor="ctr">
            <a:spAutoFit/>
          </a:bodyPr>
          <a:lstStyle/>
          <a:p>
            <a:pPr algn="l">
              <a:lnSpc>
                <a:spcPct val="108000"/>
              </a:lnSpc>
              <a:spcBef>
                <a:spcPts val="0"/>
              </a:spcBef>
              <a:spcAft>
                <a:spcPts val="0"/>
              </a:spcAft>
              <a:defRPr sz="900" b="0">
                <a:solidFill>
                  <a:srgbClr val="596E80"/>
                </a:solidFill>
                <a:latin typeface="Calibri"/>
              </a:defRPr>
            </a:pPr>
            <a:r>
              <a:t>Tesis MDS · Mario Romero · Toma de Muestra 2 · octubre de 2026.</a:t>
            </a:r>
          </a:p>
        </p:txBody>
      </p:sp>
      <p:sp>
        <p:nvSpPr>
          <p:cNvPr id="6" name="TextBox 5"/>
          <p:cNvSpPr txBox="1"/>
          <p:nvPr/>
        </p:nvSpPr>
        <p:spPr>
          <a:xfrm>
            <a:off x="11176000" y="6235700"/>
            <a:ext cx="381000" cy="292100"/>
          </a:xfrm>
          <a:prstGeom prst="rect">
            <a:avLst/>
          </a:prstGeom>
          <a:noFill/>
        </p:spPr>
        <p:txBody>
          <a:bodyPr wrap="square" lIns="0" rIns="0" tIns="0" bIns="0" anchor="ctr">
            <a:spAutoFit/>
          </a:bodyPr>
          <a:lstStyle/>
          <a:p>
            <a:pPr algn="r">
              <a:lnSpc>
                <a:spcPct val="108000"/>
              </a:lnSpc>
              <a:spcBef>
                <a:spcPts val="0"/>
              </a:spcBef>
              <a:spcAft>
                <a:spcPts val="0"/>
              </a:spcAft>
              <a:defRPr sz="900" b="0">
                <a:solidFill>
                  <a:srgbClr val="596E80"/>
                </a:solidFill>
                <a:latin typeface="Calibri"/>
              </a:defRPr>
            </a:pPr>
            <a:r>
              <a:t>1</a:t>
            </a:r>
          </a:p>
        </p:txBody>
      </p:sp>
      <p:sp>
        <p:nvSpPr>
          <p:cNvPr id="7" name="TextBox 6"/>
          <p:cNvSpPr txBox="1"/>
          <p:nvPr/>
        </p:nvSpPr>
        <p:spPr>
          <a:xfrm>
            <a:off x="635000" y="1816100"/>
            <a:ext cx="6921500" cy="990600"/>
          </a:xfrm>
          <a:prstGeom prst="rect">
            <a:avLst/>
          </a:prstGeom>
          <a:noFill/>
        </p:spPr>
        <p:txBody>
          <a:bodyPr wrap="square" lIns="0" rIns="0" tIns="0" bIns="0" anchor="ctr">
            <a:spAutoFit/>
          </a:bodyPr>
          <a:lstStyle/>
          <a:p>
            <a:pPr algn="l">
              <a:lnSpc>
                <a:spcPct val="108000"/>
              </a:lnSpc>
              <a:spcBef>
                <a:spcPts val="0"/>
              </a:spcBef>
              <a:spcAft>
                <a:spcPts val="0"/>
              </a:spcAft>
              <a:defRPr sz="2300" b="0">
                <a:solidFill>
                  <a:srgbClr val="16324F"/>
                </a:solidFill>
                <a:latin typeface="Cambria"/>
              </a:defRPr>
            </a:pPr>
            <a:r>
              <a:t>Temporalidad, fusión y robustez en la predicción de pseudoetiquetas</a:t>
            </a:r>
          </a:p>
        </p:txBody>
      </p:sp>
      <p:sp>
        <p:nvSpPr>
          <p:cNvPr id="8" name="TextBox 7"/>
          <p:cNvSpPr txBox="1"/>
          <p:nvPr/>
        </p:nvSpPr>
        <p:spPr>
          <a:xfrm>
            <a:off x="635000" y="4254500"/>
            <a:ext cx="5905500" cy="368300"/>
          </a:xfrm>
          <a:prstGeom prst="rect">
            <a:avLst/>
          </a:prstGeom>
          <a:noFill/>
        </p:spPr>
        <p:txBody>
          <a:bodyPr wrap="square" lIns="0" rIns="0" tIns="0" bIns="0" anchor="ctr">
            <a:spAutoFit/>
          </a:bodyPr>
          <a:lstStyle/>
          <a:p>
            <a:pPr algn="l">
              <a:lnSpc>
                <a:spcPct val="108000"/>
              </a:lnSpc>
              <a:spcBef>
                <a:spcPts val="0"/>
              </a:spcBef>
              <a:spcAft>
                <a:spcPts val="0"/>
              </a:spcAft>
              <a:defRPr sz="1800" b="1">
                <a:solidFill>
                  <a:srgbClr val="16324F"/>
                </a:solidFill>
                <a:latin typeface="Calibri"/>
              </a:defRPr>
            </a:pPr>
            <a:r>
              <a:t>Mario Romero</a:t>
            </a:r>
          </a:p>
        </p:txBody>
      </p:sp>
      <p:sp>
        <p:nvSpPr>
          <p:cNvPr id="9" name="TextBox 8"/>
          <p:cNvSpPr txBox="1"/>
          <p:nvPr/>
        </p:nvSpPr>
        <p:spPr>
          <a:xfrm>
            <a:off x="635000" y="4635500"/>
            <a:ext cx="5905500" cy="3429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24394C"/>
                </a:solidFill>
                <a:latin typeface="Calibri"/>
              </a:defRPr>
            </a:pPr>
            <a:r>
              <a:t>Profesor guía: Dr. Juan D. Velásquez</a:t>
            </a:r>
          </a:p>
        </p:txBody>
      </p:sp>
      <p:sp>
        <p:nvSpPr>
          <p:cNvPr id="10" name="TextBox 9"/>
          <p:cNvSpPr txBox="1"/>
          <p:nvPr/>
        </p:nvSpPr>
        <p:spPr>
          <a:xfrm>
            <a:off x="635000" y="5435600"/>
            <a:ext cx="2159000" cy="292100"/>
          </a:xfrm>
          <a:prstGeom prst="rect">
            <a:avLst/>
          </a:prstGeom>
          <a:noFill/>
        </p:spPr>
        <p:txBody>
          <a:bodyPr wrap="square" lIns="0" rIns="0" tIns="0" bIns="0" anchor="ctr">
            <a:spAutoFit/>
          </a:bodyPr>
          <a:lstStyle/>
          <a:p>
            <a:pPr algn="l">
              <a:lnSpc>
                <a:spcPct val="108000"/>
              </a:lnSpc>
              <a:spcBef>
                <a:spcPts val="0"/>
              </a:spcBef>
              <a:spcAft>
                <a:spcPts val="0"/>
              </a:spcAft>
              <a:defRPr sz="1400" b="1">
                <a:solidFill>
                  <a:srgbClr val="08777C"/>
                </a:solidFill>
                <a:latin typeface="Calibri"/>
              </a:defRPr>
            </a:pPr>
            <a:r>
              <a:t>Hallazgo principal</a:t>
            </a:r>
          </a:p>
        </p:txBody>
      </p:sp>
      <p:sp>
        <p:nvSpPr>
          <p:cNvPr id="11" name="TextBox 10"/>
          <p:cNvSpPr txBox="1"/>
          <p:nvPr/>
        </p:nvSpPr>
        <p:spPr>
          <a:xfrm>
            <a:off x="2794000" y="5372100"/>
            <a:ext cx="8763000" cy="596900"/>
          </a:xfrm>
          <a:prstGeom prst="rect">
            <a:avLst/>
          </a:prstGeom>
          <a:noFill/>
        </p:spPr>
        <p:txBody>
          <a:bodyPr wrap="square" lIns="0" rIns="0" tIns="0" bIns="0" anchor="ctr">
            <a:spAutoFit/>
          </a:bodyPr>
          <a:lstStyle/>
          <a:p>
            <a:pPr algn="l">
              <a:lnSpc>
                <a:spcPct val="108000"/>
              </a:lnSpc>
              <a:spcBef>
                <a:spcPts val="0"/>
              </a:spcBef>
              <a:spcAft>
                <a:spcPts val="0"/>
              </a:spcAft>
              <a:defRPr sz="1700" b="0">
                <a:solidFill>
                  <a:srgbClr val="24394C"/>
                </a:solidFill>
                <a:latin typeface="Calibri"/>
              </a:defRPr>
            </a:pPr>
            <a:r>
              <a:t>Ridge supera 12 controles temporales en train; en el test ya consultado queda cerca de 1/k.</a:t>
            </a:r>
          </a:p>
        </p:txBody>
      </p:sp>
      <p:sp>
        <p:nvSpPr>
          <p:cNvPr id="12" name="Rectangle 11"/>
          <p:cNvSpPr/>
          <p:nvPr/>
        </p:nvSpPr>
        <p:spPr>
          <a:xfrm>
            <a:off x="7962900" y="1854200"/>
            <a:ext cx="3581400" cy="2679700"/>
          </a:xfrm>
          <a:prstGeom prst="rect">
            <a:avLst/>
          </a:prstGeom>
          <a:solidFill>
            <a:srgbClr val="EAF1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153400" y="1968500"/>
            <a:ext cx="3162300" cy="330200"/>
          </a:xfrm>
          <a:prstGeom prst="rect">
            <a:avLst/>
          </a:prstGeom>
          <a:noFill/>
        </p:spPr>
        <p:txBody>
          <a:bodyPr wrap="square" lIns="0" rIns="0" tIns="0" bIns="0" anchor="ctr">
            <a:spAutoFit/>
          </a:bodyPr>
          <a:lstStyle/>
          <a:p>
            <a:pPr algn="l">
              <a:lnSpc>
                <a:spcPct val="108000"/>
              </a:lnSpc>
              <a:spcBef>
                <a:spcPts val="0"/>
              </a:spcBef>
              <a:spcAft>
                <a:spcPts val="0"/>
              </a:spcAft>
              <a:defRPr sz="1600" b="1">
                <a:solidFill>
                  <a:srgbClr val="16324F"/>
                </a:solidFill>
                <a:latin typeface="Calibri"/>
              </a:defRPr>
            </a:pPr>
            <a:r>
              <a:t>Una sesión, cuatro señales</a:t>
            </a:r>
          </a:p>
        </p:txBody>
      </p:sp>
      <p:sp>
        <p:nvSpPr>
          <p:cNvPr id="14" name="TextBox 13"/>
          <p:cNvSpPr txBox="1"/>
          <p:nvPr/>
        </p:nvSpPr>
        <p:spPr>
          <a:xfrm>
            <a:off x="8153400" y="2463800"/>
            <a:ext cx="1041400" cy="317500"/>
          </a:xfrm>
          <a:prstGeom prst="rect">
            <a:avLst/>
          </a:prstGeom>
          <a:noFill/>
        </p:spPr>
        <p:txBody>
          <a:bodyPr wrap="square" lIns="0" rIns="0" tIns="0" bIns="0" anchor="ctr">
            <a:spAutoFit/>
          </a:bodyPr>
          <a:lstStyle/>
          <a:p>
            <a:pPr algn="l">
              <a:lnSpc>
                <a:spcPct val="108000"/>
              </a:lnSpc>
              <a:spcBef>
                <a:spcPts val="0"/>
              </a:spcBef>
              <a:spcAft>
                <a:spcPts val="0"/>
              </a:spcAft>
              <a:defRPr sz="1300" b="0">
                <a:solidFill>
                  <a:srgbClr val="596E80"/>
                </a:solidFill>
                <a:latin typeface="Calibri"/>
              </a:defRPr>
            </a:pPr>
            <a:r>
              <a:t>EEG</a:t>
            </a:r>
          </a:p>
        </p:txBody>
      </p:sp>
      <p:cxnSp>
        <p:nvCxnSpPr>
          <p:cNvPr id="15" name="Connector 14"/>
          <p:cNvCxnSpPr/>
          <p:nvPr/>
        </p:nvCxnSpPr>
        <p:spPr>
          <a:xfrm>
            <a:off x="9309100" y="2638569"/>
            <a:ext cx="46264" cy="24911"/>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9355364" y="2663480"/>
            <a:ext cx="46264" cy="14474"/>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a:off x="9401628" y="2677954"/>
            <a:ext cx="46264" cy="794"/>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flipV="1">
            <a:off x="9447892" y="2666309"/>
            <a:ext cx="46265" cy="12439"/>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flipV="1">
            <a:off x="9494157" y="2644645"/>
            <a:ext cx="46264" cy="21664"/>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flipV="1">
            <a:off x="9540421" y="2620198"/>
            <a:ext cx="46264" cy="24447"/>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flipV="1">
            <a:off x="9586685" y="2600068"/>
            <a:ext cx="46265" cy="20130"/>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flipV="1">
            <a:off x="9632950" y="2590042"/>
            <a:ext cx="46264" cy="10026"/>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9679214" y="2590042"/>
            <a:ext cx="46264" cy="2956"/>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9725478" y="2592998"/>
            <a:ext cx="46264" cy="15111"/>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9771742" y="2608109"/>
            <a:ext cx="46265" cy="22962"/>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26" name="Connector 25"/>
          <p:cNvCxnSpPr/>
          <p:nvPr/>
        </p:nvCxnSpPr>
        <p:spPr>
          <a:xfrm>
            <a:off x="9818007" y="2631071"/>
            <a:ext cx="46264" cy="24219"/>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27" name="Connector 26"/>
          <p:cNvCxnSpPr/>
          <p:nvPr/>
        </p:nvCxnSpPr>
        <p:spPr>
          <a:xfrm>
            <a:off x="9864271" y="2655290"/>
            <a:ext cx="46264" cy="18419"/>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9910535" y="2673709"/>
            <a:ext cx="46265" cy="704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29" name="Connector 28"/>
          <p:cNvCxnSpPr/>
          <p:nvPr/>
        </p:nvCxnSpPr>
        <p:spPr>
          <a:xfrm flipV="1">
            <a:off x="9956800" y="2673889"/>
            <a:ext cx="46264" cy="686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30" name="Connector 29"/>
          <p:cNvCxnSpPr/>
          <p:nvPr/>
        </p:nvCxnSpPr>
        <p:spPr>
          <a:xfrm flipV="1">
            <a:off x="10003064" y="2654319"/>
            <a:ext cx="46264" cy="19570"/>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31" name="Connector 30"/>
          <p:cNvCxnSpPr/>
          <p:nvPr/>
        </p:nvCxnSpPr>
        <p:spPr>
          <a:xfrm flipV="1">
            <a:off x="10049328" y="2626681"/>
            <a:ext cx="46264" cy="27638"/>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32" name="Connector 31"/>
          <p:cNvCxnSpPr/>
          <p:nvPr/>
        </p:nvCxnSpPr>
        <p:spPr>
          <a:xfrm flipV="1">
            <a:off x="10095592" y="2597778"/>
            <a:ext cx="46265" cy="28903"/>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flipV="1">
            <a:off x="10141857" y="2574726"/>
            <a:ext cx="46264" cy="23052"/>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flipV="1">
            <a:off x="10188121" y="2563013"/>
            <a:ext cx="46264" cy="11713"/>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a:off x="10234385" y="2563013"/>
            <a:ext cx="46265" cy="1991"/>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10280650" y="2565004"/>
            <a:ext cx="46264" cy="1430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10326914" y="2579309"/>
            <a:ext cx="46264" cy="21880"/>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38" name="Connector 37"/>
          <p:cNvCxnSpPr/>
          <p:nvPr/>
        </p:nvCxnSpPr>
        <p:spPr>
          <a:xfrm>
            <a:off x="10373178" y="2601189"/>
            <a:ext cx="46264" cy="22684"/>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39" name="Connector 38"/>
          <p:cNvCxnSpPr/>
          <p:nvPr/>
        </p:nvCxnSpPr>
        <p:spPr>
          <a:xfrm>
            <a:off x="10419442" y="2623873"/>
            <a:ext cx="46265" cy="16570"/>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40" name="Connector 39"/>
          <p:cNvCxnSpPr/>
          <p:nvPr/>
        </p:nvCxnSpPr>
        <p:spPr>
          <a:xfrm>
            <a:off x="10465707" y="2640443"/>
            <a:ext cx="46264" cy="531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41" name="Connector 40"/>
          <p:cNvCxnSpPr/>
          <p:nvPr/>
        </p:nvCxnSpPr>
        <p:spPr>
          <a:xfrm flipV="1">
            <a:off x="10511971" y="2637875"/>
            <a:ext cx="46264" cy="7883"/>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42" name="Connector 41"/>
          <p:cNvCxnSpPr/>
          <p:nvPr/>
        </p:nvCxnSpPr>
        <p:spPr>
          <a:xfrm flipV="1">
            <a:off x="10558235" y="2618604"/>
            <a:ext cx="46265" cy="19271"/>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43" name="Connector 42"/>
          <p:cNvCxnSpPr/>
          <p:nvPr/>
        </p:nvCxnSpPr>
        <p:spPr>
          <a:xfrm flipV="1">
            <a:off x="10604500" y="2593010"/>
            <a:ext cx="46264" cy="25594"/>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44" name="Connector 43"/>
          <p:cNvCxnSpPr/>
          <p:nvPr/>
        </p:nvCxnSpPr>
        <p:spPr>
          <a:xfrm flipV="1">
            <a:off x="10650764" y="2568028"/>
            <a:ext cx="46264" cy="24982"/>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45" name="Connector 44"/>
          <p:cNvCxnSpPr/>
          <p:nvPr/>
        </p:nvCxnSpPr>
        <p:spPr>
          <a:xfrm flipV="1">
            <a:off x="10697028" y="2550552"/>
            <a:ext cx="46264" cy="17476"/>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46" name="Connector 45"/>
          <p:cNvCxnSpPr/>
          <p:nvPr/>
        </p:nvCxnSpPr>
        <p:spPr>
          <a:xfrm flipV="1">
            <a:off x="10743292" y="2545539"/>
            <a:ext cx="46265" cy="5013"/>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47" name="Connector 46"/>
          <p:cNvCxnSpPr/>
          <p:nvPr/>
        </p:nvCxnSpPr>
        <p:spPr>
          <a:xfrm>
            <a:off x="10789557" y="2545539"/>
            <a:ext cx="46264" cy="9098"/>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48" name="Connector 47"/>
          <p:cNvCxnSpPr/>
          <p:nvPr/>
        </p:nvCxnSpPr>
        <p:spPr>
          <a:xfrm>
            <a:off x="10835821" y="2554637"/>
            <a:ext cx="46264" cy="21089"/>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49" name="Connector 48"/>
          <p:cNvCxnSpPr/>
          <p:nvPr/>
        </p:nvCxnSpPr>
        <p:spPr>
          <a:xfrm>
            <a:off x="10882085" y="2575726"/>
            <a:ext cx="46265" cy="27769"/>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50" name="Connector 49"/>
          <p:cNvCxnSpPr/>
          <p:nvPr/>
        </p:nvCxnSpPr>
        <p:spPr>
          <a:xfrm>
            <a:off x="10928350" y="2603495"/>
            <a:ext cx="46264" cy="27397"/>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51" name="Connector 50"/>
          <p:cNvCxnSpPr/>
          <p:nvPr/>
        </p:nvCxnSpPr>
        <p:spPr>
          <a:xfrm>
            <a:off x="10974614" y="2630892"/>
            <a:ext cx="46264" cy="20161"/>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52" name="Connector 51"/>
          <p:cNvCxnSpPr/>
          <p:nvPr/>
        </p:nvCxnSpPr>
        <p:spPr>
          <a:xfrm>
            <a:off x="11020878" y="2651053"/>
            <a:ext cx="46264" cy="8127"/>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53" name="Connector 52"/>
          <p:cNvCxnSpPr/>
          <p:nvPr/>
        </p:nvCxnSpPr>
        <p:spPr>
          <a:xfrm flipV="1">
            <a:off x="11067142" y="2653845"/>
            <a:ext cx="46265" cy="533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54" name="Connector 53"/>
          <p:cNvCxnSpPr/>
          <p:nvPr/>
        </p:nvCxnSpPr>
        <p:spPr>
          <a:xfrm flipV="1">
            <a:off x="11113407" y="2637362"/>
            <a:ext cx="46264" cy="16483"/>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55" name="Connector 54"/>
          <p:cNvCxnSpPr/>
          <p:nvPr/>
        </p:nvCxnSpPr>
        <p:spPr>
          <a:xfrm flipV="1">
            <a:off x="11159671" y="2615136"/>
            <a:ext cx="46264" cy="22226"/>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56" name="Connector 55"/>
          <p:cNvCxnSpPr/>
          <p:nvPr/>
        </p:nvCxnSpPr>
        <p:spPr>
          <a:xfrm flipV="1">
            <a:off x="11205935" y="2594151"/>
            <a:ext cx="46265" cy="2098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sp>
        <p:nvSpPr>
          <p:cNvPr id="57" name="TextBox 56"/>
          <p:cNvSpPr txBox="1"/>
          <p:nvPr/>
        </p:nvSpPr>
        <p:spPr>
          <a:xfrm>
            <a:off x="8153400" y="2946400"/>
            <a:ext cx="1041400" cy="317500"/>
          </a:xfrm>
          <a:prstGeom prst="rect">
            <a:avLst/>
          </a:prstGeom>
          <a:noFill/>
        </p:spPr>
        <p:txBody>
          <a:bodyPr wrap="square" lIns="0" rIns="0" tIns="0" bIns="0" anchor="ctr">
            <a:spAutoFit/>
          </a:bodyPr>
          <a:lstStyle/>
          <a:p>
            <a:pPr algn="l">
              <a:lnSpc>
                <a:spcPct val="108000"/>
              </a:lnSpc>
              <a:spcBef>
                <a:spcPts val="0"/>
              </a:spcBef>
              <a:spcAft>
                <a:spcPts val="0"/>
              </a:spcAft>
              <a:defRPr sz="1300" b="0">
                <a:solidFill>
                  <a:srgbClr val="596E80"/>
                </a:solidFill>
                <a:latin typeface="Calibri"/>
              </a:defRPr>
            </a:pPr>
            <a:r>
              <a:t>GSR</a:t>
            </a:r>
          </a:p>
        </p:txBody>
      </p:sp>
      <p:cxnSp>
        <p:nvCxnSpPr>
          <p:cNvPr id="58" name="Connector 57"/>
          <p:cNvCxnSpPr/>
          <p:nvPr/>
        </p:nvCxnSpPr>
        <p:spPr>
          <a:xfrm flipV="1">
            <a:off x="9309100" y="3118653"/>
            <a:ext cx="46264" cy="1430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59" name="Connector 58"/>
          <p:cNvCxnSpPr/>
          <p:nvPr/>
        </p:nvCxnSpPr>
        <p:spPr>
          <a:xfrm flipV="1">
            <a:off x="9355364" y="3100791"/>
            <a:ext cx="46264" cy="17862"/>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60" name="Connector 59"/>
          <p:cNvCxnSpPr/>
          <p:nvPr/>
        </p:nvCxnSpPr>
        <p:spPr>
          <a:xfrm flipV="1">
            <a:off x="9401628" y="3084688"/>
            <a:ext cx="46264" cy="16103"/>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61" name="Connector 60"/>
          <p:cNvCxnSpPr/>
          <p:nvPr/>
        </p:nvCxnSpPr>
        <p:spPr>
          <a:xfrm flipV="1">
            <a:off x="9447892" y="3075037"/>
            <a:ext cx="46265" cy="9651"/>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62" name="Connector 61"/>
          <p:cNvCxnSpPr/>
          <p:nvPr/>
        </p:nvCxnSpPr>
        <p:spPr>
          <a:xfrm flipV="1">
            <a:off x="9494157" y="3074403"/>
            <a:ext cx="46264" cy="634"/>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63" name="Connector 62"/>
          <p:cNvCxnSpPr/>
          <p:nvPr/>
        </p:nvCxnSpPr>
        <p:spPr>
          <a:xfrm>
            <a:off x="9540421" y="3074403"/>
            <a:ext cx="46264" cy="8012"/>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64" name="Connector 63"/>
          <p:cNvCxnSpPr/>
          <p:nvPr/>
        </p:nvCxnSpPr>
        <p:spPr>
          <a:xfrm>
            <a:off x="9586685" y="3082415"/>
            <a:ext cx="46265" cy="13478"/>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9632950" y="3095893"/>
            <a:ext cx="46264" cy="13998"/>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a:off x="9679214" y="3109891"/>
            <a:ext cx="46264" cy="9411"/>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67" name="Connector 66"/>
          <p:cNvCxnSpPr/>
          <p:nvPr/>
        </p:nvCxnSpPr>
        <p:spPr>
          <a:xfrm>
            <a:off x="9725478" y="3119302"/>
            <a:ext cx="46264" cy="1222"/>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68" name="Connector 67"/>
          <p:cNvCxnSpPr/>
          <p:nvPr/>
        </p:nvCxnSpPr>
        <p:spPr>
          <a:xfrm flipV="1">
            <a:off x="9771742" y="3112631"/>
            <a:ext cx="46265" cy="7893"/>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69" name="Connector 68"/>
          <p:cNvCxnSpPr/>
          <p:nvPr/>
        </p:nvCxnSpPr>
        <p:spPr>
          <a:xfrm flipV="1">
            <a:off x="9818007" y="3097686"/>
            <a:ext cx="46264" cy="14945"/>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70" name="Connector 69"/>
          <p:cNvCxnSpPr/>
          <p:nvPr/>
        </p:nvCxnSpPr>
        <p:spPr>
          <a:xfrm flipV="1">
            <a:off x="9864271" y="3080084"/>
            <a:ext cx="46264" cy="17602"/>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71" name="Connector 70"/>
          <p:cNvCxnSpPr/>
          <p:nvPr/>
        </p:nvCxnSpPr>
        <p:spPr>
          <a:xfrm flipV="1">
            <a:off x="9910535" y="3065146"/>
            <a:ext cx="46265" cy="14938"/>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72" name="Connector 71"/>
          <p:cNvCxnSpPr/>
          <p:nvPr/>
        </p:nvCxnSpPr>
        <p:spPr>
          <a:xfrm flipV="1">
            <a:off x="9956800" y="3057408"/>
            <a:ext cx="46264" cy="7738"/>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73" name="Connector 72"/>
          <p:cNvCxnSpPr/>
          <p:nvPr/>
        </p:nvCxnSpPr>
        <p:spPr>
          <a:xfrm>
            <a:off x="10003064" y="3057408"/>
            <a:ext cx="46264" cy="1757"/>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74" name="Connector 73"/>
          <p:cNvCxnSpPr/>
          <p:nvPr/>
        </p:nvCxnSpPr>
        <p:spPr>
          <a:xfrm>
            <a:off x="10049328" y="3059165"/>
            <a:ext cx="46264" cy="1056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75" name="Connector 74"/>
          <p:cNvCxnSpPr/>
          <p:nvPr/>
        </p:nvCxnSpPr>
        <p:spPr>
          <a:xfrm>
            <a:off x="10095592" y="3069734"/>
            <a:ext cx="46265" cy="15945"/>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10141857" y="3085679"/>
            <a:ext cx="46264" cy="16237"/>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10188121" y="3101916"/>
            <a:ext cx="46264" cy="11442"/>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10234385" y="3113358"/>
            <a:ext cx="46265" cy="319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flipV="1">
            <a:off x="10280650" y="3110771"/>
            <a:ext cx="46264" cy="5777"/>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80" name="Connector 79"/>
          <p:cNvCxnSpPr/>
          <p:nvPr/>
        </p:nvCxnSpPr>
        <p:spPr>
          <a:xfrm flipV="1">
            <a:off x="10326914" y="3098279"/>
            <a:ext cx="46264" cy="12492"/>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81" name="Connector 80"/>
          <p:cNvCxnSpPr/>
          <p:nvPr/>
        </p:nvCxnSpPr>
        <p:spPr>
          <a:xfrm flipV="1">
            <a:off x="10373178" y="3083552"/>
            <a:ext cx="46264" cy="14727"/>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flipV="1">
            <a:off x="10419442" y="3071848"/>
            <a:ext cx="46265" cy="11704"/>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flipV="1">
            <a:off x="10465707" y="3067488"/>
            <a:ext cx="46264" cy="436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10511971" y="3067488"/>
            <a:ext cx="46264" cy="497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85" name="Connector 84"/>
          <p:cNvCxnSpPr/>
          <p:nvPr/>
        </p:nvCxnSpPr>
        <p:spPr>
          <a:xfrm>
            <a:off x="10558235" y="3072458"/>
            <a:ext cx="46265" cy="1328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86" name="Connector 85"/>
          <p:cNvCxnSpPr/>
          <p:nvPr/>
        </p:nvCxnSpPr>
        <p:spPr>
          <a:xfrm>
            <a:off x="10604500" y="3085747"/>
            <a:ext cx="46264" cy="1792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87" name="Connector 86"/>
          <p:cNvCxnSpPr/>
          <p:nvPr/>
        </p:nvCxnSpPr>
        <p:spPr>
          <a:xfrm>
            <a:off x="10650764" y="3103667"/>
            <a:ext cx="46264" cy="17356"/>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88" name="Connector 87"/>
          <p:cNvCxnSpPr/>
          <p:nvPr/>
        </p:nvCxnSpPr>
        <p:spPr>
          <a:xfrm>
            <a:off x="10697028" y="3121023"/>
            <a:ext cx="46264" cy="1176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89" name="Connector 88"/>
          <p:cNvCxnSpPr/>
          <p:nvPr/>
        </p:nvCxnSpPr>
        <p:spPr>
          <a:xfrm>
            <a:off x="10743292" y="3132783"/>
            <a:ext cx="46265" cy="290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90" name="Connector 89"/>
          <p:cNvCxnSpPr/>
          <p:nvPr/>
        </p:nvCxnSpPr>
        <p:spPr>
          <a:xfrm flipV="1">
            <a:off x="10789557" y="3129272"/>
            <a:ext cx="46264" cy="6411"/>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91" name="Connector 90"/>
          <p:cNvCxnSpPr/>
          <p:nvPr/>
        </p:nvCxnSpPr>
        <p:spPr>
          <a:xfrm flipV="1">
            <a:off x="10835821" y="3116044"/>
            <a:ext cx="46264" cy="13228"/>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92" name="Connector 91"/>
          <p:cNvCxnSpPr/>
          <p:nvPr/>
        </p:nvCxnSpPr>
        <p:spPr>
          <a:xfrm flipV="1">
            <a:off x="10882085" y="3100627"/>
            <a:ext cx="46265" cy="15417"/>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93" name="Connector 92"/>
          <p:cNvCxnSpPr/>
          <p:nvPr/>
        </p:nvCxnSpPr>
        <p:spPr>
          <a:xfrm flipV="1">
            <a:off x="10928350" y="3088279"/>
            <a:ext cx="46264" cy="12348"/>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94" name="Connector 93"/>
          <p:cNvCxnSpPr/>
          <p:nvPr/>
        </p:nvCxnSpPr>
        <p:spPr>
          <a:xfrm flipV="1">
            <a:off x="10974614" y="3083186"/>
            <a:ext cx="46264" cy="5093"/>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11020878" y="3083186"/>
            <a:ext cx="46264" cy="3921"/>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a:off x="11067142" y="3087107"/>
            <a:ext cx="46265" cy="11696"/>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97" name="Connector 96"/>
          <p:cNvCxnSpPr/>
          <p:nvPr/>
        </p:nvCxnSpPr>
        <p:spPr>
          <a:xfrm>
            <a:off x="11113407" y="3098803"/>
            <a:ext cx="46264" cy="15636"/>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98" name="Connector 97"/>
          <p:cNvCxnSpPr/>
          <p:nvPr/>
        </p:nvCxnSpPr>
        <p:spPr>
          <a:xfrm>
            <a:off x="11159671" y="3114439"/>
            <a:ext cx="46264" cy="1437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99" name="Connector 98"/>
          <p:cNvCxnSpPr/>
          <p:nvPr/>
        </p:nvCxnSpPr>
        <p:spPr>
          <a:xfrm>
            <a:off x="11205935" y="3128818"/>
            <a:ext cx="46265" cy="8248"/>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sp>
        <p:nvSpPr>
          <p:cNvPr id="100" name="TextBox 99"/>
          <p:cNvSpPr txBox="1"/>
          <p:nvPr/>
        </p:nvSpPr>
        <p:spPr>
          <a:xfrm>
            <a:off x="8153400" y="3429000"/>
            <a:ext cx="1041400" cy="317500"/>
          </a:xfrm>
          <a:prstGeom prst="rect">
            <a:avLst/>
          </a:prstGeom>
          <a:noFill/>
        </p:spPr>
        <p:txBody>
          <a:bodyPr wrap="square" lIns="0" rIns="0" tIns="0" bIns="0" anchor="ctr">
            <a:spAutoFit/>
          </a:bodyPr>
          <a:lstStyle/>
          <a:p>
            <a:pPr algn="l">
              <a:lnSpc>
                <a:spcPct val="108000"/>
              </a:lnSpc>
              <a:spcBef>
                <a:spcPts val="0"/>
              </a:spcBef>
              <a:spcAft>
                <a:spcPts val="0"/>
              </a:spcAft>
              <a:defRPr sz="1300" b="0">
                <a:solidFill>
                  <a:srgbClr val="596E80"/>
                </a:solidFill>
                <a:latin typeface="Calibri"/>
              </a:defRPr>
            </a:pPr>
            <a:r>
              <a:t>Mirada</a:t>
            </a:r>
          </a:p>
        </p:txBody>
      </p:sp>
      <p:cxnSp>
        <p:nvCxnSpPr>
          <p:cNvPr id="101" name="Connector 100"/>
          <p:cNvCxnSpPr/>
          <p:nvPr/>
        </p:nvCxnSpPr>
        <p:spPr>
          <a:xfrm>
            <a:off x="9309100" y="3633035"/>
            <a:ext cx="46264" cy="1366"/>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02" name="Connector 101"/>
          <p:cNvCxnSpPr/>
          <p:nvPr/>
        </p:nvCxnSpPr>
        <p:spPr>
          <a:xfrm flipV="1">
            <a:off x="9355364" y="3624613"/>
            <a:ext cx="46264" cy="9788"/>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03" name="Connector 102"/>
          <p:cNvCxnSpPr/>
          <p:nvPr/>
        </p:nvCxnSpPr>
        <p:spPr>
          <a:xfrm flipV="1">
            <a:off x="9401628" y="3606655"/>
            <a:ext cx="46264" cy="17958"/>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04" name="Connector 103"/>
          <p:cNvCxnSpPr/>
          <p:nvPr/>
        </p:nvCxnSpPr>
        <p:spPr>
          <a:xfrm flipV="1">
            <a:off x="9447892" y="3585850"/>
            <a:ext cx="46265" cy="2080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05" name="Connector 104"/>
          <p:cNvCxnSpPr/>
          <p:nvPr/>
        </p:nvCxnSpPr>
        <p:spPr>
          <a:xfrm flipV="1">
            <a:off x="9494157" y="3568263"/>
            <a:ext cx="46264" cy="17587"/>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06" name="Connector 105"/>
          <p:cNvCxnSpPr/>
          <p:nvPr/>
        </p:nvCxnSpPr>
        <p:spPr>
          <a:xfrm flipV="1">
            <a:off x="9540421" y="3558897"/>
            <a:ext cx="46264" cy="9366"/>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07" name="Connector 106"/>
          <p:cNvCxnSpPr/>
          <p:nvPr/>
        </p:nvCxnSpPr>
        <p:spPr>
          <a:xfrm>
            <a:off x="9586685" y="3558897"/>
            <a:ext cx="46265" cy="1308"/>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08" name="Connector 107"/>
          <p:cNvCxnSpPr/>
          <p:nvPr/>
        </p:nvCxnSpPr>
        <p:spPr>
          <a:xfrm>
            <a:off x="9632950" y="3560205"/>
            <a:ext cx="46264" cy="11158"/>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09" name="Connector 108"/>
          <p:cNvCxnSpPr/>
          <p:nvPr/>
        </p:nvCxnSpPr>
        <p:spPr>
          <a:xfrm>
            <a:off x="9679214" y="3571363"/>
            <a:ext cx="46264" cy="17164"/>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10" name="Connector 109"/>
          <p:cNvCxnSpPr/>
          <p:nvPr/>
        </p:nvCxnSpPr>
        <p:spPr>
          <a:xfrm>
            <a:off x="9725478" y="3588527"/>
            <a:ext cx="46264" cy="1746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11" name="Connector 110"/>
          <p:cNvCxnSpPr/>
          <p:nvPr/>
        </p:nvCxnSpPr>
        <p:spPr>
          <a:xfrm>
            <a:off x="9771742" y="3605992"/>
            <a:ext cx="46265" cy="11917"/>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12" name="Connector 111"/>
          <p:cNvCxnSpPr/>
          <p:nvPr/>
        </p:nvCxnSpPr>
        <p:spPr>
          <a:xfrm>
            <a:off x="9818007" y="3617909"/>
            <a:ext cx="46264" cy="2137"/>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13" name="Connector 112"/>
          <p:cNvCxnSpPr/>
          <p:nvPr/>
        </p:nvCxnSpPr>
        <p:spPr>
          <a:xfrm flipV="1">
            <a:off x="9864271" y="3611067"/>
            <a:ext cx="46264" cy="8979"/>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14" name="Connector 113"/>
          <p:cNvCxnSpPr/>
          <p:nvPr/>
        </p:nvCxnSpPr>
        <p:spPr>
          <a:xfrm flipV="1">
            <a:off x="9910535" y="3592944"/>
            <a:ext cx="46265" cy="18123"/>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15" name="Connector 114"/>
          <p:cNvCxnSpPr/>
          <p:nvPr/>
        </p:nvCxnSpPr>
        <p:spPr>
          <a:xfrm flipV="1">
            <a:off x="9956800" y="3570389"/>
            <a:ext cx="46264" cy="2255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16" name="Connector 115"/>
          <p:cNvCxnSpPr/>
          <p:nvPr/>
        </p:nvCxnSpPr>
        <p:spPr>
          <a:xfrm flipV="1">
            <a:off x="10003064" y="3549457"/>
            <a:ext cx="46264" cy="20932"/>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17" name="Connector 116"/>
          <p:cNvCxnSpPr/>
          <p:nvPr/>
        </p:nvCxnSpPr>
        <p:spPr>
          <a:xfrm flipV="1">
            <a:off x="10049328" y="3535758"/>
            <a:ext cx="46264" cy="13699"/>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18" name="Connector 117"/>
          <p:cNvCxnSpPr/>
          <p:nvPr/>
        </p:nvCxnSpPr>
        <p:spPr>
          <a:xfrm flipV="1">
            <a:off x="10095592" y="3532791"/>
            <a:ext cx="46265" cy="2967"/>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19" name="Connector 118"/>
          <p:cNvCxnSpPr/>
          <p:nvPr/>
        </p:nvCxnSpPr>
        <p:spPr>
          <a:xfrm>
            <a:off x="10141857" y="3532791"/>
            <a:ext cx="46264" cy="8126"/>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20" name="Connector 119"/>
          <p:cNvCxnSpPr/>
          <p:nvPr/>
        </p:nvCxnSpPr>
        <p:spPr>
          <a:xfrm>
            <a:off x="10188121" y="3540917"/>
            <a:ext cx="46264" cy="16341"/>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21" name="Connector 120"/>
          <p:cNvCxnSpPr/>
          <p:nvPr/>
        </p:nvCxnSpPr>
        <p:spPr>
          <a:xfrm>
            <a:off x="10234385" y="3557258"/>
            <a:ext cx="46265" cy="1931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22" name="Connector 121"/>
          <p:cNvCxnSpPr/>
          <p:nvPr/>
        </p:nvCxnSpPr>
        <p:spPr>
          <a:xfrm>
            <a:off x="10280650" y="3576573"/>
            <a:ext cx="46264" cy="16250"/>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23" name="Connector 122"/>
          <p:cNvCxnSpPr/>
          <p:nvPr/>
        </p:nvCxnSpPr>
        <p:spPr>
          <a:xfrm>
            <a:off x="10326914" y="3592823"/>
            <a:ext cx="46264" cy="8166"/>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24" name="Connector 123"/>
          <p:cNvCxnSpPr/>
          <p:nvPr/>
        </p:nvCxnSpPr>
        <p:spPr>
          <a:xfrm flipV="1">
            <a:off x="10373178" y="3598568"/>
            <a:ext cx="46264" cy="2421"/>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25" name="Connector 124"/>
          <p:cNvCxnSpPr/>
          <p:nvPr/>
        </p:nvCxnSpPr>
        <p:spPr>
          <a:xfrm flipV="1">
            <a:off x="10419442" y="3586325"/>
            <a:ext cx="46265" cy="12243"/>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26" name="Connector 125"/>
          <p:cNvCxnSpPr/>
          <p:nvPr/>
        </p:nvCxnSpPr>
        <p:spPr>
          <a:xfrm flipV="1">
            <a:off x="10465707" y="3568064"/>
            <a:ext cx="46264" cy="18261"/>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27" name="Connector 126"/>
          <p:cNvCxnSpPr/>
          <p:nvPr/>
        </p:nvCxnSpPr>
        <p:spPr>
          <a:xfrm flipV="1">
            <a:off x="10511971" y="3549488"/>
            <a:ext cx="46264" cy="18576"/>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28" name="Connector 127"/>
          <p:cNvCxnSpPr/>
          <p:nvPr/>
        </p:nvCxnSpPr>
        <p:spPr>
          <a:xfrm flipV="1">
            <a:off x="10558235" y="3536488"/>
            <a:ext cx="46265" cy="13000"/>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29" name="Connector 128"/>
          <p:cNvCxnSpPr/>
          <p:nvPr/>
        </p:nvCxnSpPr>
        <p:spPr>
          <a:xfrm flipV="1">
            <a:off x="10604500" y="3533380"/>
            <a:ext cx="46264" cy="3108"/>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30" name="Connector 129"/>
          <p:cNvCxnSpPr/>
          <p:nvPr/>
        </p:nvCxnSpPr>
        <p:spPr>
          <a:xfrm>
            <a:off x="10650764" y="3533380"/>
            <a:ext cx="46264" cy="8224"/>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31" name="Connector 130"/>
          <p:cNvCxnSpPr/>
          <p:nvPr/>
        </p:nvCxnSpPr>
        <p:spPr>
          <a:xfrm>
            <a:off x="10697028" y="3541604"/>
            <a:ext cx="46264" cy="17678"/>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32" name="Connector 131"/>
          <p:cNvCxnSpPr/>
          <p:nvPr/>
        </p:nvCxnSpPr>
        <p:spPr>
          <a:xfrm>
            <a:off x="10743292" y="3559282"/>
            <a:ext cx="46265" cy="22488"/>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33" name="Connector 132"/>
          <p:cNvCxnSpPr/>
          <p:nvPr/>
        </p:nvCxnSpPr>
        <p:spPr>
          <a:xfrm>
            <a:off x="10789557" y="3581770"/>
            <a:ext cx="46264" cy="21254"/>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34" name="Connector 133"/>
          <p:cNvCxnSpPr/>
          <p:nvPr/>
        </p:nvCxnSpPr>
        <p:spPr>
          <a:xfrm>
            <a:off x="10835821" y="3603024"/>
            <a:ext cx="46264" cy="14371"/>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35" name="Connector 134"/>
          <p:cNvCxnSpPr/>
          <p:nvPr/>
        </p:nvCxnSpPr>
        <p:spPr>
          <a:xfrm>
            <a:off x="10882085" y="3617395"/>
            <a:ext cx="46265" cy="3905"/>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36" name="Connector 135"/>
          <p:cNvCxnSpPr/>
          <p:nvPr/>
        </p:nvCxnSpPr>
        <p:spPr>
          <a:xfrm flipV="1">
            <a:off x="10928350" y="3614274"/>
            <a:ext cx="46264" cy="7026"/>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37" name="Connector 136"/>
          <p:cNvCxnSpPr/>
          <p:nvPr/>
        </p:nvCxnSpPr>
        <p:spPr>
          <a:xfrm flipV="1">
            <a:off x="10974614" y="3599095"/>
            <a:ext cx="46264" cy="15179"/>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38" name="Connector 137"/>
          <p:cNvCxnSpPr/>
          <p:nvPr/>
        </p:nvCxnSpPr>
        <p:spPr>
          <a:xfrm flipV="1">
            <a:off x="11020878" y="3580938"/>
            <a:ext cx="46264" cy="18157"/>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39" name="Connector 138"/>
          <p:cNvCxnSpPr/>
          <p:nvPr/>
        </p:nvCxnSpPr>
        <p:spPr>
          <a:xfrm flipV="1">
            <a:off x="11067142" y="3565817"/>
            <a:ext cx="46265" cy="15121"/>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40" name="Connector 139"/>
          <p:cNvCxnSpPr/>
          <p:nvPr/>
        </p:nvCxnSpPr>
        <p:spPr>
          <a:xfrm flipV="1">
            <a:off x="11113407" y="3558774"/>
            <a:ext cx="46264" cy="7043"/>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41" name="Connector 140"/>
          <p:cNvCxnSpPr/>
          <p:nvPr/>
        </p:nvCxnSpPr>
        <p:spPr>
          <a:xfrm>
            <a:off x="11159671" y="3558774"/>
            <a:ext cx="46264" cy="3587"/>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cxnSp>
        <p:nvCxnSpPr>
          <p:cNvPr id="142" name="Connector 141"/>
          <p:cNvCxnSpPr/>
          <p:nvPr/>
        </p:nvCxnSpPr>
        <p:spPr>
          <a:xfrm>
            <a:off x="11205935" y="3562361"/>
            <a:ext cx="46265" cy="13510"/>
          </a:xfrm>
          <a:prstGeom prst="line">
            <a:avLst/>
          </a:prstGeom>
          <a:ln w="15240">
            <a:solidFill>
              <a:srgbClr val="1C5D99"/>
            </a:solidFill>
          </a:ln>
        </p:spPr>
        <p:style>
          <a:lnRef idx="2">
            <a:schemeClr val="accent1"/>
          </a:lnRef>
          <a:fillRef idx="0">
            <a:schemeClr val="accent1"/>
          </a:fillRef>
          <a:effectRef idx="0">
            <a:schemeClr val="accent1"/>
          </a:effectRef>
          <a:fontRef idx="minor">
            <a:schemeClr val="tx1"/>
          </a:fontRef>
        </p:style>
      </p:cxnSp>
      <p:sp>
        <p:nvSpPr>
          <p:cNvPr id="143" name="TextBox 142"/>
          <p:cNvSpPr txBox="1"/>
          <p:nvPr/>
        </p:nvSpPr>
        <p:spPr>
          <a:xfrm>
            <a:off x="8153400" y="3911600"/>
            <a:ext cx="1041400" cy="317500"/>
          </a:xfrm>
          <a:prstGeom prst="rect">
            <a:avLst/>
          </a:prstGeom>
          <a:noFill/>
        </p:spPr>
        <p:txBody>
          <a:bodyPr wrap="square" lIns="0" rIns="0" tIns="0" bIns="0" anchor="ctr">
            <a:spAutoFit/>
          </a:bodyPr>
          <a:lstStyle/>
          <a:p>
            <a:pPr algn="l">
              <a:lnSpc>
                <a:spcPct val="108000"/>
              </a:lnSpc>
              <a:spcBef>
                <a:spcPts val="0"/>
              </a:spcBef>
              <a:spcAft>
                <a:spcPts val="0"/>
              </a:spcAft>
              <a:defRPr sz="1300" b="0">
                <a:solidFill>
                  <a:srgbClr val="596E80"/>
                </a:solidFill>
                <a:latin typeface="Calibri"/>
              </a:defRPr>
            </a:pPr>
            <a:r>
              <a:t>Pupila</a:t>
            </a:r>
          </a:p>
        </p:txBody>
      </p:sp>
      <p:cxnSp>
        <p:nvCxnSpPr>
          <p:cNvPr id="144" name="Connector 143"/>
          <p:cNvCxnSpPr/>
          <p:nvPr/>
        </p:nvCxnSpPr>
        <p:spPr>
          <a:xfrm flipV="1">
            <a:off x="9309100" y="4032542"/>
            <a:ext cx="46264" cy="10183"/>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45" name="Connector 144"/>
          <p:cNvCxnSpPr/>
          <p:nvPr/>
        </p:nvCxnSpPr>
        <p:spPr>
          <a:xfrm flipV="1">
            <a:off x="9355364" y="4031083"/>
            <a:ext cx="46264" cy="145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46" name="Connector 145"/>
          <p:cNvCxnSpPr/>
          <p:nvPr/>
        </p:nvCxnSpPr>
        <p:spPr>
          <a:xfrm>
            <a:off x="9401628" y="4031083"/>
            <a:ext cx="46264" cy="7411"/>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47" name="Connector 146"/>
          <p:cNvCxnSpPr/>
          <p:nvPr/>
        </p:nvCxnSpPr>
        <p:spPr>
          <a:xfrm>
            <a:off x="9447892" y="4038494"/>
            <a:ext cx="46265" cy="13264"/>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48" name="Connector 147"/>
          <p:cNvCxnSpPr/>
          <p:nvPr/>
        </p:nvCxnSpPr>
        <p:spPr>
          <a:xfrm>
            <a:off x="9494157" y="4051758"/>
            <a:ext cx="46264" cy="14046"/>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49" name="Connector 148"/>
          <p:cNvCxnSpPr/>
          <p:nvPr/>
        </p:nvCxnSpPr>
        <p:spPr>
          <a:xfrm>
            <a:off x="9540421" y="4065804"/>
            <a:ext cx="46264" cy="954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50" name="Connector 149"/>
          <p:cNvCxnSpPr/>
          <p:nvPr/>
        </p:nvCxnSpPr>
        <p:spPr>
          <a:xfrm>
            <a:off x="9586685" y="4075353"/>
            <a:ext cx="46265" cy="1503"/>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51" name="Connector 150"/>
          <p:cNvCxnSpPr/>
          <p:nvPr/>
        </p:nvCxnSpPr>
        <p:spPr>
          <a:xfrm flipV="1">
            <a:off x="9632950" y="4069782"/>
            <a:ext cx="46264" cy="7074"/>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52" name="Connector 151"/>
          <p:cNvCxnSpPr/>
          <p:nvPr/>
        </p:nvCxnSpPr>
        <p:spPr>
          <a:xfrm flipV="1">
            <a:off x="9679214" y="4056814"/>
            <a:ext cx="46264" cy="12968"/>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53" name="Connector 152"/>
          <p:cNvCxnSpPr/>
          <p:nvPr/>
        </p:nvCxnSpPr>
        <p:spPr>
          <a:xfrm flipV="1">
            <a:off x="9725478" y="4042868"/>
            <a:ext cx="46264" cy="13946"/>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54" name="Connector 153"/>
          <p:cNvCxnSpPr/>
          <p:nvPr/>
        </p:nvCxnSpPr>
        <p:spPr>
          <a:xfrm flipV="1">
            <a:off x="9771742" y="4033299"/>
            <a:ext cx="46265" cy="956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55" name="Connector 154"/>
          <p:cNvCxnSpPr/>
          <p:nvPr/>
        </p:nvCxnSpPr>
        <p:spPr>
          <a:xfrm flipV="1">
            <a:off x="9818007" y="4031938"/>
            <a:ext cx="46264" cy="1361"/>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56" name="Connector 155"/>
          <p:cNvCxnSpPr/>
          <p:nvPr/>
        </p:nvCxnSpPr>
        <p:spPr>
          <a:xfrm>
            <a:off x="9864271" y="4031938"/>
            <a:ext cx="46264" cy="7754"/>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57" name="Connector 156"/>
          <p:cNvCxnSpPr/>
          <p:nvPr/>
        </p:nvCxnSpPr>
        <p:spPr>
          <a:xfrm>
            <a:off x="9910535" y="4039692"/>
            <a:ext cx="46265" cy="1451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58" name="Connector 157"/>
          <p:cNvCxnSpPr/>
          <p:nvPr/>
        </p:nvCxnSpPr>
        <p:spPr>
          <a:xfrm>
            <a:off x="9956800" y="4054202"/>
            <a:ext cx="46264" cy="1649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59" name="Connector 158"/>
          <p:cNvCxnSpPr/>
          <p:nvPr/>
        </p:nvCxnSpPr>
        <p:spPr>
          <a:xfrm>
            <a:off x="10003064" y="4070692"/>
            <a:ext cx="46264" cy="1301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60" name="Connector 159"/>
          <p:cNvCxnSpPr/>
          <p:nvPr/>
        </p:nvCxnSpPr>
        <p:spPr>
          <a:xfrm>
            <a:off x="10049328" y="4083702"/>
            <a:ext cx="46264" cy="536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61" name="Connector 160"/>
          <p:cNvCxnSpPr/>
          <p:nvPr/>
        </p:nvCxnSpPr>
        <p:spPr>
          <a:xfrm flipV="1">
            <a:off x="10095592" y="4085402"/>
            <a:ext cx="46265" cy="366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62" name="Connector 161"/>
          <p:cNvCxnSpPr/>
          <p:nvPr/>
        </p:nvCxnSpPr>
        <p:spPr>
          <a:xfrm flipV="1">
            <a:off x="10141857" y="4074639"/>
            <a:ext cx="46264" cy="10763"/>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63" name="Connector 162"/>
          <p:cNvCxnSpPr/>
          <p:nvPr/>
        </p:nvCxnSpPr>
        <p:spPr>
          <a:xfrm flipV="1">
            <a:off x="10188121" y="4061260"/>
            <a:ext cx="46264" cy="1337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64" name="Connector 163"/>
          <p:cNvCxnSpPr/>
          <p:nvPr/>
        </p:nvCxnSpPr>
        <p:spPr>
          <a:xfrm flipV="1">
            <a:off x="10234385" y="4050683"/>
            <a:ext cx="46265" cy="10577"/>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65" name="Connector 164"/>
          <p:cNvCxnSpPr/>
          <p:nvPr/>
        </p:nvCxnSpPr>
        <p:spPr>
          <a:xfrm flipV="1">
            <a:off x="10280650" y="4047259"/>
            <a:ext cx="46264" cy="3424"/>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66" name="Connector 165"/>
          <p:cNvCxnSpPr/>
          <p:nvPr/>
        </p:nvCxnSpPr>
        <p:spPr>
          <a:xfrm>
            <a:off x="10326914" y="4047259"/>
            <a:ext cx="46264" cy="5424"/>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67" name="Connector 166"/>
          <p:cNvCxnSpPr/>
          <p:nvPr/>
        </p:nvCxnSpPr>
        <p:spPr>
          <a:xfrm>
            <a:off x="10373178" y="4052683"/>
            <a:ext cx="46264" cy="12680"/>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68" name="Connector 167"/>
          <p:cNvCxnSpPr/>
          <p:nvPr/>
        </p:nvCxnSpPr>
        <p:spPr>
          <a:xfrm>
            <a:off x="10419442" y="4065363"/>
            <a:ext cx="46265" cy="15627"/>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69" name="Connector 168"/>
          <p:cNvCxnSpPr/>
          <p:nvPr/>
        </p:nvCxnSpPr>
        <p:spPr>
          <a:xfrm>
            <a:off x="10465707" y="4080990"/>
            <a:ext cx="46264" cy="13116"/>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70" name="Connector 169"/>
          <p:cNvCxnSpPr/>
          <p:nvPr/>
        </p:nvCxnSpPr>
        <p:spPr>
          <a:xfrm>
            <a:off x="10511971" y="4094106"/>
            <a:ext cx="46264" cy="5977"/>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71" name="Connector 170"/>
          <p:cNvCxnSpPr/>
          <p:nvPr/>
        </p:nvCxnSpPr>
        <p:spPr>
          <a:xfrm flipV="1">
            <a:off x="10558235" y="4096814"/>
            <a:ext cx="46265" cy="326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72" name="Connector 171"/>
          <p:cNvCxnSpPr/>
          <p:nvPr/>
        </p:nvCxnSpPr>
        <p:spPr>
          <a:xfrm flipV="1">
            <a:off x="10604500" y="4085472"/>
            <a:ext cx="46264" cy="11342"/>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73" name="Connector 172"/>
          <p:cNvCxnSpPr/>
          <p:nvPr/>
        </p:nvCxnSpPr>
        <p:spPr>
          <a:xfrm flipV="1">
            <a:off x="10650764" y="4070088"/>
            <a:ext cx="46264" cy="15384"/>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74" name="Connector 173"/>
          <p:cNvCxnSpPr/>
          <p:nvPr/>
        </p:nvCxnSpPr>
        <p:spPr>
          <a:xfrm flipV="1">
            <a:off x="10697028" y="4056081"/>
            <a:ext cx="46264" cy="14007"/>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75" name="Connector 174"/>
          <p:cNvCxnSpPr/>
          <p:nvPr/>
        </p:nvCxnSpPr>
        <p:spPr>
          <a:xfrm flipV="1">
            <a:off x="10743292" y="4048288"/>
            <a:ext cx="46265" cy="7793"/>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76" name="Connector 175"/>
          <p:cNvCxnSpPr/>
          <p:nvPr/>
        </p:nvCxnSpPr>
        <p:spPr>
          <a:xfrm>
            <a:off x="10789557" y="4048288"/>
            <a:ext cx="46264" cy="91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77" name="Connector 176"/>
          <p:cNvCxnSpPr/>
          <p:nvPr/>
        </p:nvCxnSpPr>
        <p:spPr>
          <a:xfrm>
            <a:off x="10835821" y="4049207"/>
            <a:ext cx="46264" cy="8886"/>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78" name="Connector 177"/>
          <p:cNvCxnSpPr/>
          <p:nvPr/>
        </p:nvCxnSpPr>
        <p:spPr>
          <a:xfrm>
            <a:off x="10882085" y="4058093"/>
            <a:ext cx="46265" cy="13144"/>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79" name="Connector 178"/>
          <p:cNvCxnSpPr/>
          <p:nvPr/>
        </p:nvCxnSpPr>
        <p:spPr>
          <a:xfrm>
            <a:off x="10928350" y="4071237"/>
            <a:ext cx="46264" cy="12097"/>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80" name="Connector 179"/>
          <p:cNvCxnSpPr/>
          <p:nvPr/>
        </p:nvCxnSpPr>
        <p:spPr>
          <a:xfrm>
            <a:off x="10974614" y="4083334"/>
            <a:ext cx="46264" cy="608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81" name="Connector 180"/>
          <p:cNvCxnSpPr/>
          <p:nvPr/>
        </p:nvCxnSpPr>
        <p:spPr>
          <a:xfrm flipV="1">
            <a:off x="11020878" y="4086711"/>
            <a:ext cx="46264" cy="2712"/>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82" name="Connector 181"/>
          <p:cNvCxnSpPr/>
          <p:nvPr/>
        </p:nvCxnSpPr>
        <p:spPr>
          <a:xfrm flipV="1">
            <a:off x="11067142" y="4075602"/>
            <a:ext cx="46265" cy="11109"/>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83" name="Connector 182"/>
          <p:cNvCxnSpPr/>
          <p:nvPr/>
        </p:nvCxnSpPr>
        <p:spPr>
          <a:xfrm flipV="1">
            <a:off x="11113407" y="4059564"/>
            <a:ext cx="46264" cy="16038"/>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84" name="Connector 183"/>
          <p:cNvCxnSpPr/>
          <p:nvPr/>
        </p:nvCxnSpPr>
        <p:spPr>
          <a:xfrm flipV="1">
            <a:off x="11159671" y="4043880"/>
            <a:ext cx="46264" cy="15684"/>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cxnSp>
        <p:nvCxnSpPr>
          <p:cNvPr id="185" name="Connector 184"/>
          <p:cNvCxnSpPr/>
          <p:nvPr/>
        </p:nvCxnSpPr>
        <p:spPr>
          <a:xfrm flipV="1">
            <a:off x="11205935" y="4033728"/>
            <a:ext cx="46265" cy="10152"/>
          </a:xfrm>
          <a:prstGeom prst="line">
            <a:avLst/>
          </a:prstGeom>
          <a:ln w="15240">
            <a:solidFill>
              <a:srgbClr val="08777C"/>
            </a:solidFill>
          </a:ln>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254000"/>
            <a:ext cx="10160000" cy="292100"/>
          </a:xfrm>
          <a:prstGeom prst="rect">
            <a:avLst/>
          </a:prstGeom>
          <a:noFill/>
        </p:spPr>
        <p:txBody>
          <a:bodyPr wrap="square" lIns="0" rIns="0" tIns="0" bIns="0" anchor="ctr">
            <a:spAutoFit/>
          </a:bodyPr>
          <a:lstStyle/>
          <a:p>
            <a:pPr algn="l">
              <a:lnSpc>
                <a:spcPct val="108000"/>
              </a:lnSpc>
              <a:spcBef>
                <a:spcPts val="0"/>
              </a:spcBef>
              <a:spcAft>
                <a:spcPts val="0"/>
              </a:spcAft>
              <a:defRPr sz="1100" b="0">
                <a:solidFill>
                  <a:srgbClr val="596E80"/>
                </a:solidFill>
                <a:latin typeface="Calibri"/>
              </a:defRPr>
            </a:pPr>
            <a:r>
              <a:t>Diseño del estudio · Toma de Muestra 2</a:t>
            </a:r>
          </a:p>
        </p:txBody>
      </p:sp>
      <p:sp>
        <p:nvSpPr>
          <p:cNvPr id="3" name="TextBox 2"/>
          <p:cNvSpPr txBox="1"/>
          <p:nvPr/>
        </p:nvSpPr>
        <p:spPr>
          <a:xfrm>
            <a:off x="635000" y="698500"/>
            <a:ext cx="10922000" cy="838200"/>
          </a:xfrm>
          <a:prstGeom prst="rect">
            <a:avLst/>
          </a:prstGeom>
          <a:noFill/>
        </p:spPr>
        <p:txBody>
          <a:bodyPr wrap="square" lIns="0" rIns="0" tIns="0" bIns="0" anchor="ctr">
            <a:spAutoFit/>
          </a:bodyPr>
          <a:lstStyle/>
          <a:p>
            <a:pPr algn="l">
              <a:lnSpc>
                <a:spcPct val="108000"/>
              </a:lnSpc>
              <a:spcBef>
                <a:spcPts val="0"/>
              </a:spcBef>
              <a:spcAft>
                <a:spcPts val="0"/>
              </a:spcAft>
              <a:defRPr sz="3000" b="0">
                <a:solidFill>
                  <a:srgbClr val="16324F"/>
                </a:solidFill>
                <a:latin typeface="Cambria"/>
              </a:defRPr>
            </a:pPr>
            <a:r>
              <a:t>Qué señal crea la etiqueta y cuáles la predicen</a:t>
            </a:r>
          </a:p>
        </p:txBody>
      </p:sp>
      <p:sp>
        <p:nvSpPr>
          <p:cNvPr id="4" name="Rectangle 3"/>
          <p:cNvSpPr/>
          <p:nvPr/>
        </p:nvSpPr>
        <p:spPr>
          <a:xfrm>
            <a:off x="635000" y="61468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35000" y="6235700"/>
            <a:ext cx="10261600" cy="419100"/>
          </a:xfrm>
          <a:prstGeom prst="rect">
            <a:avLst/>
          </a:prstGeom>
          <a:noFill/>
        </p:spPr>
        <p:txBody>
          <a:bodyPr wrap="square" lIns="0" rIns="0" tIns="0" bIns="0" anchor="ctr">
            <a:spAutoFit/>
          </a:bodyPr>
          <a:lstStyle/>
          <a:p>
            <a:pPr algn="l">
              <a:lnSpc>
                <a:spcPct val="108000"/>
              </a:lnSpc>
              <a:spcBef>
                <a:spcPts val="0"/>
              </a:spcBef>
              <a:spcAft>
                <a:spcPts val="0"/>
              </a:spcAft>
              <a:defRPr sz="900" b="0">
                <a:solidFill>
                  <a:srgbClr val="596E80"/>
                </a:solidFill>
                <a:latin typeface="Calibri"/>
              </a:defRPr>
            </a:pPr>
            <a:r>
              <a:t>Fuente: metodología del manuscrito; Evaluacion_Independiente_y_Validez_24-10-2026.md.</a:t>
            </a:r>
          </a:p>
        </p:txBody>
      </p:sp>
      <p:sp>
        <p:nvSpPr>
          <p:cNvPr id="6" name="TextBox 5"/>
          <p:cNvSpPr txBox="1"/>
          <p:nvPr/>
        </p:nvSpPr>
        <p:spPr>
          <a:xfrm>
            <a:off x="11176000" y="6235700"/>
            <a:ext cx="381000" cy="292100"/>
          </a:xfrm>
          <a:prstGeom prst="rect">
            <a:avLst/>
          </a:prstGeom>
          <a:noFill/>
        </p:spPr>
        <p:txBody>
          <a:bodyPr wrap="square" lIns="0" rIns="0" tIns="0" bIns="0" anchor="ctr">
            <a:spAutoFit/>
          </a:bodyPr>
          <a:lstStyle/>
          <a:p>
            <a:pPr algn="r">
              <a:lnSpc>
                <a:spcPct val="108000"/>
              </a:lnSpc>
              <a:spcBef>
                <a:spcPts val="0"/>
              </a:spcBef>
              <a:spcAft>
                <a:spcPts val="0"/>
              </a:spcAft>
              <a:defRPr sz="900" b="0">
                <a:solidFill>
                  <a:srgbClr val="596E80"/>
                </a:solidFill>
                <a:latin typeface="Calibri"/>
              </a:defRPr>
            </a:pPr>
            <a:r>
              <a:t>2</a:t>
            </a:r>
          </a:p>
        </p:txBody>
      </p:sp>
      <p:sp>
        <p:nvSpPr>
          <p:cNvPr id="7" name="TextBox 6"/>
          <p:cNvSpPr txBox="1"/>
          <p:nvPr/>
        </p:nvSpPr>
        <p:spPr>
          <a:xfrm>
            <a:off x="635000" y="1981200"/>
            <a:ext cx="2032000" cy="393700"/>
          </a:xfrm>
          <a:prstGeom prst="rect">
            <a:avLst/>
          </a:prstGeom>
          <a:noFill/>
        </p:spPr>
        <p:txBody>
          <a:bodyPr wrap="square" lIns="0" rIns="0" tIns="0" bIns="0" anchor="ctr">
            <a:spAutoFit/>
          </a:bodyPr>
          <a:lstStyle/>
          <a:p>
            <a:pPr algn="l">
              <a:lnSpc>
                <a:spcPct val="108000"/>
              </a:lnSpc>
              <a:spcBef>
                <a:spcPts val="0"/>
              </a:spcBef>
              <a:spcAft>
                <a:spcPts val="0"/>
              </a:spcAft>
              <a:defRPr sz="2000" b="1">
                <a:solidFill>
                  <a:srgbClr val="08777C"/>
                </a:solidFill>
                <a:latin typeface="Calibri"/>
              </a:defRPr>
            </a:pPr>
            <a:r>
              <a:t>Activación</a:t>
            </a:r>
          </a:p>
        </p:txBody>
      </p:sp>
      <p:sp>
        <p:nvSpPr>
          <p:cNvPr id="8" name="Rectangle 7"/>
          <p:cNvSpPr/>
          <p:nvPr/>
        </p:nvSpPr>
        <p:spPr>
          <a:xfrm>
            <a:off x="2654300" y="2006600"/>
            <a:ext cx="2159000" cy="698500"/>
          </a:xfrm>
          <a:prstGeom prst="rect">
            <a:avLst/>
          </a:prstGeom>
          <a:solidFill>
            <a:srgbClr val="EAF1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806700" y="2095500"/>
            <a:ext cx="1841500" cy="520700"/>
          </a:xfrm>
          <a:prstGeom prst="rect">
            <a:avLst/>
          </a:prstGeom>
          <a:noFill/>
        </p:spPr>
        <p:txBody>
          <a:bodyPr wrap="square" lIns="0" rIns="0" tIns="0" bIns="0" anchor="ctr">
            <a:spAutoFit/>
          </a:bodyPr>
          <a:lstStyle/>
          <a:p>
            <a:pPr algn="l">
              <a:lnSpc>
                <a:spcPct val="108000"/>
              </a:lnSpc>
              <a:spcBef>
                <a:spcPts val="0"/>
              </a:spcBef>
              <a:spcAft>
                <a:spcPts val="0"/>
              </a:spcAft>
              <a:defRPr sz="2100" b="1">
                <a:solidFill>
                  <a:srgbClr val="16324F"/>
                </a:solidFill>
                <a:latin typeface="Calibri"/>
              </a:defRPr>
            </a:pPr>
            <a:r>
              <a:t>GSR</a:t>
            </a:r>
          </a:p>
        </p:txBody>
      </p:sp>
      <p:sp>
        <p:nvSpPr>
          <p:cNvPr id="10" name="TextBox 9"/>
          <p:cNvSpPr txBox="1"/>
          <p:nvPr/>
        </p:nvSpPr>
        <p:spPr>
          <a:xfrm>
            <a:off x="5041900" y="2108200"/>
            <a:ext cx="457200" cy="444500"/>
          </a:xfrm>
          <a:prstGeom prst="rect">
            <a:avLst/>
          </a:prstGeom>
          <a:noFill/>
        </p:spPr>
        <p:txBody>
          <a:bodyPr wrap="square" lIns="0" rIns="0" tIns="0" bIns="0" anchor="ctr">
            <a:spAutoFit/>
          </a:bodyPr>
          <a:lstStyle/>
          <a:p>
            <a:pPr algn="l">
              <a:lnSpc>
                <a:spcPct val="108000"/>
              </a:lnSpc>
              <a:spcBef>
                <a:spcPts val="0"/>
              </a:spcBef>
              <a:spcAft>
                <a:spcPts val="0"/>
              </a:spcAft>
              <a:defRPr sz="2500" b="1">
                <a:solidFill>
                  <a:srgbClr val="08777C"/>
                </a:solidFill>
                <a:latin typeface="Calibri"/>
              </a:defRPr>
            </a:pPr>
            <a:r>
              <a:t>→</a:t>
            </a:r>
          </a:p>
        </p:txBody>
      </p:sp>
      <p:sp>
        <p:nvSpPr>
          <p:cNvPr id="11" name="Rectangle 10"/>
          <p:cNvSpPr/>
          <p:nvPr/>
        </p:nvSpPr>
        <p:spPr>
          <a:xfrm>
            <a:off x="5651500" y="2006600"/>
            <a:ext cx="2400300" cy="698500"/>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715000" y="2095500"/>
            <a:ext cx="2247900" cy="520700"/>
          </a:xfrm>
          <a:prstGeom prst="rect">
            <a:avLst/>
          </a:prstGeom>
          <a:noFill/>
        </p:spPr>
        <p:txBody>
          <a:bodyPr wrap="square" lIns="0" rIns="0" tIns="0" bIns="0" anchor="ctr">
            <a:spAutoFit/>
          </a:bodyPr>
          <a:lstStyle/>
          <a:p>
            <a:pPr algn="l">
              <a:lnSpc>
                <a:spcPct val="108000"/>
              </a:lnSpc>
              <a:spcBef>
                <a:spcPts val="0"/>
              </a:spcBef>
              <a:spcAft>
                <a:spcPts val="0"/>
              </a:spcAft>
              <a:defRPr sz="1900" b="1">
                <a:solidFill>
                  <a:srgbClr val="08777C"/>
                </a:solidFill>
                <a:latin typeface="Calibri"/>
              </a:defRPr>
            </a:pPr>
            <a:r>
              <a:t>Pseudoetiqueta</a:t>
            </a:r>
          </a:p>
        </p:txBody>
      </p:sp>
      <p:sp>
        <p:nvSpPr>
          <p:cNvPr id="13" name="TextBox 12"/>
          <p:cNvSpPr txBox="1"/>
          <p:nvPr/>
        </p:nvSpPr>
        <p:spPr>
          <a:xfrm>
            <a:off x="8229600" y="2108200"/>
            <a:ext cx="457200" cy="444500"/>
          </a:xfrm>
          <a:prstGeom prst="rect">
            <a:avLst/>
          </a:prstGeom>
          <a:noFill/>
        </p:spPr>
        <p:txBody>
          <a:bodyPr wrap="square" lIns="0" rIns="0" tIns="0" bIns="0" anchor="ctr">
            <a:spAutoFit/>
          </a:bodyPr>
          <a:lstStyle/>
          <a:p>
            <a:pPr algn="l">
              <a:lnSpc>
                <a:spcPct val="108000"/>
              </a:lnSpc>
              <a:spcBef>
                <a:spcPts val="0"/>
              </a:spcBef>
              <a:spcAft>
                <a:spcPts val="0"/>
              </a:spcAft>
              <a:defRPr sz="2500" b="1">
                <a:solidFill>
                  <a:srgbClr val="1C5D99"/>
                </a:solidFill>
                <a:latin typeface="Calibri"/>
              </a:defRPr>
            </a:pPr>
            <a:r>
              <a:t>←</a:t>
            </a:r>
          </a:p>
        </p:txBody>
      </p:sp>
      <p:sp>
        <p:nvSpPr>
          <p:cNvPr id="14" name="Rectangle 13"/>
          <p:cNvSpPr/>
          <p:nvPr/>
        </p:nvSpPr>
        <p:spPr>
          <a:xfrm>
            <a:off x="8851900" y="2006600"/>
            <a:ext cx="2667000" cy="698500"/>
          </a:xfrm>
          <a:prstGeom prst="rect">
            <a:avLst/>
          </a:prstGeom>
          <a:solidFill>
            <a:srgbClr val="EAF1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978900" y="2095500"/>
            <a:ext cx="2413000" cy="520700"/>
          </a:xfrm>
          <a:prstGeom prst="rect">
            <a:avLst/>
          </a:prstGeom>
          <a:noFill/>
        </p:spPr>
        <p:txBody>
          <a:bodyPr wrap="square" lIns="0" rIns="0" tIns="0" bIns="0" anchor="ctr">
            <a:spAutoFit/>
          </a:bodyPr>
          <a:lstStyle/>
          <a:p>
            <a:pPr algn="l">
              <a:lnSpc>
                <a:spcPct val="108000"/>
              </a:lnSpc>
              <a:spcBef>
                <a:spcPts val="0"/>
              </a:spcBef>
              <a:spcAft>
                <a:spcPts val="0"/>
              </a:spcAft>
              <a:defRPr sz="1600" b="1">
                <a:solidFill>
                  <a:srgbClr val="16324F"/>
                </a:solidFill>
                <a:latin typeface="Calibri"/>
              </a:defRPr>
            </a:pPr>
            <a:r>
              <a:t>EEG · mirada · pupila</a:t>
            </a:r>
          </a:p>
        </p:txBody>
      </p:sp>
      <p:sp>
        <p:nvSpPr>
          <p:cNvPr id="16" name="TextBox 15"/>
          <p:cNvSpPr txBox="1"/>
          <p:nvPr/>
        </p:nvSpPr>
        <p:spPr>
          <a:xfrm>
            <a:off x="2654300" y="2819400"/>
            <a:ext cx="2159000" cy="330200"/>
          </a:xfrm>
          <a:prstGeom prst="rect">
            <a:avLst/>
          </a:prstGeom>
          <a:noFill/>
        </p:spPr>
        <p:txBody>
          <a:bodyPr wrap="square" lIns="0" rIns="0" tIns="0" bIns="0" anchor="ctr">
            <a:spAutoFit/>
          </a:bodyPr>
          <a:lstStyle/>
          <a:p>
            <a:pPr algn="l">
              <a:lnSpc>
                <a:spcPct val="108000"/>
              </a:lnSpc>
              <a:spcBef>
                <a:spcPts val="0"/>
              </a:spcBef>
              <a:spcAft>
                <a:spcPts val="0"/>
              </a:spcAft>
              <a:defRPr sz="1400" b="0">
                <a:solidFill>
                  <a:srgbClr val="596E80"/>
                </a:solidFill>
                <a:latin typeface="Calibri"/>
              </a:defRPr>
            </a:pPr>
            <a:r>
              <a:t>Define el objetivo</a:t>
            </a:r>
          </a:p>
        </p:txBody>
      </p:sp>
      <p:sp>
        <p:nvSpPr>
          <p:cNvPr id="17" name="TextBox 16"/>
          <p:cNvSpPr txBox="1"/>
          <p:nvPr/>
        </p:nvSpPr>
        <p:spPr>
          <a:xfrm>
            <a:off x="8851900" y="2819400"/>
            <a:ext cx="2667000" cy="330200"/>
          </a:xfrm>
          <a:prstGeom prst="rect">
            <a:avLst/>
          </a:prstGeom>
          <a:noFill/>
        </p:spPr>
        <p:txBody>
          <a:bodyPr wrap="square" lIns="0" rIns="0" tIns="0" bIns="0" anchor="ctr">
            <a:spAutoFit/>
          </a:bodyPr>
          <a:lstStyle/>
          <a:p>
            <a:pPr algn="l">
              <a:lnSpc>
                <a:spcPct val="108000"/>
              </a:lnSpc>
              <a:spcBef>
                <a:spcPts val="0"/>
              </a:spcBef>
              <a:spcAft>
                <a:spcPts val="0"/>
              </a:spcAft>
              <a:defRPr sz="1400" b="0">
                <a:solidFill>
                  <a:srgbClr val="596E80"/>
                </a:solidFill>
                <a:latin typeface="Calibri"/>
              </a:defRPr>
            </a:pPr>
            <a:r>
              <a:t>Intenta predecirlo</a:t>
            </a:r>
          </a:p>
        </p:txBody>
      </p:sp>
      <p:sp>
        <p:nvSpPr>
          <p:cNvPr id="18" name="Rectangle 17"/>
          <p:cNvSpPr/>
          <p:nvPr/>
        </p:nvSpPr>
        <p:spPr>
          <a:xfrm>
            <a:off x="635000" y="36576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35000" y="3898900"/>
            <a:ext cx="10922000" cy="952500"/>
          </a:xfrm>
          <a:prstGeom prst="rect">
            <a:avLst/>
          </a:prstGeom>
          <a:noFill/>
        </p:spPr>
        <p:txBody>
          <a:bodyPr wrap="square" lIns="0" rIns="0" tIns="0" bIns="0" anchor="ctr">
            <a:spAutoFit/>
          </a:bodyPr>
          <a:lstStyle/>
          <a:p>
            <a:pPr algn="l">
              <a:lnSpc>
                <a:spcPct val="108000"/>
              </a:lnSpc>
              <a:spcBef>
                <a:spcPts val="0"/>
              </a:spcBef>
              <a:spcAft>
                <a:spcPts val="0"/>
              </a:spcAft>
              <a:defRPr sz="2000" b="0">
                <a:solidFill>
                  <a:srgbClr val="24394C"/>
                </a:solidFill>
                <a:latin typeface="Calibri"/>
              </a:defRPr>
            </a:pPr>
            <a:r>
              <a:t>La etiqueta de activación clasifica GSR en bajo, medio o alto mediante terciles relativos a cada persona y a toda su sesión.</a:t>
            </a:r>
          </a:p>
        </p:txBody>
      </p:sp>
      <p:sp>
        <p:nvSpPr>
          <p:cNvPr id="20" name="TextBox 19"/>
          <p:cNvSpPr txBox="1"/>
          <p:nvPr/>
        </p:nvSpPr>
        <p:spPr>
          <a:xfrm>
            <a:off x="635000" y="5105400"/>
            <a:ext cx="10922000" cy="546100"/>
          </a:xfrm>
          <a:prstGeom prst="rect">
            <a:avLst/>
          </a:prstGeom>
          <a:noFill/>
        </p:spPr>
        <p:txBody>
          <a:bodyPr wrap="square" lIns="0" rIns="0" tIns="0" bIns="0" anchor="ctr">
            <a:spAutoFit/>
          </a:bodyPr>
          <a:lstStyle/>
          <a:p>
            <a:pPr algn="l">
              <a:lnSpc>
                <a:spcPct val="108000"/>
              </a:lnSpc>
              <a:spcBef>
                <a:spcPts val="0"/>
              </a:spcBef>
              <a:spcAft>
                <a:spcPts val="0"/>
              </a:spcAft>
              <a:defRPr sz="1700" b="0">
                <a:solidFill>
                  <a:srgbClr val="596E80"/>
                </a:solidFill>
                <a:latin typeface="Calibri"/>
              </a:defRPr>
            </a:pPr>
            <a:r>
              <a:t>Se calcula offline. Atención es un objetivo secundario con una etiqueta distinta.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254000"/>
            <a:ext cx="10160000" cy="292100"/>
          </a:xfrm>
          <a:prstGeom prst="rect">
            <a:avLst/>
          </a:prstGeom>
          <a:noFill/>
        </p:spPr>
        <p:txBody>
          <a:bodyPr wrap="square" lIns="0" rIns="0" tIns="0" bIns="0" anchor="ctr">
            <a:spAutoFit/>
          </a:bodyPr>
          <a:lstStyle/>
          <a:p>
            <a:pPr algn="l">
              <a:lnSpc>
                <a:spcPct val="108000"/>
              </a:lnSpc>
              <a:spcBef>
                <a:spcPts val="0"/>
              </a:spcBef>
              <a:spcAft>
                <a:spcPts val="0"/>
              </a:spcAft>
              <a:defRPr sz="1100" b="0">
                <a:solidFill>
                  <a:srgbClr val="596E80"/>
                </a:solidFill>
                <a:latin typeface="Calibri"/>
              </a:defRPr>
            </a:pPr>
            <a:r>
              <a:t>Toma de Muestra 2 · navegación web en laboratorio</a:t>
            </a:r>
          </a:p>
        </p:txBody>
      </p:sp>
      <p:sp>
        <p:nvSpPr>
          <p:cNvPr id="3" name="TextBox 2"/>
          <p:cNvSpPr txBox="1"/>
          <p:nvPr/>
        </p:nvSpPr>
        <p:spPr>
          <a:xfrm>
            <a:off x="635000" y="698500"/>
            <a:ext cx="10922000" cy="838200"/>
          </a:xfrm>
          <a:prstGeom prst="rect">
            <a:avLst/>
          </a:prstGeom>
          <a:noFill/>
        </p:spPr>
        <p:txBody>
          <a:bodyPr wrap="square" lIns="0" rIns="0" tIns="0" bIns="0" anchor="ctr">
            <a:spAutoFit/>
          </a:bodyPr>
          <a:lstStyle/>
          <a:p>
            <a:pPr algn="l">
              <a:lnSpc>
                <a:spcPct val="108000"/>
              </a:lnSpc>
              <a:spcBef>
                <a:spcPts val="0"/>
              </a:spcBef>
              <a:spcAft>
                <a:spcPts val="0"/>
              </a:spcAft>
              <a:defRPr sz="3000" b="0">
                <a:solidFill>
                  <a:srgbClr val="16324F"/>
                </a:solidFill>
                <a:latin typeface="Cambria"/>
              </a:defRPr>
            </a:pPr>
            <a:r>
              <a:t>La evaluación separa a las personas</a:t>
            </a:r>
          </a:p>
        </p:txBody>
      </p:sp>
      <p:sp>
        <p:nvSpPr>
          <p:cNvPr id="4" name="Rectangle 3"/>
          <p:cNvSpPr/>
          <p:nvPr/>
        </p:nvSpPr>
        <p:spPr>
          <a:xfrm>
            <a:off x="635000" y="61468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35000" y="6235700"/>
            <a:ext cx="10261600" cy="419100"/>
          </a:xfrm>
          <a:prstGeom prst="rect">
            <a:avLst/>
          </a:prstGeom>
          <a:noFill/>
        </p:spPr>
        <p:txBody>
          <a:bodyPr wrap="square" lIns="0" rIns="0" tIns="0" bIns="0" anchor="ctr">
            <a:spAutoFit/>
          </a:bodyPr>
          <a:lstStyle/>
          <a:p>
            <a:pPr algn="l">
              <a:lnSpc>
                <a:spcPct val="108000"/>
              </a:lnSpc>
              <a:spcBef>
                <a:spcPts val="0"/>
              </a:spcBef>
              <a:spcAft>
                <a:spcPts val="0"/>
              </a:spcAft>
              <a:defRPr sz="900" b="0">
                <a:solidFill>
                  <a:srgbClr val="596E80"/>
                </a:solidFill>
                <a:latin typeface="Calibri"/>
              </a:defRPr>
            </a:pPr>
            <a:r>
              <a:t>Fuentes: partición de participantes; Evaluacion_Independiente_y_Validez_24-10-2026.md.</a:t>
            </a:r>
          </a:p>
        </p:txBody>
      </p:sp>
      <p:sp>
        <p:nvSpPr>
          <p:cNvPr id="6" name="TextBox 5"/>
          <p:cNvSpPr txBox="1"/>
          <p:nvPr/>
        </p:nvSpPr>
        <p:spPr>
          <a:xfrm>
            <a:off x="11176000" y="6235700"/>
            <a:ext cx="381000" cy="292100"/>
          </a:xfrm>
          <a:prstGeom prst="rect">
            <a:avLst/>
          </a:prstGeom>
          <a:noFill/>
        </p:spPr>
        <p:txBody>
          <a:bodyPr wrap="square" lIns="0" rIns="0" tIns="0" bIns="0" anchor="ctr">
            <a:spAutoFit/>
          </a:bodyPr>
          <a:lstStyle/>
          <a:p>
            <a:pPr algn="r">
              <a:lnSpc>
                <a:spcPct val="108000"/>
              </a:lnSpc>
              <a:spcBef>
                <a:spcPts val="0"/>
              </a:spcBef>
              <a:spcAft>
                <a:spcPts val="0"/>
              </a:spcAft>
              <a:defRPr sz="900" b="0">
                <a:solidFill>
                  <a:srgbClr val="596E80"/>
                </a:solidFill>
                <a:latin typeface="Calibri"/>
              </a:defRPr>
            </a:pPr>
            <a:r>
              <a:t>3</a:t>
            </a:r>
          </a:p>
        </p:txBody>
      </p:sp>
      <p:sp>
        <p:nvSpPr>
          <p:cNvPr id="7" name="TextBox 6"/>
          <p:cNvSpPr txBox="1"/>
          <p:nvPr/>
        </p:nvSpPr>
        <p:spPr>
          <a:xfrm>
            <a:off x="635000" y="1943100"/>
            <a:ext cx="6223000" cy="508000"/>
          </a:xfrm>
          <a:prstGeom prst="rect">
            <a:avLst/>
          </a:prstGeom>
          <a:noFill/>
        </p:spPr>
        <p:txBody>
          <a:bodyPr wrap="square" lIns="0" rIns="0" tIns="0" bIns="0" anchor="ctr">
            <a:spAutoFit/>
          </a:bodyPr>
          <a:lstStyle/>
          <a:p>
            <a:pPr algn="l">
              <a:lnSpc>
                <a:spcPct val="108000"/>
              </a:lnSpc>
              <a:spcBef>
                <a:spcPts val="0"/>
              </a:spcBef>
              <a:spcAft>
                <a:spcPts val="0"/>
              </a:spcAft>
              <a:defRPr sz="2300" b="1">
                <a:solidFill>
                  <a:srgbClr val="16324F"/>
                </a:solidFill>
                <a:latin typeface="Calibri"/>
              </a:defRPr>
            </a:pPr>
            <a:r>
              <a:t>48 participantes registrados</a:t>
            </a:r>
          </a:p>
        </p:txBody>
      </p:sp>
      <p:sp>
        <p:nvSpPr>
          <p:cNvPr id="8" name="TextBox 7"/>
          <p:cNvSpPr txBox="1"/>
          <p:nvPr/>
        </p:nvSpPr>
        <p:spPr>
          <a:xfrm>
            <a:off x="660400" y="2565400"/>
            <a:ext cx="533400" cy="444500"/>
          </a:xfrm>
          <a:prstGeom prst="rect">
            <a:avLst/>
          </a:prstGeom>
          <a:noFill/>
        </p:spPr>
        <p:txBody>
          <a:bodyPr wrap="square" lIns="0" rIns="0" tIns="0" bIns="0" anchor="ctr">
            <a:spAutoFit/>
          </a:bodyPr>
          <a:lstStyle/>
          <a:p>
            <a:pPr algn="l">
              <a:lnSpc>
                <a:spcPct val="108000"/>
              </a:lnSpc>
              <a:spcBef>
                <a:spcPts val="0"/>
              </a:spcBef>
              <a:spcAft>
                <a:spcPts val="0"/>
              </a:spcAft>
              <a:defRPr sz="2300" b="0">
                <a:solidFill>
                  <a:srgbClr val="08777C"/>
                </a:solidFill>
                <a:latin typeface="Calibri"/>
              </a:defRPr>
            </a:pPr>
            <a:r>
              <a:t>↓</a:t>
            </a:r>
          </a:p>
        </p:txBody>
      </p:sp>
      <p:sp>
        <p:nvSpPr>
          <p:cNvPr id="9" name="TextBox 8"/>
          <p:cNvSpPr txBox="1"/>
          <p:nvPr/>
        </p:nvSpPr>
        <p:spPr>
          <a:xfrm>
            <a:off x="1193800" y="2527300"/>
            <a:ext cx="5651500" cy="520700"/>
          </a:xfrm>
          <a:prstGeom prst="rect">
            <a:avLst/>
          </a:prstGeom>
          <a:noFill/>
        </p:spPr>
        <p:txBody>
          <a:bodyPr wrap="square" lIns="0" rIns="0" tIns="0" bIns="0" anchor="ctr">
            <a:spAutoFit/>
          </a:bodyPr>
          <a:lstStyle/>
          <a:p>
            <a:pPr algn="l">
              <a:lnSpc>
                <a:spcPct val="108000"/>
              </a:lnSpc>
              <a:spcBef>
                <a:spcPts val="0"/>
              </a:spcBef>
              <a:spcAft>
                <a:spcPts val="0"/>
              </a:spcAft>
              <a:defRPr sz="2100" b="1">
                <a:solidFill>
                  <a:srgbClr val="08777C"/>
                </a:solidFill>
                <a:latin typeface="Calibri"/>
              </a:defRPr>
            </a:pPr>
            <a:r>
              <a:t>41 en el conjunto principal</a:t>
            </a:r>
          </a:p>
        </p:txBody>
      </p:sp>
      <p:sp>
        <p:nvSpPr>
          <p:cNvPr id="10" name="TextBox 9"/>
          <p:cNvSpPr txBox="1"/>
          <p:nvPr/>
        </p:nvSpPr>
        <p:spPr>
          <a:xfrm>
            <a:off x="1193800" y="3136900"/>
            <a:ext cx="10033000" cy="4318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596E80"/>
                </a:solidFill>
                <a:latin typeface="Calibri"/>
              </a:defRPr>
            </a:pPr>
            <a:r>
              <a:t>6 excluidos por calidad o falta de señal · 1 reservado para sensibilidad</a:t>
            </a:r>
          </a:p>
        </p:txBody>
      </p:sp>
      <p:sp>
        <p:nvSpPr>
          <p:cNvPr id="11" name="TextBox 10"/>
          <p:cNvSpPr txBox="1"/>
          <p:nvPr/>
        </p:nvSpPr>
        <p:spPr>
          <a:xfrm>
            <a:off x="635000" y="3797300"/>
            <a:ext cx="3810000" cy="355600"/>
          </a:xfrm>
          <a:prstGeom prst="rect">
            <a:avLst/>
          </a:prstGeom>
          <a:noFill/>
        </p:spPr>
        <p:txBody>
          <a:bodyPr wrap="square" lIns="0" rIns="0" tIns="0" bIns="0" anchor="ctr">
            <a:spAutoFit/>
          </a:bodyPr>
          <a:lstStyle/>
          <a:p>
            <a:pPr algn="l">
              <a:lnSpc>
                <a:spcPct val="108000"/>
              </a:lnSpc>
              <a:spcBef>
                <a:spcPts val="0"/>
              </a:spcBef>
              <a:spcAft>
                <a:spcPts val="0"/>
              </a:spcAft>
              <a:defRPr sz="1700" b="1">
                <a:solidFill>
                  <a:srgbClr val="16324F"/>
                </a:solidFill>
                <a:latin typeface="Calibri"/>
              </a:defRPr>
            </a:pPr>
            <a:r>
              <a:t>Partición por persona</a:t>
            </a:r>
          </a:p>
        </p:txBody>
      </p:sp>
      <p:sp>
        <p:nvSpPr>
          <p:cNvPr id="12" name="Rectangle 11"/>
          <p:cNvSpPr/>
          <p:nvPr/>
        </p:nvSpPr>
        <p:spPr>
          <a:xfrm>
            <a:off x="635000" y="4279900"/>
            <a:ext cx="6502400" cy="825500"/>
          </a:xfrm>
          <a:prstGeom prst="rect">
            <a:avLst/>
          </a:prstGeom>
          <a:solidFill>
            <a:srgbClr val="1C5D9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87400" y="4343400"/>
            <a:ext cx="698500" cy="508000"/>
          </a:xfrm>
          <a:prstGeom prst="rect">
            <a:avLst/>
          </a:prstGeom>
          <a:noFill/>
        </p:spPr>
        <p:txBody>
          <a:bodyPr wrap="square" lIns="0" rIns="0" tIns="0" bIns="0" anchor="ctr">
            <a:spAutoFit/>
          </a:bodyPr>
          <a:lstStyle/>
          <a:p>
            <a:pPr algn="l">
              <a:lnSpc>
                <a:spcPct val="108000"/>
              </a:lnSpc>
              <a:spcBef>
                <a:spcPts val="0"/>
              </a:spcBef>
              <a:spcAft>
                <a:spcPts val="0"/>
              </a:spcAft>
              <a:defRPr sz="2500" b="1">
                <a:solidFill>
                  <a:srgbClr val="FFFFFF"/>
                </a:solidFill>
                <a:latin typeface="Calibri"/>
              </a:defRPr>
            </a:pPr>
            <a:r>
              <a:t>25</a:t>
            </a:r>
          </a:p>
        </p:txBody>
      </p:sp>
      <p:sp>
        <p:nvSpPr>
          <p:cNvPr id="14" name="TextBox 13"/>
          <p:cNvSpPr txBox="1"/>
          <p:nvPr/>
        </p:nvSpPr>
        <p:spPr>
          <a:xfrm>
            <a:off x="787400" y="4800600"/>
            <a:ext cx="6223000" cy="241300"/>
          </a:xfrm>
          <a:prstGeom prst="rect">
            <a:avLst/>
          </a:prstGeom>
          <a:noFill/>
        </p:spPr>
        <p:txBody>
          <a:bodyPr wrap="square" lIns="0" rIns="0" tIns="0" bIns="0" anchor="ctr">
            <a:spAutoFit/>
          </a:bodyPr>
          <a:lstStyle/>
          <a:p>
            <a:pPr algn="l">
              <a:lnSpc>
                <a:spcPct val="108000"/>
              </a:lnSpc>
              <a:spcBef>
                <a:spcPts val="0"/>
              </a:spcBef>
              <a:spcAft>
                <a:spcPts val="0"/>
              </a:spcAft>
              <a:defRPr sz="1200" b="0">
                <a:solidFill>
                  <a:srgbClr val="FFFFFF"/>
                </a:solidFill>
                <a:latin typeface="Calibri"/>
              </a:defRPr>
            </a:pPr>
            <a:r>
              <a:t>train · 13.524 ventanas</a:t>
            </a:r>
          </a:p>
        </p:txBody>
      </p:sp>
      <p:sp>
        <p:nvSpPr>
          <p:cNvPr id="15" name="Rectangle 14"/>
          <p:cNvSpPr/>
          <p:nvPr/>
        </p:nvSpPr>
        <p:spPr>
          <a:xfrm>
            <a:off x="7188200" y="4279900"/>
            <a:ext cx="2108200" cy="825500"/>
          </a:xfrm>
          <a:prstGeom prst="rect">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40600" y="4343400"/>
            <a:ext cx="698500" cy="508000"/>
          </a:xfrm>
          <a:prstGeom prst="rect">
            <a:avLst/>
          </a:prstGeom>
          <a:noFill/>
        </p:spPr>
        <p:txBody>
          <a:bodyPr wrap="square" lIns="0" rIns="0" tIns="0" bIns="0" anchor="ctr">
            <a:spAutoFit/>
          </a:bodyPr>
          <a:lstStyle/>
          <a:p>
            <a:pPr algn="l">
              <a:lnSpc>
                <a:spcPct val="108000"/>
              </a:lnSpc>
              <a:spcBef>
                <a:spcPts val="0"/>
              </a:spcBef>
              <a:spcAft>
                <a:spcPts val="0"/>
              </a:spcAft>
              <a:defRPr sz="2500" b="1">
                <a:solidFill>
                  <a:srgbClr val="FFFFFF"/>
                </a:solidFill>
                <a:latin typeface="Calibri"/>
              </a:defRPr>
            </a:pPr>
            <a:r>
              <a:t>8</a:t>
            </a:r>
          </a:p>
        </p:txBody>
      </p:sp>
      <p:sp>
        <p:nvSpPr>
          <p:cNvPr id="17" name="TextBox 16"/>
          <p:cNvSpPr txBox="1"/>
          <p:nvPr/>
        </p:nvSpPr>
        <p:spPr>
          <a:xfrm>
            <a:off x="7340600" y="4800600"/>
            <a:ext cx="1828800" cy="241300"/>
          </a:xfrm>
          <a:prstGeom prst="rect">
            <a:avLst/>
          </a:prstGeom>
          <a:noFill/>
        </p:spPr>
        <p:txBody>
          <a:bodyPr wrap="square" lIns="0" rIns="0" tIns="0" bIns="0" anchor="ctr">
            <a:spAutoFit/>
          </a:bodyPr>
          <a:lstStyle/>
          <a:p>
            <a:pPr algn="l">
              <a:lnSpc>
                <a:spcPct val="108000"/>
              </a:lnSpc>
              <a:spcBef>
                <a:spcPts val="0"/>
              </a:spcBef>
              <a:spcAft>
                <a:spcPts val="0"/>
              </a:spcAft>
              <a:defRPr sz="1200" b="0">
                <a:solidFill>
                  <a:srgbClr val="FFFFFF"/>
                </a:solidFill>
                <a:latin typeface="Calibri"/>
              </a:defRPr>
            </a:pPr>
            <a:r>
              <a:t>validation</a:t>
            </a:r>
          </a:p>
        </p:txBody>
      </p:sp>
      <p:sp>
        <p:nvSpPr>
          <p:cNvPr id="18" name="Rectangle 17"/>
          <p:cNvSpPr/>
          <p:nvPr/>
        </p:nvSpPr>
        <p:spPr>
          <a:xfrm>
            <a:off x="9347200" y="4279900"/>
            <a:ext cx="2209800" cy="825500"/>
          </a:xfrm>
          <a:prstGeom prst="rect">
            <a:avLst/>
          </a:prstGeom>
          <a:solidFill>
            <a:srgbClr val="16324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499600" y="4343400"/>
            <a:ext cx="698500" cy="508000"/>
          </a:xfrm>
          <a:prstGeom prst="rect">
            <a:avLst/>
          </a:prstGeom>
          <a:noFill/>
        </p:spPr>
        <p:txBody>
          <a:bodyPr wrap="square" lIns="0" rIns="0" tIns="0" bIns="0" anchor="ctr">
            <a:spAutoFit/>
          </a:bodyPr>
          <a:lstStyle/>
          <a:p>
            <a:pPr algn="l">
              <a:lnSpc>
                <a:spcPct val="108000"/>
              </a:lnSpc>
              <a:spcBef>
                <a:spcPts val="0"/>
              </a:spcBef>
              <a:spcAft>
                <a:spcPts val="0"/>
              </a:spcAft>
              <a:defRPr sz="2500" b="1">
                <a:solidFill>
                  <a:srgbClr val="FFFFFF"/>
                </a:solidFill>
                <a:latin typeface="Calibri"/>
              </a:defRPr>
            </a:pPr>
            <a:r>
              <a:t>8</a:t>
            </a:r>
          </a:p>
        </p:txBody>
      </p:sp>
      <p:sp>
        <p:nvSpPr>
          <p:cNvPr id="20" name="TextBox 19"/>
          <p:cNvSpPr txBox="1"/>
          <p:nvPr/>
        </p:nvSpPr>
        <p:spPr>
          <a:xfrm>
            <a:off x="9499600" y="4800600"/>
            <a:ext cx="1930400" cy="241300"/>
          </a:xfrm>
          <a:prstGeom prst="rect">
            <a:avLst/>
          </a:prstGeom>
          <a:noFill/>
        </p:spPr>
        <p:txBody>
          <a:bodyPr wrap="square" lIns="0" rIns="0" tIns="0" bIns="0" anchor="ctr">
            <a:spAutoFit/>
          </a:bodyPr>
          <a:lstStyle/>
          <a:p>
            <a:pPr algn="l">
              <a:lnSpc>
                <a:spcPct val="108000"/>
              </a:lnSpc>
              <a:spcBef>
                <a:spcPts val="0"/>
              </a:spcBef>
              <a:spcAft>
                <a:spcPts val="0"/>
              </a:spcAft>
              <a:defRPr sz="1200" b="0">
                <a:solidFill>
                  <a:srgbClr val="FFFFFF"/>
                </a:solidFill>
                <a:latin typeface="Calibri"/>
              </a:defRPr>
            </a:pPr>
            <a:r>
              <a:t>test · 4.025 ventanas</a:t>
            </a:r>
          </a:p>
        </p:txBody>
      </p:sp>
      <p:sp>
        <p:nvSpPr>
          <p:cNvPr id="21" name="TextBox 20"/>
          <p:cNvSpPr txBox="1"/>
          <p:nvPr/>
        </p:nvSpPr>
        <p:spPr>
          <a:xfrm>
            <a:off x="635000" y="5334000"/>
            <a:ext cx="10922000" cy="622300"/>
          </a:xfrm>
          <a:prstGeom prst="rect">
            <a:avLst/>
          </a:prstGeom>
          <a:noFill/>
        </p:spPr>
        <p:txBody>
          <a:bodyPr wrap="square" lIns="0" rIns="0" tIns="0" bIns="0" anchor="ctr">
            <a:spAutoFit/>
          </a:bodyPr>
          <a:lstStyle/>
          <a:p>
            <a:pPr algn="l">
              <a:lnSpc>
                <a:spcPct val="108000"/>
              </a:lnSpc>
              <a:spcBef>
                <a:spcPts val="0"/>
              </a:spcBef>
              <a:spcAft>
                <a:spcPts val="0"/>
              </a:spcAft>
              <a:defRPr sz="1700" b="0">
                <a:solidFill>
                  <a:srgbClr val="24394C"/>
                </a:solidFill>
                <a:latin typeface="Calibri"/>
              </a:defRPr>
            </a:pPr>
            <a:r>
              <a:t>BA macro: recall medio de las clases presentes por persona, promediado entre personas.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254000"/>
            <a:ext cx="10160000" cy="292100"/>
          </a:xfrm>
          <a:prstGeom prst="rect">
            <a:avLst/>
          </a:prstGeom>
          <a:noFill/>
        </p:spPr>
        <p:txBody>
          <a:bodyPr wrap="square" lIns="0" rIns="0" tIns="0" bIns="0" anchor="ctr">
            <a:spAutoFit/>
          </a:bodyPr>
          <a:lstStyle/>
          <a:p>
            <a:pPr algn="l">
              <a:lnSpc>
                <a:spcPct val="108000"/>
              </a:lnSpc>
              <a:spcBef>
                <a:spcPts val="0"/>
              </a:spcBef>
              <a:spcAft>
                <a:spcPts val="0"/>
              </a:spcAft>
              <a:defRPr sz="1100" b="0">
                <a:solidFill>
                  <a:srgbClr val="596E80"/>
                </a:solidFill>
                <a:latin typeface="Calibri"/>
              </a:defRPr>
            </a:pPr>
            <a:r>
              <a:t>Contraste temporalidad × fusión · train</a:t>
            </a:r>
          </a:p>
        </p:txBody>
      </p:sp>
      <p:sp>
        <p:nvSpPr>
          <p:cNvPr id="3" name="TextBox 2"/>
          <p:cNvSpPr txBox="1"/>
          <p:nvPr/>
        </p:nvSpPr>
        <p:spPr>
          <a:xfrm>
            <a:off x="635000" y="698500"/>
            <a:ext cx="10922000" cy="838200"/>
          </a:xfrm>
          <a:prstGeom prst="rect">
            <a:avLst/>
          </a:prstGeom>
          <a:noFill/>
        </p:spPr>
        <p:txBody>
          <a:bodyPr wrap="square" lIns="0" rIns="0" tIns="0" bIns="0" anchor="ctr">
            <a:spAutoFit/>
          </a:bodyPr>
          <a:lstStyle/>
          <a:p>
            <a:pPr algn="l">
              <a:lnSpc>
                <a:spcPct val="108000"/>
              </a:lnSpc>
              <a:spcBef>
                <a:spcPts val="0"/>
              </a:spcBef>
              <a:spcAft>
                <a:spcPts val="0"/>
              </a:spcAft>
              <a:defRPr sz="3000" b="0">
                <a:solidFill>
                  <a:srgbClr val="16324F"/>
                </a:solidFill>
                <a:latin typeface="Cambria"/>
              </a:defRPr>
            </a:pPr>
            <a:r>
              <a:t>Las diferencias medias son pequeñas</a:t>
            </a:r>
          </a:p>
        </p:txBody>
      </p:sp>
      <p:sp>
        <p:nvSpPr>
          <p:cNvPr id="4" name="Rectangle 3"/>
          <p:cNvSpPr/>
          <p:nvPr/>
        </p:nvSpPr>
        <p:spPr>
          <a:xfrm>
            <a:off x="635000" y="61468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35000" y="6235700"/>
            <a:ext cx="10261600" cy="419100"/>
          </a:xfrm>
          <a:prstGeom prst="rect">
            <a:avLst/>
          </a:prstGeom>
          <a:noFill/>
        </p:spPr>
        <p:txBody>
          <a:bodyPr wrap="square" lIns="0" rIns="0" tIns="0" bIns="0" anchor="ctr">
            <a:spAutoFit/>
          </a:bodyPr>
          <a:lstStyle/>
          <a:p>
            <a:pPr algn="l">
              <a:lnSpc>
                <a:spcPct val="108000"/>
              </a:lnSpc>
              <a:spcBef>
                <a:spcPts val="0"/>
              </a:spcBef>
              <a:spcAft>
                <a:spcPts val="0"/>
              </a:spcAft>
              <a:defRPr sz="900" b="0">
                <a:solidFill>
                  <a:srgbClr val="596E80"/>
                </a:solidFill>
                <a:latin typeface="Calibri"/>
              </a:defRPr>
            </a:pPr>
            <a:r>
              <a:t>Fuente: Contraste_Temporalidad_Fusion_24-10-2026.md; 25 personas, 5 folds, 2 semillas.</a:t>
            </a:r>
          </a:p>
        </p:txBody>
      </p:sp>
      <p:sp>
        <p:nvSpPr>
          <p:cNvPr id="6" name="TextBox 5"/>
          <p:cNvSpPr txBox="1"/>
          <p:nvPr/>
        </p:nvSpPr>
        <p:spPr>
          <a:xfrm>
            <a:off x="11176000" y="6235700"/>
            <a:ext cx="381000" cy="292100"/>
          </a:xfrm>
          <a:prstGeom prst="rect">
            <a:avLst/>
          </a:prstGeom>
          <a:noFill/>
        </p:spPr>
        <p:txBody>
          <a:bodyPr wrap="square" lIns="0" rIns="0" tIns="0" bIns="0" anchor="ctr">
            <a:spAutoFit/>
          </a:bodyPr>
          <a:lstStyle/>
          <a:p>
            <a:pPr algn="r">
              <a:lnSpc>
                <a:spcPct val="108000"/>
              </a:lnSpc>
              <a:spcBef>
                <a:spcPts val="0"/>
              </a:spcBef>
              <a:spcAft>
                <a:spcPts val="0"/>
              </a:spcAft>
              <a:defRPr sz="900" b="0">
                <a:solidFill>
                  <a:srgbClr val="596E80"/>
                </a:solidFill>
                <a:latin typeface="Calibri"/>
              </a:defRPr>
            </a:pPr>
            <a:r>
              <a:t>4</a:t>
            </a:r>
          </a:p>
        </p:txBody>
      </p:sp>
      <p:sp>
        <p:nvSpPr>
          <p:cNvPr id="7" name="TextBox 6"/>
          <p:cNvSpPr txBox="1"/>
          <p:nvPr/>
        </p:nvSpPr>
        <p:spPr>
          <a:xfrm>
            <a:off x="635000" y="1879600"/>
            <a:ext cx="4800600" cy="342900"/>
          </a:xfrm>
          <a:prstGeom prst="rect">
            <a:avLst/>
          </a:prstGeom>
          <a:noFill/>
        </p:spPr>
        <p:txBody>
          <a:bodyPr wrap="square" lIns="0" rIns="0" tIns="0" bIns="0" anchor="ctr">
            <a:spAutoFit/>
          </a:bodyPr>
          <a:lstStyle/>
          <a:p>
            <a:pPr algn="l">
              <a:lnSpc>
                <a:spcPct val="108000"/>
              </a:lnSpc>
              <a:spcBef>
                <a:spcPts val="0"/>
              </a:spcBef>
              <a:spcAft>
                <a:spcPts val="0"/>
              </a:spcAft>
              <a:defRPr sz="1600" b="1">
                <a:solidFill>
                  <a:srgbClr val="16324F"/>
                </a:solidFill>
                <a:latin typeface="Calibri"/>
              </a:defRPr>
            </a:pPr>
            <a:r>
              <a:t>BA macro por persona</a:t>
            </a:r>
          </a:p>
        </p:txBody>
      </p:sp>
      <p:sp>
        <p:nvSpPr>
          <p:cNvPr id="8" name="TextBox 7"/>
          <p:cNvSpPr txBox="1"/>
          <p:nvPr/>
        </p:nvSpPr>
        <p:spPr>
          <a:xfrm>
            <a:off x="2044700" y="2336800"/>
            <a:ext cx="2095500" cy="317500"/>
          </a:xfrm>
          <a:prstGeom prst="rect">
            <a:avLst/>
          </a:prstGeom>
          <a:noFill/>
        </p:spPr>
        <p:txBody>
          <a:bodyPr wrap="square" lIns="0" rIns="0" tIns="0" bIns="0" anchor="ctr">
            <a:spAutoFit/>
          </a:bodyPr>
          <a:lstStyle/>
          <a:p>
            <a:pPr algn="l">
              <a:lnSpc>
                <a:spcPct val="108000"/>
              </a:lnSpc>
              <a:spcBef>
                <a:spcPts val="0"/>
              </a:spcBef>
              <a:spcAft>
                <a:spcPts val="0"/>
              </a:spcAft>
              <a:defRPr sz="1300" b="0">
                <a:solidFill>
                  <a:srgbClr val="596E80"/>
                </a:solidFill>
                <a:latin typeface="Calibri"/>
              </a:defRPr>
            </a:pPr>
            <a:r>
              <a:t>Ventana repetida</a:t>
            </a:r>
          </a:p>
        </p:txBody>
      </p:sp>
      <p:sp>
        <p:nvSpPr>
          <p:cNvPr id="9" name="TextBox 8"/>
          <p:cNvSpPr txBox="1"/>
          <p:nvPr/>
        </p:nvSpPr>
        <p:spPr>
          <a:xfrm>
            <a:off x="4178300" y="2336800"/>
            <a:ext cx="1651000" cy="317500"/>
          </a:xfrm>
          <a:prstGeom prst="rect">
            <a:avLst/>
          </a:prstGeom>
          <a:noFill/>
        </p:spPr>
        <p:txBody>
          <a:bodyPr wrap="square" lIns="0" rIns="0" tIns="0" bIns="0" anchor="ctr">
            <a:spAutoFit/>
          </a:bodyPr>
          <a:lstStyle/>
          <a:p>
            <a:pPr algn="l">
              <a:lnSpc>
                <a:spcPct val="108000"/>
              </a:lnSpc>
              <a:spcBef>
                <a:spcPts val="0"/>
              </a:spcBef>
              <a:spcAft>
                <a:spcPts val="0"/>
              </a:spcAft>
              <a:defRPr sz="1300" b="0">
                <a:solidFill>
                  <a:srgbClr val="596E80"/>
                </a:solidFill>
                <a:latin typeface="Calibri"/>
              </a:defRPr>
            </a:pPr>
            <a:r>
              <a:t>Historial real</a:t>
            </a:r>
          </a:p>
        </p:txBody>
      </p:sp>
      <p:sp>
        <p:nvSpPr>
          <p:cNvPr id="10" name="Rectangle 9"/>
          <p:cNvSpPr/>
          <p:nvPr/>
        </p:nvSpPr>
        <p:spPr>
          <a:xfrm>
            <a:off x="635000" y="2730500"/>
            <a:ext cx="5334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35000" y="2857500"/>
            <a:ext cx="1320800" cy="5080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24394C"/>
                </a:solidFill>
                <a:latin typeface="Calibri"/>
              </a:defRPr>
            </a:pPr>
            <a:r>
              <a:t>Temprana</a:t>
            </a:r>
          </a:p>
        </p:txBody>
      </p:sp>
      <p:sp>
        <p:nvSpPr>
          <p:cNvPr id="12" name="TextBox 11"/>
          <p:cNvSpPr txBox="1"/>
          <p:nvPr/>
        </p:nvSpPr>
        <p:spPr>
          <a:xfrm>
            <a:off x="2044700" y="2857500"/>
            <a:ext cx="1841500" cy="508000"/>
          </a:xfrm>
          <a:prstGeom prst="rect">
            <a:avLst/>
          </a:prstGeom>
          <a:noFill/>
        </p:spPr>
        <p:txBody>
          <a:bodyPr wrap="square" lIns="0" rIns="0" tIns="0" bIns="0" anchor="ctr">
            <a:spAutoFit/>
          </a:bodyPr>
          <a:lstStyle/>
          <a:p>
            <a:pPr algn="l">
              <a:lnSpc>
                <a:spcPct val="108000"/>
              </a:lnSpc>
              <a:spcBef>
                <a:spcPts val="0"/>
              </a:spcBef>
              <a:spcAft>
                <a:spcPts val="0"/>
              </a:spcAft>
              <a:defRPr sz="2000" b="1">
                <a:solidFill>
                  <a:srgbClr val="16324F"/>
                </a:solidFill>
                <a:latin typeface="Calibri"/>
              </a:defRPr>
            </a:pPr>
            <a:r>
              <a:t>0,3524</a:t>
            </a:r>
          </a:p>
        </p:txBody>
      </p:sp>
      <p:sp>
        <p:nvSpPr>
          <p:cNvPr id="13" name="TextBox 12"/>
          <p:cNvSpPr txBox="1"/>
          <p:nvPr/>
        </p:nvSpPr>
        <p:spPr>
          <a:xfrm>
            <a:off x="4178300" y="2857500"/>
            <a:ext cx="1651000" cy="508000"/>
          </a:xfrm>
          <a:prstGeom prst="rect">
            <a:avLst/>
          </a:prstGeom>
          <a:noFill/>
        </p:spPr>
        <p:txBody>
          <a:bodyPr wrap="square" lIns="0" rIns="0" tIns="0" bIns="0" anchor="ctr">
            <a:spAutoFit/>
          </a:bodyPr>
          <a:lstStyle/>
          <a:p>
            <a:pPr algn="l">
              <a:lnSpc>
                <a:spcPct val="108000"/>
              </a:lnSpc>
              <a:spcBef>
                <a:spcPts val="0"/>
              </a:spcBef>
              <a:spcAft>
                <a:spcPts val="0"/>
              </a:spcAft>
              <a:defRPr sz="2000" b="1">
                <a:solidFill>
                  <a:srgbClr val="16324F"/>
                </a:solidFill>
                <a:latin typeface="Calibri"/>
              </a:defRPr>
            </a:pPr>
            <a:r>
              <a:t>0,3612</a:t>
            </a:r>
          </a:p>
        </p:txBody>
      </p:sp>
      <p:sp>
        <p:nvSpPr>
          <p:cNvPr id="14" name="Rectangle 13"/>
          <p:cNvSpPr/>
          <p:nvPr/>
        </p:nvSpPr>
        <p:spPr>
          <a:xfrm>
            <a:off x="635000" y="3505200"/>
            <a:ext cx="5334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35000" y="3619500"/>
            <a:ext cx="1320800" cy="5080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24394C"/>
                </a:solidFill>
                <a:latin typeface="Calibri"/>
              </a:defRPr>
            </a:pPr>
            <a:r>
              <a:t>Tardía</a:t>
            </a:r>
          </a:p>
        </p:txBody>
      </p:sp>
      <p:sp>
        <p:nvSpPr>
          <p:cNvPr id="16" name="TextBox 15"/>
          <p:cNvSpPr txBox="1"/>
          <p:nvPr/>
        </p:nvSpPr>
        <p:spPr>
          <a:xfrm>
            <a:off x="2044700" y="3619500"/>
            <a:ext cx="1841500" cy="508000"/>
          </a:xfrm>
          <a:prstGeom prst="rect">
            <a:avLst/>
          </a:prstGeom>
          <a:noFill/>
        </p:spPr>
        <p:txBody>
          <a:bodyPr wrap="square" lIns="0" rIns="0" tIns="0" bIns="0" anchor="ctr">
            <a:spAutoFit/>
          </a:bodyPr>
          <a:lstStyle/>
          <a:p>
            <a:pPr algn="l">
              <a:lnSpc>
                <a:spcPct val="108000"/>
              </a:lnSpc>
              <a:spcBef>
                <a:spcPts val="0"/>
              </a:spcBef>
              <a:spcAft>
                <a:spcPts val="0"/>
              </a:spcAft>
              <a:defRPr sz="2000" b="1">
                <a:solidFill>
                  <a:srgbClr val="16324F"/>
                </a:solidFill>
                <a:latin typeface="Calibri"/>
              </a:defRPr>
            </a:pPr>
            <a:r>
              <a:t>0,3596</a:t>
            </a:r>
          </a:p>
        </p:txBody>
      </p:sp>
      <p:sp>
        <p:nvSpPr>
          <p:cNvPr id="17" name="TextBox 16"/>
          <p:cNvSpPr txBox="1"/>
          <p:nvPr/>
        </p:nvSpPr>
        <p:spPr>
          <a:xfrm>
            <a:off x="4178300" y="3619500"/>
            <a:ext cx="1651000" cy="508000"/>
          </a:xfrm>
          <a:prstGeom prst="rect">
            <a:avLst/>
          </a:prstGeom>
          <a:noFill/>
        </p:spPr>
        <p:txBody>
          <a:bodyPr wrap="square" lIns="0" rIns="0" tIns="0" bIns="0" anchor="ctr">
            <a:spAutoFit/>
          </a:bodyPr>
          <a:lstStyle/>
          <a:p>
            <a:pPr algn="l">
              <a:lnSpc>
                <a:spcPct val="108000"/>
              </a:lnSpc>
              <a:spcBef>
                <a:spcPts val="0"/>
              </a:spcBef>
              <a:spcAft>
                <a:spcPts val="0"/>
              </a:spcAft>
              <a:defRPr sz="2000" b="1">
                <a:solidFill>
                  <a:srgbClr val="16324F"/>
                </a:solidFill>
                <a:latin typeface="Calibri"/>
              </a:defRPr>
            </a:pPr>
            <a:r>
              <a:t>0,3630</a:t>
            </a:r>
          </a:p>
        </p:txBody>
      </p:sp>
      <p:sp>
        <p:nvSpPr>
          <p:cNvPr id="18" name="Rectangle 17"/>
          <p:cNvSpPr/>
          <p:nvPr/>
        </p:nvSpPr>
        <p:spPr>
          <a:xfrm>
            <a:off x="635000" y="4267200"/>
            <a:ext cx="5334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65900" y="1879600"/>
            <a:ext cx="4940300" cy="342900"/>
          </a:xfrm>
          <a:prstGeom prst="rect">
            <a:avLst/>
          </a:prstGeom>
          <a:noFill/>
        </p:spPr>
        <p:txBody>
          <a:bodyPr wrap="square" lIns="0" rIns="0" tIns="0" bIns="0" anchor="ctr">
            <a:spAutoFit/>
          </a:bodyPr>
          <a:lstStyle/>
          <a:p>
            <a:pPr algn="l">
              <a:lnSpc>
                <a:spcPct val="108000"/>
              </a:lnSpc>
              <a:spcBef>
                <a:spcPts val="0"/>
              </a:spcBef>
              <a:spcAft>
                <a:spcPts val="0"/>
              </a:spcAft>
              <a:defRPr sz="1600" b="1">
                <a:solidFill>
                  <a:srgbClr val="16324F"/>
                </a:solidFill>
                <a:latin typeface="Calibri"/>
              </a:defRPr>
            </a:pPr>
            <a:r>
              <a:t>Contrastes en puntos porcentuales</a:t>
            </a:r>
          </a:p>
        </p:txBody>
      </p:sp>
      <p:sp>
        <p:nvSpPr>
          <p:cNvPr id="20" name="Rectangle 19"/>
          <p:cNvSpPr/>
          <p:nvPr/>
        </p:nvSpPr>
        <p:spPr>
          <a:xfrm>
            <a:off x="7502525" y="2730500"/>
            <a:ext cx="12700" cy="19939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299325" y="4800600"/>
            <a:ext cx="4318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-1</a:t>
            </a:r>
          </a:p>
        </p:txBody>
      </p:sp>
      <p:sp>
        <p:nvSpPr>
          <p:cNvPr id="22" name="Rectangle 21"/>
          <p:cNvSpPr/>
          <p:nvPr/>
        </p:nvSpPr>
        <p:spPr>
          <a:xfrm>
            <a:off x="8537575" y="2730500"/>
            <a:ext cx="12700" cy="1993900"/>
          </a:xfrm>
          <a:prstGeom prst="rect">
            <a:avLst/>
          </a:prstGeom>
          <a:solidFill>
            <a:srgbClr val="16324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334375" y="4800600"/>
            <a:ext cx="4318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0</a:t>
            </a:r>
          </a:p>
        </p:txBody>
      </p:sp>
      <p:sp>
        <p:nvSpPr>
          <p:cNvPr id="24" name="Rectangle 23"/>
          <p:cNvSpPr/>
          <p:nvPr/>
        </p:nvSpPr>
        <p:spPr>
          <a:xfrm>
            <a:off x="9572625" y="2730500"/>
            <a:ext cx="12700" cy="19939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9369425" y="4800600"/>
            <a:ext cx="4318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+1</a:t>
            </a:r>
          </a:p>
        </p:txBody>
      </p:sp>
      <p:sp>
        <p:nvSpPr>
          <p:cNvPr id="26" name="Rectangle 25"/>
          <p:cNvSpPr/>
          <p:nvPr/>
        </p:nvSpPr>
        <p:spPr>
          <a:xfrm>
            <a:off x="10607675" y="2730500"/>
            <a:ext cx="12700" cy="19939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10404475" y="4800600"/>
            <a:ext cx="4318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+2</a:t>
            </a:r>
          </a:p>
        </p:txBody>
      </p:sp>
      <p:sp>
        <p:nvSpPr>
          <p:cNvPr id="28" name="TextBox 27"/>
          <p:cNvSpPr txBox="1"/>
          <p:nvPr/>
        </p:nvSpPr>
        <p:spPr>
          <a:xfrm>
            <a:off x="6565900" y="2832100"/>
            <a:ext cx="2667000" cy="266700"/>
          </a:xfrm>
          <a:prstGeom prst="rect">
            <a:avLst/>
          </a:prstGeom>
          <a:noFill/>
        </p:spPr>
        <p:txBody>
          <a:bodyPr wrap="square" lIns="0" rIns="0" tIns="0" bIns="0" anchor="ctr">
            <a:spAutoFit/>
          </a:bodyPr>
          <a:lstStyle/>
          <a:p>
            <a:pPr algn="l">
              <a:lnSpc>
                <a:spcPct val="108000"/>
              </a:lnSpc>
              <a:spcBef>
                <a:spcPts val="0"/>
              </a:spcBef>
              <a:spcAft>
                <a:spcPts val="0"/>
              </a:spcAft>
              <a:defRPr sz="1200" b="0">
                <a:solidFill>
                  <a:srgbClr val="596E80"/>
                </a:solidFill>
                <a:latin typeface="Calibri"/>
              </a:defRPr>
            </a:pPr>
            <a:r>
              <a:t>Historial E</a:t>
            </a:r>
          </a:p>
        </p:txBody>
      </p:sp>
      <p:sp>
        <p:nvSpPr>
          <p:cNvPr id="29" name="Rectangle 28"/>
          <p:cNvSpPr/>
          <p:nvPr/>
        </p:nvSpPr>
        <p:spPr>
          <a:xfrm>
            <a:off x="8251258" y="3124200"/>
            <a:ext cx="2358312" cy="25400"/>
          </a:xfrm>
          <a:prstGeom prst="rect">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9386754" y="3073400"/>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10058400" y="2781300"/>
            <a:ext cx="1270000" cy="304800"/>
          </a:xfrm>
          <a:prstGeom prst="rect">
            <a:avLst/>
          </a:prstGeom>
          <a:noFill/>
        </p:spPr>
        <p:txBody>
          <a:bodyPr wrap="square" lIns="0" rIns="0" tIns="0" bIns="0" anchor="ctr">
            <a:spAutoFit/>
          </a:bodyPr>
          <a:lstStyle/>
          <a:p>
            <a:pPr algn="r">
              <a:lnSpc>
                <a:spcPct val="108000"/>
              </a:lnSpc>
              <a:spcBef>
                <a:spcPts val="0"/>
              </a:spcBef>
              <a:spcAft>
                <a:spcPts val="0"/>
              </a:spcAft>
              <a:defRPr sz="1400" b="1">
                <a:solidFill>
                  <a:srgbClr val="16324F"/>
                </a:solidFill>
                <a:latin typeface="Calibri"/>
              </a:defRPr>
            </a:pPr>
            <a:r>
              <a:t>+0,88 pp</a:t>
            </a:r>
          </a:p>
        </p:txBody>
      </p:sp>
      <p:sp>
        <p:nvSpPr>
          <p:cNvPr id="32" name="TextBox 31"/>
          <p:cNvSpPr txBox="1"/>
          <p:nvPr/>
        </p:nvSpPr>
        <p:spPr>
          <a:xfrm>
            <a:off x="6565900" y="3784600"/>
            <a:ext cx="2667000" cy="266700"/>
          </a:xfrm>
          <a:prstGeom prst="rect">
            <a:avLst/>
          </a:prstGeom>
          <a:noFill/>
        </p:spPr>
        <p:txBody>
          <a:bodyPr wrap="square" lIns="0" rIns="0" tIns="0" bIns="0" anchor="ctr">
            <a:spAutoFit/>
          </a:bodyPr>
          <a:lstStyle/>
          <a:p>
            <a:pPr algn="l">
              <a:lnSpc>
                <a:spcPct val="108000"/>
              </a:lnSpc>
              <a:spcBef>
                <a:spcPts val="0"/>
              </a:spcBef>
              <a:spcAft>
                <a:spcPts val="0"/>
              </a:spcAft>
              <a:defRPr sz="1200" b="0">
                <a:solidFill>
                  <a:srgbClr val="596E80"/>
                </a:solidFill>
                <a:latin typeface="Calibri"/>
              </a:defRPr>
            </a:pPr>
            <a:r>
              <a:t>Fusión con R</a:t>
            </a:r>
          </a:p>
        </p:txBody>
      </p:sp>
      <p:sp>
        <p:nvSpPr>
          <p:cNvPr id="33" name="Rectangle 32"/>
          <p:cNvSpPr/>
          <p:nvPr/>
        </p:nvSpPr>
        <p:spPr>
          <a:xfrm>
            <a:off x="7705421" y="4076700"/>
            <a:ext cx="2252581" cy="25400"/>
          </a:xfrm>
          <a:prstGeom prst="rect">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8659581" y="4025900"/>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10058400" y="3733800"/>
            <a:ext cx="1270000" cy="304800"/>
          </a:xfrm>
          <a:prstGeom prst="rect">
            <a:avLst/>
          </a:prstGeom>
          <a:noFill/>
        </p:spPr>
        <p:txBody>
          <a:bodyPr wrap="square" lIns="0" rIns="0" tIns="0" bIns="0" anchor="ctr">
            <a:spAutoFit/>
          </a:bodyPr>
          <a:lstStyle/>
          <a:p>
            <a:pPr algn="r">
              <a:lnSpc>
                <a:spcPct val="108000"/>
              </a:lnSpc>
              <a:spcBef>
                <a:spcPts val="0"/>
              </a:spcBef>
              <a:spcAft>
                <a:spcPts val="0"/>
              </a:spcAft>
              <a:defRPr sz="1400" b="1">
                <a:solidFill>
                  <a:srgbClr val="16324F"/>
                </a:solidFill>
                <a:latin typeface="Calibri"/>
              </a:defRPr>
            </a:pPr>
            <a:r>
              <a:t>+0,18 pp</a:t>
            </a:r>
          </a:p>
        </p:txBody>
      </p:sp>
      <p:sp>
        <p:nvSpPr>
          <p:cNvPr id="36" name="TextBox 35"/>
          <p:cNvSpPr txBox="1"/>
          <p:nvPr/>
        </p:nvSpPr>
        <p:spPr>
          <a:xfrm>
            <a:off x="635000" y="5435600"/>
            <a:ext cx="10922000" cy="4953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24394C"/>
                </a:solidFill>
                <a:latin typeface="Calibri"/>
              </a:defRPr>
            </a:pPr>
            <a:r>
              <a:t>IC descriptivos por remuestreo de personas; ambos cruzan cero.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254000"/>
            <a:ext cx="10160000" cy="292100"/>
          </a:xfrm>
          <a:prstGeom prst="rect">
            <a:avLst/>
          </a:prstGeom>
          <a:noFill/>
        </p:spPr>
        <p:txBody>
          <a:bodyPr wrap="square" lIns="0" rIns="0" tIns="0" bIns="0" anchor="ctr">
            <a:spAutoFit/>
          </a:bodyPr>
          <a:lstStyle/>
          <a:p>
            <a:pPr algn="l">
              <a:lnSpc>
                <a:spcPct val="108000"/>
              </a:lnSpc>
              <a:spcBef>
                <a:spcPts val="0"/>
              </a:spcBef>
              <a:spcAft>
                <a:spcPts val="0"/>
              </a:spcAft>
              <a:defRPr sz="1100" b="0">
                <a:solidFill>
                  <a:srgbClr val="596E80"/>
                </a:solidFill>
                <a:latin typeface="Calibri"/>
              </a:defRPr>
            </a:pPr>
            <a:r>
              <a:t>Diagnóstico del contraste · activación</a:t>
            </a:r>
          </a:p>
        </p:txBody>
      </p:sp>
      <p:sp>
        <p:nvSpPr>
          <p:cNvPr id="3" name="TextBox 2"/>
          <p:cNvSpPr txBox="1"/>
          <p:nvPr/>
        </p:nvSpPr>
        <p:spPr>
          <a:xfrm>
            <a:off x="635000" y="698500"/>
            <a:ext cx="10922000" cy="838200"/>
          </a:xfrm>
          <a:prstGeom prst="rect">
            <a:avLst/>
          </a:prstGeom>
          <a:noFill/>
        </p:spPr>
        <p:txBody>
          <a:bodyPr wrap="square" lIns="0" rIns="0" tIns="0" bIns="0" anchor="ctr">
            <a:spAutoFit/>
          </a:bodyPr>
          <a:lstStyle/>
          <a:p>
            <a:pPr algn="l">
              <a:lnSpc>
                <a:spcPct val="108000"/>
              </a:lnSpc>
              <a:spcBef>
                <a:spcPts val="0"/>
              </a:spcBef>
              <a:spcAft>
                <a:spcPts val="0"/>
              </a:spcAft>
              <a:defRPr sz="3000" b="0">
                <a:solidFill>
                  <a:srgbClr val="16324F"/>
                </a:solidFill>
                <a:latin typeface="Cambria"/>
              </a:defRPr>
            </a:pPr>
            <a:r>
              <a:t>Con fusión tardía cae el recall de la clase media</a:t>
            </a:r>
          </a:p>
        </p:txBody>
      </p:sp>
      <p:sp>
        <p:nvSpPr>
          <p:cNvPr id="4" name="Rectangle 3"/>
          <p:cNvSpPr/>
          <p:nvPr/>
        </p:nvSpPr>
        <p:spPr>
          <a:xfrm>
            <a:off x="635000" y="61468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35000" y="6235700"/>
            <a:ext cx="10261600" cy="419100"/>
          </a:xfrm>
          <a:prstGeom prst="rect">
            <a:avLst/>
          </a:prstGeom>
          <a:noFill/>
        </p:spPr>
        <p:txBody>
          <a:bodyPr wrap="square" lIns="0" rIns="0" tIns="0" bIns="0" anchor="ctr">
            <a:spAutoFit/>
          </a:bodyPr>
          <a:lstStyle/>
          <a:p>
            <a:pPr algn="l">
              <a:lnSpc>
                <a:spcPct val="108000"/>
              </a:lnSpc>
              <a:spcBef>
                <a:spcPts val="0"/>
              </a:spcBef>
              <a:spcAft>
                <a:spcPts val="0"/>
              </a:spcAft>
              <a:defRPr sz="900" b="0">
                <a:solidFill>
                  <a:srgbClr val="596E80"/>
                </a:solidFill>
                <a:latin typeface="Calibri"/>
              </a:defRPr>
            </a:pPr>
            <a:r>
              <a:t>Fuente: resultados/contraste_temporalidad_fusion_24-10-2026/diagnostico_clases.csv.</a:t>
            </a:r>
          </a:p>
        </p:txBody>
      </p:sp>
      <p:sp>
        <p:nvSpPr>
          <p:cNvPr id="6" name="TextBox 5"/>
          <p:cNvSpPr txBox="1"/>
          <p:nvPr/>
        </p:nvSpPr>
        <p:spPr>
          <a:xfrm>
            <a:off x="11176000" y="6235700"/>
            <a:ext cx="381000" cy="292100"/>
          </a:xfrm>
          <a:prstGeom prst="rect">
            <a:avLst/>
          </a:prstGeom>
          <a:noFill/>
        </p:spPr>
        <p:txBody>
          <a:bodyPr wrap="square" lIns="0" rIns="0" tIns="0" bIns="0" anchor="ctr">
            <a:spAutoFit/>
          </a:bodyPr>
          <a:lstStyle/>
          <a:p>
            <a:pPr algn="r">
              <a:lnSpc>
                <a:spcPct val="108000"/>
              </a:lnSpc>
              <a:spcBef>
                <a:spcPts val="0"/>
              </a:spcBef>
              <a:spcAft>
                <a:spcPts val="0"/>
              </a:spcAft>
              <a:defRPr sz="900" b="0">
                <a:solidFill>
                  <a:srgbClr val="596E80"/>
                </a:solidFill>
                <a:latin typeface="Calibri"/>
              </a:defRPr>
            </a:pPr>
            <a:r>
              <a:t>5</a:t>
            </a:r>
          </a:p>
        </p:txBody>
      </p:sp>
      <p:sp>
        <p:nvSpPr>
          <p:cNvPr id="7" name="TextBox 6"/>
          <p:cNvSpPr txBox="1"/>
          <p:nvPr/>
        </p:nvSpPr>
        <p:spPr>
          <a:xfrm>
            <a:off x="635000" y="1841500"/>
            <a:ext cx="6350000" cy="355600"/>
          </a:xfrm>
          <a:prstGeom prst="rect">
            <a:avLst/>
          </a:prstGeom>
          <a:noFill/>
        </p:spPr>
        <p:txBody>
          <a:bodyPr wrap="square" lIns="0" rIns="0" tIns="0" bIns="0" anchor="ctr">
            <a:spAutoFit/>
          </a:bodyPr>
          <a:lstStyle/>
          <a:p>
            <a:pPr algn="l">
              <a:lnSpc>
                <a:spcPct val="108000"/>
              </a:lnSpc>
              <a:spcBef>
                <a:spcPts val="0"/>
              </a:spcBef>
              <a:spcAft>
                <a:spcPts val="0"/>
              </a:spcAft>
              <a:defRPr sz="1600" b="1">
                <a:solidFill>
                  <a:srgbClr val="16324F"/>
                </a:solidFill>
                <a:latin typeface="Calibri"/>
              </a:defRPr>
            </a:pPr>
            <a:r>
              <a:t>Recall por clase · escala 0–60 %</a:t>
            </a:r>
          </a:p>
        </p:txBody>
      </p:sp>
      <p:sp>
        <p:nvSpPr>
          <p:cNvPr id="8" name="TextBox 7"/>
          <p:cNvSpPr txBox="1"/>
          <p:nvPr/>
        </p:nvSpPr>
        <p:spPr>
          <a:xfrm>
            <a:off x="7874000" y="1854200"/>
            <a:ext cx="889000" cy="317500"/>
          </a:xfrm>
          <a:prstGeom prst="rect">
            <a:avLst/>
          </a:prstGeom>
          <a:noFill/>
        </p:spPr>
        <p:txBody>
          <a:bodyPr wrap="square" lIns="0" rIns="0" tIns="0" bIns="0" anchor="ctr">
            <a:spAutoFit/>
          </a:bodyPr>
          <a:lstStyle/>
          <a:p>
            <a:pPr algn="l">
              <a:lnSpc>
                <a:spcPct val="108000"/>
              </a:lnSpc>
              <a:spcBef>
                <a:spcPts val="0"/>
              </a:spcBef>
              <a:spcAft>
                <a:spcPts val="0"/>
              </a:spcAft>
              <a:defRPr sz="1300" b="1">
                <a:solidFill>
                  <a:srgbClr val="1C5D99"/>
                </a:solidFill>
                <a:latin typeface="Calibri"/>
              </a:defRPr>
            </a:pPr>
            <a:r>
              <a:t>E-R</a:t>
            </a:r>
          </a:p>
        </p:txBody>
      </p:sp>
      <p:sp>
        <p:nvSpPr>
          <p:cNvPr id="9" name="TextBox 8"/>
          <p:cNvSpPr txBox="1"/>
          <p:nvPr/>
        </p:nvSpPr>
        <p:spPr>
          <a:xfrm>
            <a:off x="9055100" y="1854200"/>
            <a:ext cx="889000" cy="317500"/>
          </a:xfrm>
          <a:prstGeom prst="rect">
            <a:avLst/>
          </a:prstGeom>
          <a:noFill/>
        </p:spPr>
        <p:txBody>
          <a:bodyPr wrap="square" lIns="0" rIns="0" tIns="0" bIns="0" anchor="ctr">
            <a:spAutoFit/>
          </a:bodyPr>
          <a:lstStyle/>
          <a:p>
            <a:pPr algn="l">
              <a:lnSpc>
                <a:spcPct val="108000"/>
              </a:lnSpc>
              <a:spcBef>
                <a:spcPts val="0"/>
              </a:spcBef>
              <a:spcAft>
                <a:spcPts val="0"/>
              </a:spcAft>
              <a:defRPr sz="1300" b="1">
                <a:solidFill>
                  <a:srgbClr val="08777C"/>
                </a:solidFill>
                <a:latin typeface="Calibri"/>
              </a:defRPr>
            </a:pPr>
            <a:r>
              <a:t>T-R</a:t>
            </a:r>
          </a:p>
        </p:txBody>
      </p:sp>
      <p:sp>
        <p:nvSpPr>
          <p:cNvPr id="10" name="TextBox 9"/>
          <p:cNvSpPr txBox="1"/>
          <p:nvPr/>
        </p:nvSpPr>
        <p:spPr>
          <a:xfrm>
            <a:off x="635000" y="2197100"/>
            <a:ext cx="8255000" cy="279400"/>
          </a:xfrm>
          <a:prstGeom prst="rect">
            <a:avLst/>
          </a:prstGeom>
          <a:noFill/>
        </p:spPr>
        <p:txBody>
          <a:bodyPr wrap="square" lIns="0" rIns="0" tIns="0" bIns="0" anchor="ctr">
            <a:spAutoFit/>
          </a:bodyPr>
          <a:lstStyle/>
          <a:p>
            <a:pPr algn="l">
              <a:lnSpc>
                <a:spcPct val="108000"/>
              </a:lnSpc>
              <a:spcBef>
                <a:spcPts val="0"/>
              </a:spcBef>
              <a:spcAft>
                <a:spcPts val="0"/>
              </a:spcAft>
              <a:defRPr sz="1300" b="0">
                <a:solidFill>
                  <a:srgbClr val="596E80"/>
                </a:solidFill>
                <a:latin typeface="Calibri"/>
              </a:defRPr>
            </a:pPr>
            <a:r>
              <a:t>E-R: temprana con historial · T-R: tardía con historial</a:t>
            </a:r>
          </a:p>
        </p:txBody>
      </p:sp>
      <p:sp>
        <p:nvSpPr>
          <p:cNvPr id="11" name="TextBox 10"/>
          <p:cNvSpPr txBox="1"/>
          <p:nvPr/>
        </p:nvSpPr>
        <p:spPr>
          <a:xfrm>
            <a:off x="635000" y="2679700"/>
            <a:ext cx="1282700" cy="444500"/>
          </a:xfrm>
          <a:prstGeom prst="rect">
            <a:avLst/>
          </a:prstGeom>
          <a:noFill/>
        </p:spPr>
        <p:txBody>
          <a:bodyPr wrap="square" lIns="0" rIns="0" tIns="0" bIns="0" anchor="ctr">
            <a:spAutoFit/>
          </a:bodyPr>
          <a:lstStyle/>
          <a:p>
            <a:pPr algn="l">
              <a:lnSpc>
                <a:spcPct val="108000"/>
              </a:lnSpc>
              <a:spcBef>
                <a:spcPts val="0"/>
              </a:spcBef>
              <a:spcAft>
                <a:spcPts val="0"/>
              </a:spcAft>
              <a:defRPr sz="1800" b="1">
                <a:solidFill>
                  <a:srgbClr val="24394C"/>
                </a:solidFill>
                <a:latin typeface="Calibri"/>
              </a:defRPr>
            </a:pPr>
            <a:r>
              <a:t>Bajo</a:t>
            </a:r>
          </a:p>
        </p:txBody>
      </p:sp>
      <p:sp>
        <p:nvSpPr>
          <p:cNvPr id="12" name="Rectangle 11"/>
          <p:cNvSpPr/>
          <p:nvPr/>
        </p:nvSpPr>
        <p:spPr>
          <a:xfrm>
            <a:off x="2159000" y="2578100"/>
            <a:ext cx="5207000" cy="165100"/>
          </a:xfrm>
          <a:prstGeom prst="rect">
            <a:avLst/>
          </a:prstGeom>
          <a:solidFill>
            <a:srgbClr val="EAF1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2159000" y="2578100"/>
            <a:ext cx="4211111" cy="165100"/>
          </a:xfrm>
          <a:prstGeom prst="rect">
            <a:avLst/>
          </a:prstGeom>
          <a:solidFill>
            <a:srgbClr val="1C5D9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2159000" y="2857500"/>
            <a:ext cx="5207000" cy="165100"/>
          </a:xfrm>
          <a:prstGeom prst="rect">
            <a:avLst/>
          </a:prstGeom>
          <a:solidFill>
            <a:srgbClr val="EAF1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2159000" y="2857500"/>
            <a:ext cx="4905897" cy="165100"/>
          </a:xfrm>
          <a:prstGeom prst="rect">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874000" y="2540000"/>
            <a:ext cx="1104900" cy="2921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16324F"/>
                </a:solidFill>
                <a:latin typeface="Calibri"/>
              </a:defRPr>
            </a:pPr>
            <a:r>
              <a:t>48,5 %</a:t>
            </a:r>
          </a:p>
        </p:txBody>
      </p:sp>
      <p:sp>
        <p:nvSpPr>
          <p:cNvPr id="17" name="TextBox 16"/>
          <p:cNvSpPr txBox="1"/>
          <p:nvPr/>
        </p:nvSpPr>
        <p:spPr>
          <a:xfrm>
            <a:off x="9055100" y="2806700"/>
            <a:ext cx="1104900" cy="2921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16324F"/>
                </a:solidFill>
                <a:latin typeface="Calibri"/>
              </a:defRPr>
            </a:pPr>
            <a:r>
              <a:t>56,5 %</a:t>
            </a:r>
          </a:p>
        </p:txBody>
      </p:sp>
      <p:sp>
        <p:nvSpPr>
          <p:cNvPr id="18" name="TextBox 17"/>
          <p:cNvSpPr txBox="1"/>
          <p:nvPr/>
        </p:nvSpPr>
        <p:spPr>
          <a:xfrm>
            <a:off x="635000" y="3683000"/>
            <a:ext cx="1282700" cy="444500"/>
          </a:xfrm>
          <a:prstGeom prst="rect">
            <a:avLst/>
          </a:prstGeom>
          <a:noFill/>
        </p:spPr>
        <p:txBody>
          <a:bodyPr wrap="square" lIns="0" rIns="0" tIns="0" bIns="0" anchor="ctr">
            <a:spAutoFit/>
          </a:bodyPr>
          <a:lstStyle/>
          <a:p>
            <a:pPr algn="l">
              <a:lnSpc>
                <a:spcPct val="108000"/>
              </a:lnSpc>
              <a:spcBef>
                <a:spcPts val="0"/>
              </a:spcBef>
              <a:spcAft>
                <a:spcPts val="0"/>
              </a:spcAft>
              <a:defRPr sz="1800" b="1">
                <a:solidFill>
                  <a:srgbClr val="24394C"/>
                </a:solidFill>
                <a:latin typeface="Calibri"/>
              </a:defRPr>
            </a:pPr>
            <a:r>
              <a:t>Medio</a:t>
            </a:r>
          </a:p>
        </p:txBody>
      </p:sp>
      <p:sp>
        <p:nvSpPr>
          <p:cNvPr id="19" name="Rectangle 18"/>
          <p:cNvSpPr/>
          <p:nvPr/>
        </p:nvSpPr>
        <p:spPr>
          <a:xfrm>
            <a:off x="2159000" y="3581400"/>
            <a:ext cx="5207000" cy="165100"/>
          </a:xfrm>
          <a:prstGeom prst="rect">
            <a:avLst/>
          </a:prstGeom>
          <a:solidFill>
            <a:srgbClr val="EAF1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2159000" y="3581400"/>
            <a:ext cx="2029982" cy="165100"/>
          </a:xfrm>
          <a:prstGeom prst="rect">
            <a:avLst/>
          </a:prstGeom>
          <a:solidFill>
            <a:srgbClr val="1C5D9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2159000" y="3860800"/>
            <a:ext cx="5207000" cy="165100"/>
          </a:xfrm>
          <a:prstGeom prst="rect">
            <a:avLst/>
          </a:prstGeom>
          <a:solidFill>
            <a:srgbClr val="EAF1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2159000" y="3860800"/>
            <a:ext cx="714797" cy="165100"/>
          </a:xfrm>
          <a:prstGeom prst="rect">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874000" y="3543300"/>
            <a:ext cx="1104900" cy="2921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16324F"/>
                </a:solidFill>
                <a:latin typeface="Calibri"/>
              </a:defRPr>
            </a:pPr>
            <a:r>
              <a:t>23,4 %</a:t>
            </a:r>
          </a:p>
        </p:txBody>
      </p:sp>
      <p:sp>
        <p:nvSpPr>
          <p:cNvPr id="24" name="TextBox 23"/>
          <p:cNvSpPr txBox="1"/>
          <p:nvPr/>
        </p:nvSpPr>
        <p:spPr>
          <a:xfrm>
            <a:off x="9055100" y="3810000"/>
            <a:ext cx="1104900" cy="2921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16324F"/>
                </a:solidFill>
                <a:latin typeface="Calibri"/>
              </a:defRPr>
            </a:pPr>
            <a:r>
              <a:t>8,2 %</a:t>
            </a:r>
          </a:p>
        </p:txBody>
      </p:sp>
      <p:sp>
        <p:nvSpPr>
          <p:cNvPr id="25" name="TextBox 24"/>
          <p:cNvSpPr txBox="1"/>
          <p:nvPr/>
        </p:nvSpPr>
        <p:spPr>
          <a:xfrm>
            <a:off x="635000" y="4686300"/>
            <a:ext cx="1282700" cy="444500"/>
          </a:xfrm>
          <a:prstGeom prst="rect">
            <a:avLst/>
          </a:prstGeom>
          <a:noFill/>
        </p:spPr>
        <p:txBody>
          <a:bodyPr wrap="square" lIns="0" rIns="0" tIns="0" bIns="0" anchor="ctr">
            <a:spAutoFit/>
          </a:bodyPr>
          <a:lstStyle/>
          <a:p>
            <a:pPr algn="l">
              <a:lnSpc>
                <a:spcPct val="108000"/>
              </a:lnSpc>
              <a:spcBef>
                <a:spcPts val="0"/>
              </a:spcBef>
              <a:spcAft>
                <a:spcPts val="0"/>
              </a:spcAft>
              <a:defRPr sz="1800" b="1">
                <a:solidFill>
                  <a:srgbClr val="24394C"/>
                </a:solidFill>
                <a:latin typeface="Calibri"/>
              </a:defRPr>
            </a:pPr>
            <a:r>
              <a:t>Alto</a:t>
            </a:r>
          </a:p>
        </p:txBody>
      </p:sp>
      <p:sp>
        <p:nvSpPr>
          <p:cNvPr id="26" name="Rectangle 25"/>
          <p:cNvSpPr/>
          <p:nvPr/>
        </p:nvSpPr>
        <p:spPr>
          <a:xfrm>
            <a:off x="2159000" y="4584700"/>
            <a:ext cx="5207000" cy="165100"/>
          </a:xfrm>
          <a:prstGeom prst="rect">
            <a:avLst/>
          </a:prstGeom>
          <a:solidFill>
            <a:srgbClr val="EAF1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ectangle 26"/>
          <p:cNvSpPr/>
          <p:nvPr/>
        </p:nvSpPr>
        <p:spPr>
          <a:xfrm>
            <a:off x="2159000" y="4584700"/>
            <a:ext cx="3093453" cy="165100"/>
          </a:xfrm>
          <a:prstGeom prst="rect">
            <a:avLst/>
          </a:prstGeom>
          <a:solidFill>
            <a:srgbClr val="1C5D9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2159000" y="4864100"/>
            <a:ext cx="5207000" cy="165100"/>
          </a:xfrm>
          <a:prstGeom prst="rect">
            <a:avLst/>
          </a:prstGeom>
          <a:solidFill>
            <a:srgbClr val="EAF1F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Rectangle 28"/>
          <p:cNvSpPr/>
          <p:nvPr/>
        </p:nvSpPr>
        <p:spPr>
          <a:xfrm>
            <a:off x="2159000" y="4864100"/>
            <a:ext cx="3604235" cy="165100"/>
          </a:xfrm>
          <a:prstGeom prst="rect">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874000" y="4546600"/>
            <a:ext cx="1104900" cy="2921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16324F"/>
                </a:solidFill>
                <a:latin typeface="Calibri"/>
              </a:defRPr>
            </a:pPr>
            <a:r>
              <a:t>35,6 %</a:t>
            </a:r>
          </a:p>
        </p:txBody>
      </p:sp>
      <p:sp>
        <p:nvSpPr>
          <p:cNvPr id="31" name="TextBox 30"/>
          <p:cNvSpPr txBox="1"/>
          <p:nvPr/>
        </p:nvSpPr>
        <p:spPr>
          <a:xfrm>
            <a:off x="9055100" y="4813300"/>
            <a:ext cx="1104900" cy="292100"/>
          </a:xfrm>
          <a:prstGeom prst="rect">
            <a:avLst/>
          </a:prstGeom>
          <a:noFill/>
        </p:spPr>
        <p:txBody>
          <a:bodyPr wrap="square" lIns="0" rIns="0" tIns="0" bIns="0" anchor="ctr">
            <a:spAutoFit/>
          </a:bodyPr>
          <a:lstStyle/>
          <a:p>
            <a:pPr algn="l">
              <a:lnSpc>
                <a:spcPct val="108000"/>
              </a:lnSpc>
              <a:spcBef>
                <a:spcPts val="0"/>
              </a:spcBef>
              <a:spcAft>
                <a:spcPts val="0"/>
              </a:spcAft>
              <a:defRPr sz="1600" b="0">
                <a:solidFill>
                  <a:srgbClr val="16324F"/>
                </a:solidFill>
                <a:latin typeface="Calibri"/>
              </a:defRPr>
            </a:pPr>
            <a:r>
              <a:t>41,5 %</a:t>
            </a:r>
          </a:p>
        </p:txBody>
      </p:sp>
      <p:sp>
        <p:nvSpPr>
          <p:cNvPr id="32" name="TextBox 31"/>
          <p:cNvSpPr txBox="1"/>
          <p:nvPr/>
        </p:nvSpPr>
        <p:spPr>
          <a:xfrm>
            <a:off x="635000" y="5689600"/>
            <a:ext cx="10922000" cy="381000"/>
          </a:xfrm>
          <a:prstGeom prst="rect">
            <a:avLst/>
          </a:prstGeom>
          <a:noFill/>
        </p:spPr>
        <p:txBody>
          <a:bodyPr wrap="square" lIns="0" rIns="0" tIns="0" bIns="0" anchor="ctr">
            <a:spAutoFit/>
          </a:bodyPr>
          <a:lstStyle/>
          <a:p>
            <a:pPr algn="l">
              <a:lnSpc>
                <a:spcPct val="108000"/>
              </a:lnSpc>
              <a:spcBef>
                <a:spcPts val="0"/>
              </a:spcBef>
              <a:spcAft>
                <a:spcPts val="0"/>
              </a:spcAft>
              <a:defRPr sz="1700" b="0">
                <a:solidFill>
                  <a:srgbClr val="24394C"/>
                </a:solidFill>
                <a:latin typeface="Calibri"/>
              </a:defRPr>
            </a:pPr>
            <a:r>
              <a:t>Con T-R la clase media cae de 23,4 % a 8,2 %, aunque la BA global cambia poco.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254000"/>
            <a:ext cx="10160000" cy="292100"/>
          </a:xfrm>
          <a:prstGeom prst="rect">
            <a:avLst/>
          </a:prstGeom>
          <a:noFill/>
        </p:spPr>
        <p:txBody>
          <a:bodyPr wrap="square" lIns="0" rIns="0" tIns="0" bIns="0" anchor="ctr">
            <a:spAutoFit/>
          </a:bodyPr>
          <a:lstStyle/>
          <a:p>
            <a:pPr algn="l">
              <a:lnSpc>
                <a:spcPct val="108000"/>
              </a:lnSpc>
              <a:spcBef>
                <a:spcPts val="0"/>
              </a:spcBef>
              <a:spcAft>
                <a:spcPts val="0"/>
              </a:spcAft>
              <a:defRPr sz="1100" b="0">
                <a:solidFill>
                  <a:srgbClr val="596E80"/>
                </a:solidFill>
                <a:latin typeface="Calibri"/>
              </a:defRPr>
            </a:pPr>
            <a:r>
              <a:t>Ridge de activación · evaluación adicional</a:t>
            </a:r>
          </a:p>
        </p:txBody>
      </p:sp>
      <p:sp>
        <p:nvSpPr>
          <p:cNvPr id="3" name="TextBox 2"/>
          <p:cNvSpPr txBox="1"/>
          <p:nvPr/>
        </p:nvSpPr>
        <p:spPr>
          <a:xfrm>
            <a:off x="635000" y="698500"/>
            <a:ext cx="10922000" cy="838200"/>
          </a:xfrm>
          <a:prstGeom prst="rect">
            <a:avLst/>
          </a:prstGeom>
          <a:noFill/>
        </p:spPr>
        <p:txBody>
          <a:bodyPr wrap="square" lIns="0" rIns="0" tIns="0" bIns="0" anchor="ctr">
            <a:spAutoFit/>
          </a:bodyPr>
          <a:lstStyle/>
          <a:p>
            <a:pPr algn="l">
              <a:lnSpc>
                <a:spcPct val="108000"/>
              </a:lnSpc>
              <a:spcBef>
                <a:spcPts val="0"/>
              </a:spcBef>
              <a:spcAft>
                <a:spcPts val="0"/>
              </a:spcAft>
              <a:defRPr sz="3000" b="0">
                <a:solidFill>
                  <a:srgbClr val="16324F"/>
                </a:solidFill>
                <a:latin typeface="Cambria"/>
              </a:defRPr>
            </a:pPr>
            <a:r>
              <a:t>En test, Ridge queda cerca de 1/k</a:t>
            </a:r>
          </a:p>
        </p:txBody>
      </p:sp>
      <p:sp>
        <p:nvSpPr>
          <p:cNvPr id="4" name="Rectangle 3"/>
          <p:cNvSpPr/>
          <p:nvPr/>
        </p:nvSpPr>
        <p:spPr>
          <a:xfrm>
            <a:off x="635000" y="61468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35000" y="6235700"/>
            <a:ext cx="10261600" cy="419100"/>
          </a:xfrm>
          <a:prstGeom prst="rect">
            <a:avLst/>
          </a:prstGeom>
          <a:noFill/>
        </p:spPr>
        <p:txBody>
          <a:bodyPr wrap="square" lIns="0" rIns="0" tIns="0" bIns="0" anchor="ctr">
            <a:spAutoFit/>
          </a:bodyPr>
          <a:lstStyle/>
          <a:p>
            <a:pPr algn="l">
              <a:lnSpc>
                <a:spcPct val="108000"/>
              </a:lnSpc>
              <a:spcBef>
                <a:spcPts val="0"/>
              </a:spcBef>
              <a:spcAft>
                <a:spcPts val="0"/>
              </a:spcAft>
              <a:defRPr sz="900" b="0">
                <a:solidFill>
                  <a:srgbClr val="596E80"/>
                </a:solidFill>
                <a:latin typeface="Calibri"/>
              </a:defRPr>
            </a:pPr>
            <a:r>
              <a:t>Fuentes: Evaluacion_Independiente_y_Validez_24-10-2026.md; Robustez_Sin_Cohorte_Nueva_24-10-2026.md.</a:t>
            </a:r>
          </a:p>
        </p:txBody>
      </p:sp>
      <p:sp>
        <p:nvSpPr>
          <p:cNvPr id="6" name="TextBox 5"/>
          <p:cNvSpPr txBox="1"/>
          <p:nvPr/>
        </p:nvSpPr>
        <p:spPr>
          <a:xfrm>
            <a:off x="11176000" y="6235700"/>
            <a:ext cx="381000" cy="292100"/>
          </a:xfrm>
          <a:prstGeom prst="rect">
            <a:avLst/>
          </a:prstGeom>
          <a:noFill/>
        </p:spPr>
        <p:txBody>
          <a:bodyPr wrap="square" lIns="0" rIns="0" tIns="0" bIns="0" anchor="ctr">
            <a:spAutoFit/>
          </a:bodyPr>
          <a:lstStyle/>
          <a:p>
            <a:pPr algn="r">
              <a:lnSpc>
                <a:spcPct val="108000"/>
              </a:lnSpc>
              <a:spcBef>
                <a:spcPts val="0"/>
              </a:spcBef>
              <a:spcAft>
                <a:spcPts val="0"/>
              </a:spcAft>
              <a:defRPr sz="900" b="0">
                <a:solidFill>
                  <a:srgbClr val="596E80"/>
                </a:solidFill>
                <a:latin typeface="Calibri"/>
              </a:defRPr>
            </a:pPr>
            <a:r>
              <a:t>6</a:t>
            </a:r>
          </a:p>
        </p:txBody>
      </p:sp>
      <p:sp>
        <p:nvSpPr>
          <p:cNvPr id="7" name="TextBox 6"/>
          <p:cNvSpPr txBox="1"/>
          <p:nvPr/>
        </p:nvSpPr>
        <p:spPr>
          <a:xfrm>
            <a:off x="635000" y="1993900"/>
            <a:ext cx="10922000" cy="342900"/>
          </a:xfrm>
          <a:prstGeom prst="rect">
            <a:avLst/>
          </a:prstGeom>
          <a:noFill/>
        </p:spPr>
        <p:txBody>
          <a:bodyPr wrap="square" lIns="0" rIns="0" tIns="0" bIns="0" anchor="ctr">
            <a:spAutoFit/>
          </a:bodyPr>
          <a:lstStyle/>
          <a:p>
            <a:pPr algn="l">
              <a:lnSpc>
                <a:spcPct val="108000"/>
              </a:lnSpc>
              <a:spcBef>
                <a:spcPts val="0"/>
              </a:spcBef>
              <a:spcAft>
                <a:spcPts val="0"/>
              </a:spcAft>
              <a:defRPr sz="1600" b="1">
                <a:solidFill>
                  <a:srgbClr val="16324F"/>
                </a:solidFill>
                <a:latin typeface="Calibri"/>
              </a:defRPr>
            </a:pPr>
            <a:r>
              <a:t>BA macro por persona</a:t>
            </a:r>
          </a:p>
        </p:txBody>
      </p:sp>
      <p:sp>
        <p:nvSpPr>
          <p:cNvPr id="8" name="Rectangle 7"/>
          <p:cNvSpPr/>
          <p:nvPr/>
        </p:nvSpPr>
        <p:spPr>
          <a:xfrm>
            <a:off x="635000" y="25400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35000" y="2616200"/>
            <a:ext cx="7620000" cy="609600"/>
          </a:xfrm>
          <a:prstGeom prst="rect">
            <a:avLst/>
          </a:prstGeom>
          <a:noFill/>
        </p:spPr>
        <p:txBody>
          <a:bodyPr wrap="square" lIns="0" rIns="0" tIns="0" bIns="0" anchor="ctr">
            <a:spAutoFit/>
          </a:bodyPr>
          <a:lstStyle/>
          <a:p>
            <a:pPr algn="l">
              <a:lnSpc>
                <a:spcPct val="108000"/>
              </a:lnSpc>
              <a:spcBef>
                <a:spcPts val="0"/>
              </a:spcBef>
              <a:spcAft>
                <a:spcPts val="0"/>
              </a:spcAft>
              <a:defRPr sz="2000" b="0">
                <a:solidFill>
                  <a:srgbClr val="24394C"/>
                </a:solidFill>
                <a:latin typeface="Calibri"/>
              </a:defRPr>
            </a:pPr>
            <a:r>
              <a:t>Train · fuera de fold</a:t>
            </a:r>
          </a:p>
        </p:txBody>
      </p:sp>
      <p:sp>
        <p:nvSpPr>
          <p:cNvPr id="10" name="TextBox 9"/>
          <p:cNvSpPr txBox="1"/>
          <p:nvPr/>
        </p:nvSpPr>
        <p:spPr>
          <a:xfrm>
            <a:off x="8636000" y="2616200"/>
            <a:ext cx="2908300" cy="609600"/>
          </a:xfrm>
          <a:prstGeom prst="rect">
            <a:avLst/>
          </a:prstGeom>
          <a:noFill/>
        </p:spPr>
        <p:txBody>
          <a:bodyPr wrap="square" lIns="0" rIns="0" tIns="0" bIns="0" anchor="ctr">
            <a:spAutoFit/>
          </a:bodyPr>
          <a:lstStyle/>
          <a:p>
            <a:pPr algn="r">
              <a:lnSpc>
                <a:spcPct val="108000"/>
              </a:lnSpc>
              <a:spcBef>
                <a:spcPts val="0"/>
              </a:spcBef>
              <a:spcAft>
                <a:spcPts val="0"/>
              </a:spcAft>
              <a:defRPr sz="2800" b="1">
                <a:solidFill>
                  <a:srgbClr val="16324F"/>
                </a:solidFill>
                <a:latin typeface="Calibri"/>
              </a:defRPr>
            </a:pPr>
            <a:r>
              <a:t>0,3843</a:t>
            </a:r>
          </a:p>
        </p:txBody>
      </p:sp>
      <p:sp>
        <p:nvSpPr>
          <p:cNvPr id="11" name="Rectangle 10"/>
          <p:cNvSpPr/>
          <p:nvPr/>
        </p:nvSpPr>
        <p:spPr>
          <a:xfrm>
            <a:off x="635000" y="33782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35000" y="3454400"/>
            <a:ext cx="7620000" cy="609600"/>
          </a:xfrm>
          <a:prstGeom prst="rect">
            <a:avLst/>
          </a:prstGeom>
          <a:noFill/>
        </p:spPr>
        <p:txBody>
          <a:bodyPr wrap="square" lIns="0" rIns="0" tIns="0" bIns="0" anchor="ctr">
            <a:spAutoFit/>
          </a:bodyPr>
          <a:lstStyle/>
          <a:p>
            <a:pPr algn="l">
              <a:lnSpc>
                <a:spcPct val="108000"/>
              </a:lnSpc>
              <a:spcBef>
                <a:spcPts val="0"/>
              </a:spcBef>
              <a:spcAft>
                <a:spcPts val="0"/>
              </a:spcAft>
              <a:defRPr sz="2000" b="0">
                <a:solidFill>
                  <a:srgbClr val="24394C"/>
                </a:solidFill>
                <a:latin typeface="Calibri"/>
              </a:defRPr>
            </a:pPr>
            <a:r>
              <a:t>Test · ensamble fijo</a:t>
            </a:r>
          </a:p>
        </p:txBody>
      </p:sp>
      <p:sp>
        <p:nvSpPr>
          <p:cNvPr id="13" name="TextBox 12"/>
          <p:cNvSpPr txBox="1"/>
          <p:nvPr/>
        </p:nvSpPr>
        <p:spPr>
          <a:xfrm>
            <a:off x="8636000" y="3454400"/>
            <a:ext cx="2908300" cy="609600"/>
          </a:xfrm>
          <a:prstGeom prst="rect">
            <a:avLst/>
          </a:prstGeom>
          <a:noFill/>
        </p:spPr>
        <p:txBody>
          <a:bodyPr wrap="square" lIns="0" rIns="0" tIns="0" bIns="0" anchor="ctr">
            <a:spAutoFit/>
          </a:bodyPr>
          <a:lstStyle/>
          <a:p>
            <a:pPr algn="r">
              <a:lnSpc>
                <a:spcPct val="108000"/>
              </a:lnSpc>
              <a:spcBef>
                <a:spcPts val="0"/>
              </a:spcBef>
              <a:spcAft>
                <a:spcPts val="0"/>
              </a:spcAft>
              <a:defRPr sz="2800" b="1">
                <a:solidFill>
                  <a:srgbClr val="16324F"/>
                </a:solidFill>
                <a:latin typeface="Calibri"/>
              </a:defRPr>
            </a:pPr>
            <a:r>
              <a:t>0,3557</a:t>
            </a:r>
          </a:p>
        </p:txBody>
      </p:sp>
      <p:sp>
        <p:nvSpPr>
          <p:cNvPr id="14" name="Rectangle 13"/>
          <p:cNvSpPr/>
          <p:nvPr/>
        </p:nvSpPr>
        <p:spPr>
          <a:xfrm>
            <a:off x="635000" y="42164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35000" y="4292600"/>
            <a:ext cx="7620000" cy="609600"/>
          </a:xfrm>
          <a:prstGeom prst="rect">
            <a:avLst/>
          </a:prstGeom>
          <a:noFill/>
        </p:spPr>
        <p:txBody>
          <a:bodyPr wrap="square" lIns="0" rIns="0" tIns="0" bIns="0" anchor="ctr">
            <a:spAutoFit/>
          </a:bodyPr>
          <a:lstStyle/>
          <a:p>
            <a:pPr algn="l">
              <a:lnSpc>
                <a:spcPct val="108000"/>
              </a:lnSpc>
              <a:spcBef>
                <a:spcPts val="0"/>
              </a:spcBef>
              <a:spcAft>
                <a:spcPts val="0"/>
              </a:spcAft>
              <a:defRPr sz="2000" b="0">
                <a:solidFill>
                  <a:srgbClr val="24394C"/>
                </a:solidFill>
                <a:latin typeface="Calibri"/>
              </a:defRPr>
            </a:pPr>
            <a:r>
              <a:t>Referencia 1/k · test</a:t>
            </a:r>
          </a:p>
        </p:txBody>
      </p:sp>
      <p:sp>
        <p:nvSpPr>
          <p:cNvPr id="16" name="TextBox 15"/>
          <p:cNvSpPr txBox="1"/>
          <p:nvPr/>
        </p:nvSpPr>
        <p:spPr>
          <a:xfrm>
            <a:off x="8636000" y="4292600"/>
            <a:ext cx="2908300" cy="609600"/>
          </a:xfrm>
          <a:prstGeom prst="rect">
            <a:avLst/>
          </a:prstGeom>
          <a:noFill/>
        </p:spPr>
        <p:txBody>
          <a:bodyPr wrap="square" lIns="0" rIns="0" tIns="0" bIns="0" anchor="ctr">
            <a:spAutoFit/>
          </a:bodyPr>
          <a:lstStyle/>
          <a:p>
            <a:pPr algn="r">
              <a:lnSpc>
                <a:spcPct val="108000"/>
              </a:lnSpc>
              <a:spcBef>
                <a:spcPts val="0"/>
              </a:spcBef>
              <a:spcAft>
                <a:spcPts val="0"/>
              </a:spcAft>
              <a:defRPr sz="2800" b="1">
                <a:solidFill>
                  <a:srgbClr val="16324F"/>
                </a:solidFill>
                <a:latin typeface="Calibri"/>
              </a:defRPr>
            </a:pPr>
            <a:r>
              <a:t>0,3542</a:t>
            </a:r>
          </a:p>
        </p:txBody>
      </p:sp>
      <p:sp>
        <p:nvSpPr>
          <p:cNvPr id="17" name="Rectangle 16"/>
          <p:cNvSpPr/>
          <p:nvPr/>
        </p:nvSpPr>
        <p:spPr>
          <a:xfrm>
            <a:off x="635000" y="51308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35000" y="5308600"/>
            <a:ext cx="10922000" cy="685800"/>
          </a:xfrm>
          <a:prstGeom prst="rect">
            <a:avLst/>
          </a:prstGeom>
          <a:noFill/>
        </p:spPr>
        <p:txBody>
          <a:bodyPr wrap="square" lIns="0" rIns="0" tIns="0" bIns="0" anchor="ctr">
            <a:spAutoFit/>
          </a:bodyPr>
          <a:lstStyle/>
          <a:p>
            <a:pPr algn="l">
              <a:lnSpc>
                <a:spcPct val="108000"/>
              </a:lnSpc>
              <a:spcBef>
                <a:spcPts val="0"/>
              </a:spcBef>
              <a:spcAft>
                <a:spcPts val="0"/>
              </a:spcAft>
              <a:defRPr sz="1800" b="1">
                <a:solidFill>
                  <a:srgbClr val="08777C"/>
                </a:solidFill>
                <a:latin typeface="Calibri"/>
              </a:defRPr>
            </a:pPr>
            <a:r>
              <a:t>4 de 8 personas superan 1/k. Recall de la clase media en test: 21,8 %.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254000"/>
            <a:ext cx="10160000" cy="292100"/>
          </a:xfrm>
          <a:prstGeom prst="rect">
            <a:avLst/>
          </a:prstGeom>
          <a:noFill/>
        </p:spPr>
        <p:txBody>
          <a:bodyPr wrap="square" lIns="0" rIns="0" tIns="0" bIns="0" anchor="ctr">
            <a:spAutoFit/>
          </a:bodyPr>
          <a:lstStyle/>
          <a:p>
            <a:pPr algn="l">
              <a:lnSpc>
                <a:spcPct val="108000"/>
              </a:lnSpc>
              <a:spcBef>
                <a:spcPts val="0"/>
              </a:spcBef>
              <a:spcAft>
                <a:spcPts val="0"/>
              </a:spcAft>
              <a:defRPr sz="1100" b="0">
                <a:solidFill>
                  <a:srgbClr val="596E80"/>
                </a:solidFill>
                <a:latin typeface="Calibri"/>
              </a:defRPr>
            </a:pPr>
            <a:r>
              <a:t>Control negativo temporal · train</a:t>
            </a:r>
          </a:p>
        </p:txBody>
      </p:sp>
      <p:sp>
        <p:nvSpPr>
          <p:cNvPr id="3" name="TextBox 2"/>
          <p:cNvSpPr txBox="1"/>
          <p:nvPr/>
        </p:nvSpPr>
        <p:spPr>
          <a:xfrm>
            <a:off x="635000" y="698500"/>
            <a:ext cx="10922000" cy="838200"/>
          </a:xfrm>
          <a:prstGeom prst="rect">
            <a:avLst/>
          </a:prstGeom>
          <a:noFill/>
        </p:spPr>
        <p:txBody>
          <a:bodyPr wrap="square" lIns="0" rIns="0" tIns="0" bIns="0" anchor="ctr">
            <a:spAutoFit/>
          </a:bodyPr>
          <a:lstStyle/>
          <a:p>
            <a:pPr algn="l">
              <a:lnSpc>
                <a:spcPct val="108000"/>
              </a:lnSpc>
              <a:spcBef>
                <a:spcPts val="0"/>
              </a:spcBef>
              <a:spcAft>
                <a:spcPts val="0"/>
              </a:spcAft>
              <a:defRPr sz="3000" b="0">
                <a:solidFill>
                  <a:srgbClr val="16324F"/>
                </a:solidFill>
                <a:latin typeface="Cambria"/>
              </a:defRPr>
            </a:pPr>
            <a:r>
              <a:t>Desplazar la etiqueta GSR reduce la BA</a:t>
            </a:r>
          </a:p>
        </p:txBody>
      </p:sp>
      <p:sp>
        <p:nvSpPr>
          <p:cNvPr id="4" name="Rectangle 3"/>
          <p:cNvSpPr/>
          <p:nvPr/>
        </p:nvSpPr>
        <p:spPr>
          <a:xfrm>
            <a:off x="635000" y="61468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35000" y="6235700"/>
            <a:ext cx="10261600" cy="419100"/>
          </a:xfrm>
          <a:prstGeom prst="rect">
            <a:avLst/>
          </a:prstGeom>
          <a:noFill/>
        </p:spPr>
        <p:txBody>
          <a:bodyPr wrap="square" lIns="0" rIns="0" tIns="0" bIns="0" anchor="ctr">
            <a:spAutoFit/>
          </a:bodyPr>
          <a:lstStyle/>
          <a:p>
            <a:pPr algn="l">
              <a:lnSpc>
                <a:spcPct val="108000"/>
              </a:lnSpc>
              <a:spcBef>
                <a:spcPts val="0"/>
              </a:spcBef>
              <a:spcAft>
                <a:spcPts val="0"/>
              </a:spcAft>
              <a:defRPr sz="900" b="0">
                <a:solidFill>
                  <a:srgbClr val="596E80"/>
                </a:solidFill>
                <a:latin typeface="Calibri"/>
              </a:defRPr>
            </a:pPr>
            <a:r>
              <a:t>Fuente: resultados/control_negativo_temporal_24-10-2026/metricas_repeticiones.csv.</a:t>
            </a:r>
          </a:p>
        </p:txBody>
      </p:sp>
      <p:sp>
        <p:nvSpPr>
          <p:cNvPr id="6" name="TextBox 5"/>
          <p:cNvSpPr txBox="1"/>
          <p:nvPr/>
        </p:nvSpPr>
        <p:spPr>
          <a:xfrm>
            <a:off x="11176000" y="6235700"/>
            <a:ext cx="381000" cy="292100"/>
          </a:xfrm>
          <a:prstGeom prst="rect">
            <a:avLst/>
          </a:prstGeom>
          <a:noFill/>
        </p:spPr>
        <p:txBody>
          <a:bodyPr wrap="square" lIns="0" rIns="0" tIns="0" bIns="0" anchor="ctr">
            <a:spAutoFit/>
          </a:bodyPr>
          <a:lstStyle/>
          <a:p>
            <a:pPr algn="r">
              <a:lnSpc>
                <a:spcPct val="108000"/>
              </a:lnSpc>
              <a:spcBef>
                <a:spcPts val="0"/>
              </a:spcBef>
              <a:spcAft>
                <a:spcPts val="0"/>
              </a:spcAft>
              <a:defRPr sz="900" b="0">
                <a:solidFill>
                  <a:srgbClr val="596E80"/>
                </a:solidFill>
                <a:latin typeface="Calibri"/>
              </a:defRPr>
            </a:pPr>
            <a:r>
              <a:t>7</a:t>
            </a:r>
          </a:p>
        </p:txBody>
      </p:sp>
      <p:sp>
        <p:nvSpPr>
          <p:cNvPr id="7" name="TextBox 6"/>
          <p:cNvSpPr txBox="1"/>
          <p:nvPr/>
        </p:nvSpPr>
        <p:spPr>
          <a:xfrm>
            <a:off x="635000" y="1790700"/>
            <a:ext cx="7239000" cy="292100"/>
          </a:xfrm>
          <a:prstGeom prst="rect">
            <a:avLst/>
          </a:prstGeom>
          <a:noFill/>
        </p:spPr>
        <p:txBody>
          <a:bodyPr wrap="square" lIns="0" rIns="0" tIns="0" bIns="0" anchor="ctr">
            <a:spAutoFit/>
          </a:bodyPr>
          <a:lstStyle/>
          <a:p>
            <a:pPr algn="l">
              <a:lnSpc>
                <a:spcPct val="108000"/>
              </a:lnSpc>
              <a:spcBef>
                <a:spcPts val="0"/>
              </a:spcBef>
              <a:spcAft>
                <a:spcPts val="0"/>
              </a:spcAft>
              <a:defRPr sz="1300" b="0">
                <a:solidFill>
                  <a:srgbClr val="596E80"/>
                </a:solidFill>
                <a:latin typeface="Calibri"/>
              </a:defRPr>
            </a:pPr>
            <a:r>
              <a:t>BA macro por persona · eje 0,30–0,40</a:t>
            </a:r>
          </a:p>
        </p:txBody>
      </p:sp>
      <p:sp>
        <p:nvSpPr>
          <p:cNvPr id="8" name="Rectangle 7"/>
          <p:cNvSpPr/>
          <p:nvPr/>
        </p:nvSpPr>
        <p:spPr>
          <a:xfrm>
            <a:off x="1422400" y="4978400"/>
            <a:ext cx="7239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35000" y="4838700"/>
            <a:ext cx="673100" cy="292100"/>
          </a:xfrm>
          <a:prstGeom prst="rect">
            <a:avLst/>
          </a:prstGeom>
          <a:noFill/>
        </p:spPr>
        <p:txBody>
          <a:bodyPr wrap="square" lIns="0" rIns="0" tIns="0" bIns="0" anchor="ctr">
            <a:spAutoFit/>
          </a:bodyPr>
          <a:lstStyle/>
          <a:p>
            <a:pPr algn="r">
              <a:lnSpc>
                <a:spcPct val="108000"/>
              </a:lnSpc>
              <a:spcBef>
                <a:spcPts val="0"/>
              </a:spcBef>
              <a:spcAft>
                <a:spcPts val="0"/>
              </a:spcAft>
              <a:defRPr sz="1200" b="0">
                <a:solidFill>
                  <a:srgbClr val="596E80"/>
                </a:solidFill>
                <a:latin typeface="Calibri"/>
              </a:defRPr>
            </a:pPr>
            <a:r>
              <a:t>0,30</a:t>
            </a:r>
          </a:p>
        </p:txBody>
      </p:sp>
      <p:sp>
        <p:nvSpPr>
          <p:cNvPr id="10" name="Rectangle 9"/>
          <p:cNvSpPr/>
          <p:nvPr/>
        </p:nvSpPr>
        <p:spPr>
          <a:xfrm>
            <a:off x="1422400" y="4411980"/>
            <a:ext cx="7239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35000" y="4272280"/>
            <a:ext cx="673100" cy="292100"/>
          </a:xfrm>
          <a:prstGeom prst="rect">
            <a:avLst/>
          </a:prstGeom>
          <a:noFill/>
        </p:spPr>
        <p:txBody>
          <a:bodyPr wrap="square" lIns="0" rIns="0" tIns="0" bIns="0" anchor="ctr">
            <a:spAutoFit/>
          </a:bodyPr>
          <a:lstStyle/>
          <a:p>
            <a:pPr algn="r">
              <a:lnSpc>
                <a:spcPct val="108000"/>
              </a:lnSpc>
              <a:spcBef>
                <a:spcPts val="0"/>
              </a:spcBef>
              <a:spcAft>
                <a:spcPts val="0"/>
              </a:spcAft>
              <a:defRPr sz="1200" b="0">
                <a:solidFill>
                  <a:srgbClr val="596E80"/>
                </a:solidFill>
                <a:latin typeface="Calibri"/>
              </a:defRPr>
            </a:pPr>
            <a:r>
              <a:t>0,32</a:t>
            </a:r>
          </a:p>
        </p:txBody>
      </p:sp>
      <p:sp>
        <p:nvSpPr>
          <p:cNvPr id="12" name="Rectangle 11"/>
          <p:cNvSpPr/>
          <p:nvPr/>
        </p:nvSpPr>
        <p:spPr>
          <a:xfrm>
            <a:off x="1422400" y="3845559"/>
            <a:ext cx="7239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35000" y="3705859"/>
            <a:ext cx="673100" cy="292100"/>
          </a:xfrm>
          <a:prstGeom prst="rect">
            <a:avLst/>
          </a:prstGeom>
          <a:noFill/>
        </p:spPr>
        <p:txBody>
          <a:bodyPr wrap="square" lIns="0" rIns="0" tIns="0" bIns="0" anchor="ctr">
            <a:spAutoFit/>
          </a:bodyPr>
          <a:lstStyle/>
          <a:p>
            <a:pPr algn="r">
              <a:lnSpc>
                <a:spcPct val="108000"/>
              </a:lnSpc>
              <a:spcBef>
                <a:spcPts val="0"/>
              </a:spcBef>
              <a:spcAft>
                <a:spcPts val="0"/>
              </a:spcAft>
              <a:defRPr sz="1200" b="0">
                <a:solidFill>
                  <a:srgbClr val="596E80"/>
                </a:solidFill>
                <a:latin typeface="Calibri"/>
              </a:defRPr>
            </a:pPr>
            <a:r>
              <a:t>0,34</a:t>
            </a:r>
          </a:p>
        </p:txBody>
      </p:sp>
      <p:sp>
        <p:nvSpPr>
          <p:cNvPr id="14" name="Rectangle 13"/>
          <p:cNvSpPr/>
          <p:nvPr/>
        </p:nvSpPr>
        <p:spPr>
          <a:xfrm>
            <a:off x="1422400" y="3279140"/>
            <a:ext cx="7239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35000" y="3139440"/>
            <a:ext cx="673100" cy="292100"/>
          </a:xfrm>
          <a:prstGeom prst="rect">
            <a:avLst/>
          </a:prstGeom>
          <a:noFill/>
        </p:spPr>
        <p:txBody>
          <a:bodyPr wrap="square" lIns="0" rIns="0" tIns="0" bIns="0" anchor="ctr">
            <a:spAutoFit/>
          </a:bodyPr>
          <a:lstStyle/>
          <a:p>
            <a:pPr algn="r">
              <a:lnSpc>
                <a:spcPct val="108000"/>
              </a:lnSpc>
              <a:spcBef>
                <a:spcPts val="0"/>
              </a:spcBef>
              <a:spcAft>
                <a:spcPts val="0"/>
              </a:spcAft>
              <a:defRPr sz="1200" b="0">
                <a:solidFill>
                  <a:srgbClr val="596E80"/>
                </a:solidFill>
                <a:latin typeface="Calibri"/>
              </a:defRPr>
            </a:pPr>
            <a:r>
              <a:t>0,36</a:t>
            </a:r>
          </a:p>
        </p:txBody>
      </p:sp>
      <p:sp>
        <p:nvSpPr>
          <p:cNvPr id="16" name="Rectangle 15"/>
          <p:cNvSpPr/>
          <p:nvPr/>
        </p:nvSpPr>
        <p:spPr>
          <a:xfrm>
            <a:off x="1422400" y="2712720"/>
            <a:ext cx="7239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35000" y="2573020"/>
            <a:ext cx="673100" cy="292100"/>
          </a:xfrm>
          <a:prstGeom prst="rect">
            <a:avLst/>
          </a:prstGeom>
          <a:noFill/>
        </p:spPr>
        <p:txBody>
          <a:bodyPr wrap="square" lIns="0" rIns="0" tIns="0" bIns="0" anchor="ctr">
            <a:spAutoFit/>
          </a:bodyPr>
          <a:lstStyle/>
          <a:p>
            <a:pPr algn="r">
              <a:lnSpc>
                <a:spcPct val="108000"/>
              </a:lnSpc>
              <a:spcBef>
                <a:spcPts val="0"/>
              </a:spcBef>
              <a:spcAft>
                <a:spcPts val="0"/>
              </a:spcAft>
              <a:defRPr sz="1200" b="0">
                <a:solidFill>
                  <a:srgbClr val="596E80"/>
                </a:solidFill>
                <a:latin typeface="Calibri"/>
              </a:defRPr>
            </a:pPr>
            <a:r>
              <a:t>0,38</a:t>
            </a:r>
          </a:p>
        </p:txBody>
      </p:sp>
      <p:sp>
        <p:nvSpPr>
          <p:cNvPr id="18" name="Rectangle 17"/>
          <p:cNvSpPr/>
          <p:nvPr/>
        </p:nvSpPr>
        <p:spPr>
          <a:xfrm>
            <a:off x="1422400" y="2146300"/>
            <a:ext cx="7239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35000" y="2006600"/>
            <a:ext cx="673100" cy="292100"/>
          </a:xfrm>
          <a:prstGeom prst="rect">
            <a:avLst/>
          </a:prstGeom>
          <a:noFill/>
        </p:spPr>
        <p:txBody>
          <a:bodyPr wrap="square" lIns="0" rIns="0" tIns="0" bIns="0" anchor="ctr">
            <a:spAutoFit/>
          </a:bodyPr>
          <a:lstStyle/>
          <a:p>
            <a:pPr algn="r">
              <a:lnSpc>
                <a:spcPct val="108000"/>
              </a:lnSpc>
              <a:spcBef>
                <a:spcPts val="0"/>
              </a:spcBef>
              <a:spcAft>
                <a:spcPts val="0"/>
              </a:spcAft>
              <a:defRPr sz="1200" b="0">
                <a:solidFill>
                  <a:srgbClr val="596E80"/>
                </a:solidFill>
                <a:latin typeface="Calibri"/>
              </a:defRPr>
            </a:pPr>
            <a:r>
              <a:t>0,40</a:t>
            </a:r>
          </a:p>
        </p:txBody>
      </p:sp>
      <p:sp>
        <p:nvSpPr>
          <p:cNvPr id="20" name="Rectangle 19"/>
          <p:cNvSpPr/>
          <p:nvPr/>
        </p:nvSpPr>
        <p:spPr>
          <a:xfrm>
            <a:off x="1422400" y="2590939"/>
            <a:ext cx="7239000" cy="25400"/>
          </a:xfrm>
          <a:prstGeom prst="rect">
            <a:avLst/>
          </a:prstGeom>
          <a:solidFill>
            <a:srgbClr val="16324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574800" y="3859571"/>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1447800"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1</a:t>
            </a:r>
          </a:p>
        </p:txBody>
      </p:sp>
      <p:sp>
        <p:nvSpPr>
          <p:cNvPr id="23" name="Oval 22"/>
          <p:cNvSpPr/>
          <p:nvPr/>
        </p:nvSpPr>
        <p:spPr>
          <a:xfrm>
            <a:off x="2193636" y="4399094"/>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2066636"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2</a:t>
            </a:r>
          </a:p>
        </p:txBody>
      </p:sp>
      <p:sp>
        <p:nvSpPr>
          <p:cNvPr id="25" name="Oval 24"/>
          <p:cNvSpPr/>
          <p:nvPr/>
        </p:nvSpPr>
        <p:spPr>
          <a:xfrm>
            <a:off x="2812472" y="3806140"/>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2685472"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3</a:t>
            </a:r>
          </a:p>
        </p:txBody>
      </p:sp>
      <p:sp>
        <p:nvSpPr>
          <p:cNvPr id="27" name="Oval 26"/>
          <p:cNvSpPr/>
          <p:nvPr/>
        </p:nvSpPr>
        <p:spPr>
          <a:xfrm>
            <a:off x="3431309" y="4008307"/>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304309"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4</a:t>
            </a:r>
          </a:p>
        </p:txBody>
      </p:sp>
      <p:sp>
        <p:nvSpPr>
          <p:cNvPr id="29" name="Oval 28"/>
          <p:cNvSpPr/>
          <p:nvPr/>
        </p:nvSpPr>
        <p:spPr>
          <a:xfrm>
            <a:off x="4050145" y="4425502"/>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923145"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5</a:t>
            </a:r>
          </a:p>
        </p:txBody>
      </p:sp>
      <p:sp>
        <p:nvSpPr>
          <p:cNvPr id="31" name="Oval 30"/>
          <p:cNvSpPr/>
          <p:nvPr/>
        </p:nvSpPr>
        <p:spPr>
          <a:xfrm>
            <a:off x="4668981" y="4045026"/>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541981"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6</a:t>
            </a:r>
          </a:p>
        </p:txBody>
      </p:sp>
      <p:sp>
        <p:nvSpPr>
          <p:cNvPr id="33" name="Oval 32"/>
          <p:cNvSpPr/>
          <p:nvPr/>
        </p:nvSpPr>
        <p:spPr>
          <a:xfrm>
            <a:off x="5287818" y="4312036"/>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5160818"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7</a:t>
            </a:r>
          </a:p>
        </p:txBody>
      </p:sp>
      <p:sp>
        <p:nvSpPr>
          <p:cNvPr id="35" name="Oval 34"/>
          <p:cNvSpPr/>
          <p:nvPr/>
        </p:nvSpPr>
        <p:spPr>
          <a:xfrm>
            <a:off x="5906654" y="4641332"/>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5779654"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8</a:t>
            </a:r>
          </a:p>
        </p:txBody>
      </p:sp>
      <p:sp>
        <p:nvSpPr>
          <p:cNvPr id="37" name="Oval 36"/>
          <p:cNvSpPr/>
          <p:nvPr/>
        </p:nvSpPr>
        <p:spPr>
          <a:xfrm>
            <a:off x="6525490" y="3532227"/>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6398490"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9</a:t>
            </a:r>
          </a:p>
        </p:txBody>
      </p:sp>
      <p:sp>
        <p:nvSpPr>
          <p:cNvPr id="39" name="Oval 38"/>
          <p:cNvSpPr/>
          <p:nvPr/>
        </p:nvSpPr>
        <p:spPr>
          <a:xfrm>
            <a:off x="7144327" y="4191158"/>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017327"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10</a:t>
            </a:r>
          </a:p>
        </p:txBody>
      </p:sp>
      <p:sp>
        <p:nvSpPr>
          <p:cNvPr id="41" name="Oval 40"/>
          <p:cNvSpPr/>
          <p:nvPr/>
        </p:nvSpPr>
        <p:spPr>
          <a:xfrm>
            <a:off x="7763163" y="4220953"/>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7636163"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11</a:t>
            </a:r>
          </a:p>
        </p:txBody>
      </p:sp>
      <p:sp>
        <p:nvSpPr>
          <p:cNvPr id="43" name="Oval 42"/>
          <p:cNvSpPr/>
          <p:nvPr/>
        </p:nvSpPr>
        <p:spPr>
          <a:xfrm>
            <a:off x="8382000" y="4446268"/>
            <a:ext cx="127000" cy="127000"/>
          </a:xfrm>
          <a:prstGeom prst="ellipse">
            <a:avLst/>
          </a:prstGeom>
          <a:solidFill>
            <a:srgbClr val="08777C"/>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8255000" y="5143500"/>
            <a:ext cx="381000" cy="279400"/>
          </a:xfrm>
          <a:prstGeom prst="rect">
            <a:avLst/>
          </a:prstGeom>
          <a:noFill/>
        </p:spPr>
        <p:txBody>
          <a:bodyPr wrap="square" lIns="0" rIns="0" tIns="0" bIns="0" anchor="ctr">
            <a:spAutoFit/>
          </a:bodyPr>
          <a:lstStyle/>
          <a:p>
            <a:pPr algn="ctr">
              <a:lnSpc>
                <a:spcPct val="108000"/>
              </a:lnSpc>
              <a:spcBef>
                <a:spcPts val="0"/>
              </a:spcBef>
              <a:spcAft>
                <a:spcPts val="0"/>
              </a:spcAft>
              <a:defRPr sz="1100" b="0">
                <a:solidFill>
                  <a:srgbClr val="596E80"/>
                </a:solidFill>
                <a:latin typeface="Calibri"/>
              </a:defRPr>
            </a:pPr>
            <a:r>
              <a:t>12</a:t>
            </a:r>
          </a:p>
        </p:txBody>
      </p:sp>
      <p:sp>
        <p:nvSpPr>
          <p:cNvPr id="45" name="TextBox 44"/>
          <p:cNvSpPr txBox="1"/>
          <p:nvPr/>
        </p:nvSpPr>
        <p:spPr>
          <a:xfrm>
            <a:off x="2997200" y="5486400"/>
            <a:ext cx="3810000" cy="317500"/>
          </a:xfrm>
          <a:prstGeom prst="rect">
            <a:avLst/>
          </a:prstGeom>
          <a:noFill/>
        </p:spPr>
        <p:txBody>
          <a:bodyPr wrap="square" lIns="0" rIns="0" tIns="0" bIns="0" anchor="ctr">
            <a:spAutoFit/>
          </a:bodyPr>
          <a:lstStyle/>
          <a:p>
            <a:pPr algn="ctr">
              <a:lnSpc>
                <a:spcPct val="108000"/>
              </a:lnSpc>
              <a:spcBef>
                <a:spcPts val="0"/>
              </a:spcBef>
              <a:spcAft>
                <a:spcPts val="0"/>
              </a:spcAft>
              <a:defRPr sz="1300" b="0">
                <a:solidFill>
                  <a:srgbClr val="596E80"/>
                </a:solidFill>
                <a:latin typeface="Calibri"/>
              </a:defRPr>
            </a:pPr>
            <a:r>
              <a:t>Repetición del control</a:t>
            </a:r>
          </a:p>
        </p:txBody>
      </p:sp>
      <p:sp>
        <p:nvSpPr>
          <p:cNvPr id="46" name="TextBox 45"/>
          <p:cNvSpPr txBox="1"/>
          <p:nvPr/>
        </p:nvSpPr>
        <p:spPr>
          <a:xfrm>
            <a:off x="9042400" y="2311400"/>
            <a:ext cx="2463800" cy="317500"/>
          </a:xfrm>
          <a:prstGeom prst="rect">
            <a:avLst/>
          </a:prstGeom>
          <a:noFill/>
        </p:spPr>
        <p:txBody>
          <a:bodyPr wrap="square" lIns="0" rIns="0" tIns="0" bIns="0" anchor="ctr">
            <a:spAutoFit/>
          </a:bodyPr>
          <a:lstStyle/>
          <a:p>
            <a:pPr algn="l">
              <a:lnSpc>
                <a:spcPct val="108000"/>
              </a:lnSpc>
              <a:spcBef>
                <a:spcPts val="0"/>
              </a:spcBef>
              <a:spcAft>
                <a:spcPts val="0"/>
              </a:spcAft>
              <a:defRPr sz="1400" b="1">
                <a:solidFill>
                  <a:srgbClr val="16324F"/>
                </a:solidFill>
                <a:latin typeface="Calibri"/>
              </a:defRPr>
            </a:pPr>
            <a:r>
              <a:t>Original</a:t>
            </a:r>
          </a:p>
        </p:txBody>
      </p:sp>
      <p:sp>
        <p:nvSpPr>
          <p:cNvPr id="47" name="TextBox 46"/>
          <p:cNvSpPr txBox="1"/>
          <p:nvPr/>
        </p:nvSpPr>
        <p:spPr>
          <a:xfrm>
            <a:off x="9042400" y="2679700"/>
            <a:ext cx="2463800" cy="558800"/>
          </a:xfrm>
          <a:prstGeom prst="rect">
            <a:avLst/>
          </a:prstGeom>
          <a:noFill/>
        </p:spPr>
        <p:txBody>
          <a:bodyPr wrap="square" lIns="0" rIns="0" tIns="0" bIns="0" anchor="ctr">
            <a:spAutoFit/>
          </a:bodyPr>
          <a:lstStyle/>
          <a:p>
            <a:pPr algn="l">
              <a:lnSpc>
                <a:spcPct val="108000"/>
              </a:lnSpc>
              <a:spcBef>
                <a:spcPts val="0"/>
              </a:spcBef>
              <a:spcAft>
                <a:spcPts val="0"/>
              </a:spcAft>
              <a:defRPr sz="2800" b="1">
                <a:solidFill>
                  <a:srgbClr val="16324F"/>
                </a:solidFill>
                <a:latin typeface="Calibri"/>
              </a:defRPr>
            </a:pPr>
            <a:r>
              <a:t>0,3843</a:t>
            </a:r>
          </a:p>
        </p:txBody>
      </p:sp>
      <p:sp>
        <p:nvSpPr>
          <p:cNvPr id="48" name="TextBox 47"/>
          <p:cNvSpPr txBox="1"/>
          <p:nvPr/>
        </p:nvSpPr>
        <p:spPr>
          <a:xfrm>
            <a:off x="9042400" y="3530600"/>
            <a:ext cx="2463800" cy="317500"/>
          </a:xfrm>
          <a:prstGeom prst="rect">
            <a:avLst/>
          </a:prstGeom>
          <a:noFill/>
        </p:spPr>
        <p:txBody>
          <a:bodyPr wrap="square" lIns="0" rIns="0" tIns="0" bIns="0" anchor="ctr">
            <a:spAutoFit/>
          </a:bodyPr>
          <a:lstStyle/>
          <a:p>
            <a:pPr algn="l">
              <a:lnSpc>
                <a:spcPct val="108000"/>
              </a:lnSpc>
              <a:spcBef>
                <a:spcPts val="0"/>
              </a:spcBef>
              <a:spcAft>
                <a:spcPts val="0"/>
              </a:spcAft>
              <a:defRPr sz="1400" b="1">
                <a:solidFill>
                  <a:srgbClr val="08777C"/>
                </a:solidFill>
                <a:latin typeface="Calibri"/>
              </a:defRPr>
            </a:pPr>
            <a:r>
              <a:t>Control, media</a:t>
            </a:r>
          </a:p>
        </p:txBody>
      </p:sp>
      <p:sp>
        <p:nvSpPr>
          <p:cNvPr id="49" name="TextBox 48"/>
          <p:cNvSpPr txBox="1"/>
          <p:nvPr/>
        </p:nvSpPr>
        <p:spPr>
          <a:xfrm>
            <a:off x="9042400" y="3898900"/>
            <a:ext cx="2463800" cy="558800"/>
          </a:xfrm>
          <a:prstGeom prst="rect">
            <a:avLst/>
          </a:prstGeom>
          <a:noFill/>
        </p:spPr>
        <p:txBody>
          <a:bodyPr wrap="square" lIns="0" rIns="0" tIns="0" bIns="0" anchor="ctr">
            <a:spAutoFit/>
          </a:bodyPr>
          <a:lstStyle/>
          <a:p>
            <a:pPr algn="l">
              <a:lnSpc>
                <a:spcPct val="108000"/>
              </a:lnSpc>
              <a:spcBef>
                <a:spcPts val="0"/>
              </a:spcBef>
              <a:spcAft>
                <a:spcPts val="0"/>
              </a:spcAft>
              <a:defRPr sz="2800" b="1">
                <a:solidFill>
                  <a:srgbClr val="08777C"/>
                </a:solidFill>
                <a:latin typeface="Calibri"/>
              </a:defRPr>
            </a:pPr>
            <a:r>
              <a:t>0,3268</a:t>
            </a:r>
          </a:p>
        </p:txBody>
      </p:sp>
      <p:sp>
        <p:nvSpPr>
          <p:cNvPr id="50" name="TextBox 49"/>
          <p:cNvSpPr txBox="1"/>
          <p:nvPr/>
        </p:nvSpPr>
        <p:spPr>
          <a:xfrm>
            <a:off x="9042400" y="4940300"/>
            <a:ext cx="2463800" cy="584200"/>
          </a:xfrm>
          <a:prstGeom prst="rect">
            <a:avLst/>
          </a:prstGeom>
          <a:noFill/>
        </p:spPr>
        <p:txBody>
          <a:bodyPr wrap="square" lIns="0" rIns="0" tIns="0" bIns="0" anchor="ctr">
            <a:spAutoFit/>
          </a:bodyPr>
          <a:lstStyle/>
          <a:p>
            <a:pPr algn="l">
              <a:lnSpc>
                <a:spcPct val="108000"/>
              </a:lnSpc>
              <a:spcBef>
                <a:spcPts val="0"/>
              </a:spcBef>
              <a:spcAft>
                <a:spcPts val="0"/>
              </a:spcAft>
              <a:defRPr sz="1600" b="1">
                <a:solidFill>
                  <a:srgbClr val="24394C"/>
                </a:solidFill>
                <a:latin typeface="Calibri"/>
              </a:defRPr>
            </a:pPr>
            <a:r>
              <a:t>Diferencia +5,76 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254000"/>
            <a:ext cx="10160000" cy="292100"/>
          </a:xfrm>
          <a:prstGeom prst="rect">
            <a:avLst/>
          </a:prstGeom>
          <a:noFill/>
        </p:spPr>
        <p:txBody>
          <a:bodyPr wrap="square" lIns="0" rIns="0" tIns="0" bIns="0" anchor="ctr">
            <a:spAutoFit/>
          </a:bodyPr>
          <a:lstStyle/>
          <a:p>
            <a:pPr algn="l">
              <a:lnSpc>
                <a:spcPct val="108000"/>
              </a:lnSpc>
              <a:spcBef>
                <a:spcPts val="0"/>
              </a:spcBef>
              <a:spcAft>
                <a:spcPts val="0"/>
              </a:spcAft>
              <a:defRPr sz="1100" b="0">
                <a:solidFill>
                  <a:srgbClr val="596E80"/>
                </a:solidFill>
                <a:latin typeface="Calibri"/>
              </a:defRPr>
            </a:pPr>
            <a:r>
              <a:t>Balance del trabajo experimental</a:t>
            </a:r>
          </a:p>
        </p:txBody>
      </p:sp>
      <p:sp>
        <p:nvSpPr>
          <p:cNvPr id="3" name="TextBox 2"/>
          <p:cNvSpPr txBox="1"/>
          <p:nvPr/>
        </p:nvSpPr>
        <p:spPr>
          <a:xfrm>
            <a:off x="635000" y="698500"/>
            <a:ext cx="10922000" cy="838200"/>
          </a:xfrm>
          <a:prstGeom prst="rect">
            <a:avLst/>
          </a:prstGeom>
          <a:noFill/>
        </p:spPr>
        <p:txBody>
          <a:bodyPr wrap="square" lIns="0" rIns="0" tIns="0" bIns="0" anchor="ctr">
            <a:spAutoFit/>
          </a:bodyPr>
          <a:lstStyle/>
          <a:p>
            <a:pPr algn="l">
              <a:lnSpc>
                <a:spcPct val="108000"/>
              </a:lnSpc>
              <a:spcBef>
                <a:spcPts val="0"/>
              </a:spcBef>
              <a:spcAft>
                <a:spcPts val="0"/>
              </a:spcAft>
              <a:defRPr sz="3000" b="0">
                <a:solidFill>
                  <a:srgbClr val="16324F"/>
                </a:solidFill>
                <a:latin typeface="Cambria"/>
              </a:defRPr>
            </a:pPr>
            <a:r>
              <a:t>Qué muestran los experimentos y qué falta</a:t>
            </a:r>
          </a:p>
        </p:txBody>
      </p:sp>
      <p:sp>
        <p:nvSpPr>
          <p:cNvPr id="4" name="Rectangle 3"/>
          <p:cNvSpPr/>
          <p:nvPr/>
        </p:nvSpPr>
        <p:spPr>
          <a:xfrm>
            <a:off x="635000" y="61468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35000" y="6235700"/>
            <a:ext cx="10261600" cy="419100"/>
          </a:xfrm>
          <a:prstGeom prst="rect">
            <a:avLst/>
          </a:prstGeom>
          <a:noFill/>
        </p:spPr>
        <p:txBody>
          <a:bodyPr wrap="square" lIns="0" rIns="0" tIns="0" bIns="0" anchor="ctr">
            <a:spAutoFit/>
          </a:bodyPr>
          <a:lstStyle/>
          <a:p>
            <a:pPr algn="l">
              <a:lnSpc>
                <a:spcPct val="108000"/>
              </a:lnSpc>
              <a:spcBef>
                <a:spcPts val="0"/>
              </a:spcBef>
              <a:spcAft>
                <a:spcPts val="0"/>
              </a:spcAft>
              <a:defRPr sz="900" b="0">
                <a:solidFill>
                  <a:srgbClr val="596E80"/>
                </a:solidFill>
                <a:latin typeface="Calibri"/>
              </a:defRPr>
            </a:pPr>
            <a:r>
              <a:t>Fuentes: informes experimentales del 24-10-2026; Evaluacion_Independiente_y_Validez_24-10-2026.md.</a:t>
            </a:r>
          </a:p>
        </p:txBody>
      </p:sp>
      <p:sp>
        <p:nvSpPr>
          <p:cNvPr id="6" name="TextBox 5"/>
          <p:cNvSpPr txBox="1"/>
          <p:nvPr/>
        </p:nvSpPr>
        <p:spPr>
          <a:xfrm>
            <a:off x="11176000" y="6235700"/>
            <a:ext cx="381000" cy="292100"/>
          </a:xfrm>
          <a:prstGeom prst="rect">
            <a:avLst/>
          </a:prstGeom>
          <a:noFill/>
        </p:spPr>
        <p:txBody>
          <a:bodyPr wrap="square" lIns="0" rIns="0" tIns="0" bIns="0" anchor="ctr">
            <a:spAutoFit/>
          </a:bodyPr>
          <a:lstStyle/>
          <a:p>
            <a:pPr algn="r">
              <a:lnSpc>
                <a:spcPct val="108000"/>
              </a:lnSpc>
              <a:spcBef>
                <a:spcPts val="0"/>
              </a:spcBef>
              <a:spcAft>
                <a:spcPts val="0"/>
              </a:spcAft>
              <a:defRPr sz="900" b="0">
                <a:solidFill>
                  <a:srgbClr val="596E80"/>
                </a:solidFill>
                <a:latin typeface="Calibri"/>
              </a:defRPr>
            </a:pPr>
            <a:r>
              <a:t>8</a:t>
            </a:r>
          </a:p>
        </p:txBody>
      </p:sp>
      <p:sp>
        <p:nvSpPr>
          <p:cNvPr id="7" name="TextBox 6"/>
          <p:cNvSpPr txBox="1"/>
          <p:nvPr/>
        </p:nvSpPr>
        <p:spPr>
          <a:xfrm>
            <a:off x="635000" y="2044700"/>
            <a:ext cx="2400300" cy="355600"/>
          </a:xfrm>
          <a:prstGeom prst="rect">
            <a:avLst/>
          </a:prstGeom>
          <a:noFill/>
        </p:spPr>
        <p:txBody>
          <a:bodyPr wrap="square" lIns="0" rIns="0" tIns="0" bIns="0" anchor="ctr">
            <a:spAutoFit/>
          </a:bodyPr>
          <a:lstStyle/>
          <a:p>
            <a:pPr algn="l">
              <a:lnSpc>
                <a:spcPct val="108000"/>
              </a:lnSpc>
              <a:spcBef>
                <a:spcPts val="0"/>
              </a:spcBef>
              <a:spcAft>
                <a:spcPts val="0"/>
              </a:spcAft>
              <a:defRPr sz="1600" b="1">
                <a:solidFill>
                  <a:srgbClr val="08777C"/>
                </a:solidFill>
                <a:latin typeface="Calibri"/>
              </a:defRPr>
            </a:pPr>
            <a:r>
              <a:t>Observado</a:t>
            </a:r>
          </a:p>
        </p:txBody>
      </p:sp>
      <p:sp>
        <p:nvSpPr>
          <p:cNvPr id="8" name="TextBox 7"/>
          <p:cNvSpPr txBox="1"/>
          <p:nvPr/>
        </p:nvSpPr>
        <p:spPr>
          <a:xfrm>
            <a:off x="3200400" y="1943100"/>
            <a:ext cx="8356600" cy="927100"/>
          </a:xfrm>
          <a:prstGeom prst="rect">
            <a:avLst/>
          </a:prstGeom>
          <a:noFill/>
        </p:spPr>
        <p:txBody>
          <a:bodyPr wrap="square" lIns="0" rIns="0" tIns="0" bIns="0" anchor="ctr">
            <a:spAutoFit/>
          </a:bodyPr>
          <a:lstStyle/>
          <a:p>
            <a:pPr algn="l">
              <a:lnSpc>
                <a:spcPct val="108000"/>
              </a:lnSpc>
              <a:spcBef>
                <a:spcPts val="0"/>
              </a:spcBef>
              <a:spcAft>
                <a:spcPts val="0"/>
              </a:spcAft>
              <a:defRPr sz="2200" b="0">
                <a:solidFill>
                  <a:srgbClr val="16324F"/>
                </a:solidFill>
                <a:latin typeface="Cambria"/>
              </a:defRPr>
            </a:pPr>
            <a:r>
              <a:t>En train, Ridge depende de la alineación temporal con la pseudoetiqueta GSR.</a:t>
            </a:r>
          </a:p>
        </p:txBody>
      </p:sp>
      <p:sp>
        <p:nvSpPr>
          <p:cNvPr id="9" name="Rectangle 8"/>
          <p:cNvSpPr/>
          <p:nvPr/>
        </p:nvSpPr>
        <p:spPr>
          <a:xfrm>
            <a:off x="635000" y="30353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35000" y="3327400"/>
            <a:ext cx="2400300" cy="355600"/>
          </a:xfrm>
          <a:prstGeom prst="rect">
            <a:avLst/>
          </a:prstGeom>
          <a:noFill/>
        </p:spPr>
        <p:txBody>
          <a:bodyPr wrap="square" lIns="0" rIns="0" tIns="0" bIns="0" anchor="ctr">
            <a:spAutoFit/>
          </a:bodyPr>
          <a:lstStyle/>
          <a:p>
            <a:pPr algn="l">
              <a:lnSpc>
                <a:spcPct val="108000"/>
              </a:lnSpc>
              <a:spcBef>
                <a:spcPts val="0"/>
              </a:spcBef>
              <a:spcAft>
                <a:spcPts val="0"/>
              </a:spcAft>
              <a:defRPr sz="1600" b="1">
                <a:solidFill>
                  <a:srgbClr val="08777C"/>
                </a:solidFill>
                <a:latin typeface="Calibri"/>
              </a:defRPr>
            </a:pPr>
            <a:r>
              <a:t>Límite</a:t>
            </a:r>
          </a:p>
        </p:txBody>
      </p:sp>
      <p:sp>
        <p:nvSpPr>
          <p:cNvPr id="11" name="TextBox 10"/>
          <p:cNvSpPr txBox="1"/>
          <p:nvPr/>
        </p:nvSpPr>
        <p:spPr>
          <a:xfrm>
            <a:off x="3200400" y="3225800"/>
            <a:ext cx="8356600" cy="1181100"/>
          </a:xfrm>
          <a:prstGeom prst="rect">
            <a:avLst/>
          </a:prstGeom>
          <a:noFill/>
        </p:spPr>
        <p:txBody>
          <a:bodyPr wrap="square" lIns="0" rIns="0" tIns="0" bIns="0" anchor="ctr">
            <a:spAutoFit/>
          </a:bodyPr>
          <a:lstStyle/>
          <a:p>
            <a:pPr algn="l">
              <a:lnSpc>
                <a:spcPct val="108000"/>
              </a:lnSpc>
              <a:spcBef>
                <a:spcPts val="0"/>
              </a:spcBef>
              <a:spcAft>
                <a:spcPts val="0"/>
              </a:spcAft>
              <a:defRPr sz="1900" b="0">
                <a:solidFill>
                  <a:srgbClr val="24394C"/>
                </a:solidFill>
                <a:latin typeface="Calibri"/>
              </a:defRPr>
            </a:pPr>
            <a:r>
              <a:t>No se confirma una ventaja general del historial o la fusión. Test ya se había consultado y falta una medida externa del estado psicológico.</a:t>
            </a:r>
          </a:p>
        </p:txBody>
      </p:sp>
      <p:sp>
        <p:nvSpPr>
          <p:cNvPr id="12" name="Rectangle 11"/>
          <p:cNvSpPr/>
          <p:nvPr/>
        </p:nvSpPr>
        <p:spPr>
          <a:xfrm>
            <a:off x="635000" y="4635500"/>
            <a:ext cx="10922000" cy="12700"/>
          </a:xfrm>
          <a:prstGeom prst="rect">
            <a:avLst/>
          </a:prstGeom>
          <a:solidFill>
            <a:srgbClr val="D7E0E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35000" y="4927600"/>
            <a:ext cx="2400300" cy="355600"/>
          </a:xfrm>
          <a:prstGeom prst="rect">
            <a:avLst/>
          </a:prstGeom>
          <a:noFill/>
        </p:spPr>
        <p:txBody>
          <a:bodyPr wrap="square" lIns="0" rIns="0" tIns="0" bIns="0" anchor="ctr">
            <a:spAutoFit/>
          </a:bodyPr>
          <a:lstStyle/>
          <a:p>
            <a:pPr algn="l">
              <a:lnSpc>
                <a:spcPct val="108000"/>
              </a:lnSpc>
              <a:spcBef>
                <a:spcPts val="0"/>
              </a:spcBef>
              <a:spcAft>
                <a:spcPts val="0"/>
              </a:spcAft>
              <a:defRPr sz="1600" b="1">
                <a:solidFill>
                  <a:srgbClr val="08777C"/>
                </a:solidFill>
                <a:latin typeface="Calibri"/>
              </a:defRPr>
            </a:pPr>
            <a:r>
              <a:t>Para confirmar</a:t>
            </a:r>
          </a:p>
        </p:txBody>
      </p:sp>
      <p:sp>
        <p:nvSpPr>
          <p:cNvPr id="14" name="TextBox 13"/>
          <p:cNvSpPr txBox="1"/>
          <p:nvPr/>
        </p:nvSpPr>
        <p:spPr>
          <a:xfrm>
            <a:off x="3200400" y="4851400"/>
            <a:ext cx="8356600" cy="977900"/>
          </a:xfrm>
          <a:prstGeom prst="rect">
            <a:avLst/>
          </a:prstGeom>
          <a:noFill/>
        </p:spPr>
        <p:txBody>
          <a:bodyPr wrap="square" lIns="0" rIns="0" tIns="0" bIns="0" anchor="ctr">
            <a:spAutoFit/>
          </a:bodyPr>
          <a:lstStyle/>
          <a:p>
            <a:pPr algn="l">
              <a:lnSpc>
                <a:spcPct val="108000"/>
              </a:lnSpc>
              <a:spcBef>
                <a:spcPts val="0"/>
              </a:spcBef>
              <a:spcAft>
                <a:spcPts val="0"/>
              </a:spcAft>
              <a:defRPr sz="1900" b="0">
                <a:solidFill>
                  <a:srgbClr val="24394C"/>
                </a:solidFill>
                <a:latin typeface="Calibri"/>
              </a:defRPr>
            </a:pPr>
            <a:r>
              <a:t>Fijar modelo y protocolo antes de evaluar personas nuevas; contrastar la etiqueta con una medida independiente.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Avances experimentales — tesis MDS</dc:title>
  <dc:subject>Temporalidad, fusión, robustez y control negativo</dc:subject>
  <dc:creator>Mario Romero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es-CL</dc:language>
</cp:coreProperties>
</file>