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</p:sldIdLst>
  <p:sldSz cx="16256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8090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Universidad de Chile · Magíster en Data Science</a:t>
            </a:r>
          </a:p>
          <a:p>
            <a:endParaRPr/>
          </a:p>
          <a:p>
            <a:r>
              <a:t>Modelos temporales multimodales para la detección de atención y activación emocional durante la navegación web</a:t>
            </a:r>
          </a:p>
          <a:p>
            <a:endParaRPr/>
          </a:p>
          <a:p>
            <a:r>
              <a:t>Mario Romero</a:t>
            </a:r>
          </a:p>
          <a:p>
            <a:endParaRPr/>
          </a:p>
          <a:p>
            <a:r>
              <a:t>Profesor guía: Dr. Juan D. Velásquez</a:t>
            </a:r>
          </a:p>
          <a:p>
            <a:endParaRPr/>
          </a:p>
          <a:p>
            <a:r>
              <a:t>Antecedentes</a:t>
            </a:r>
          </a:p>
          <a:p>
            <a:endParaRPr/>
          </a:p>
          <a:p>
            <a:r>
              <a:t>El proyecto registra señales fisiológicas mientras las personas navegan por la web. La tesis estudia si su evolución en el tiempo ayuda a predecir atención y activación.</a:t>
            </a:r>
          </a:p>
          <a:p>
            <a:endParaRPr/>
          </a:p>
          <a:p>
            <a:r>
              <a:t>Una sesión, cuatro señales</a:t>
            </a:r>
          </a:p>
          <a:p>
            <a:endParaRPr/>
          </a:p>
          <a:p>
            <a:r>
              <a:t>EEG</a:t>
            </a:r>
          </a:p>
          <a:p>
            <a:endParaRPr/>
          </a:p>
          <a:p>
            <a:r>
              <a:t>GSR</a:t>
            </a:r>
          </a:p>
          <a:p>
            <a:endParaRPr/>
          </a:p>
          <a:p>
            <a:r>
              <a:t>Mirada</a:t>
            </a:r>
          </a:p>
          <a:p>
            <a:endParaRPr/>
          </a:p>
          <a:p>
            <a:r>
              <a:t>Pupila</a:t>
            </a:r>
          </a:p>
          <a:p>
            <a:endParaRPr/>
          </a:p>
          <a:p>
            <a:r>
              <a:t>Tiempo</a:t>
            </a:r>
          </a:p>
          <a:p>
            <a:endParaRPr/>
          </a:p>
          <a:p>
            <a:r>
              <a:t>Pregunta de la tesis</a:t>
            </a:r>
          </a:p>
          <a:p>
            <a:endParaRPr/>
          </a:p>
          <a:p>
            <a:r>
              <a:t>¿Aporta información el historial de las señales?</a:t>
            </a:r>
          </a:p>
          <a:p>
            <a:endParaRPr/>
          </a:p>
          <a:p>
            <a:r>
              <a:t>Fondecyt 1231122 · Toma de Muestra 2 · 23 de septiembre de 2026. Esquema ilustrativo; no representa datos observados.</a:t>
            </a:r>
          </a:p>
          <a:p>
            <a:endParaRPr/>
          </a:p>
          <a:p>
            <a:r>
              <a:t>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F3015-37EE-324A-52ED-13E13B72A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A29B46-2E83-1571-6EBF-1916C718F0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78F9EB-3BFA-0A80-A65F-C2C91CB0C3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Universidad de Chile · Magíster en Data Science</a:t>
            </a:r>
          </a:p>
          <a:p>
            <a:endParaRPr/>
          </a:p>
          <a:p>
            <a:r>
              <a:t>Modelos temporales multimodales para la detección de atención y activación emocional durante la navegación web</a:t>
            </a:r>
          </a:p>
          <a:p>
            <a:endParaRPr/>
          </a:p>
          <a:p>
            <a:r>
              <a:t>Mario Romero</a:t>
            </a:r>
          </a:p>
          <a:p>
            <a:endParaRPr/>
          </a:p>
          <a:p>
            <a:r>
              <a:t>Profesor guía: Dr. Juan D. Velásquez</a:t>
            </a:r>
          </a:p>
          <a:p>
            <a:endParaRPr/>
          </a:p>
          <a:p>
            <a:r>
              <a:t>Antecedentes</a:t>
            </a:r>
          </a:p>
          <a:p>
            <a:endParaRPr/>
          </a:p>
          <a:p>
            <a:r>
              <a:t>El proyecto registra señales fisiológicas mientras las personas navegan por la web. La tesis estudia si su evolución en el tiempo ayuda a predecir atención y activación.</a:t>
            </a:r>
          </a:p>
          <a:p>
            <a:endParaRPr/>
          </a:p>
          <a:p>
            <a:r>
              <a:t>Una sesión, cuatro señales</a:t>
            </a:r>
          </a:p>
          <a:p>
            <a:endParaRPr/>
          </a:p>
          <a:p>
            <a:r>
              <a:t>EEG</a:t>
            </a:r>
          </a:p>
          <a:p>
            <a:endParaRPr/>
          </a:p>
          <a:p>
            <a:r>
              <a:t>GSR</a:t>
            </a:r>
          </a:p>
          <a:p>
            <a:endParaRPr/>
          </a:p>
          <a:p>
            <a:r>
              <a:t>Mirada</a:t>
            </a:r>
          </a:p>
          <a:p>
            <a:endParaRPr/>
          </a:p>
          <a:p>
            <a:r>
              <a:t>Pupila</a:t>
            </a:r>
          </a:p>
          <a:p>
            <a:endParaRPr/>
          </a:p>
          <a:p>
            <a:r>
              <a:t>Tiempo</a:t>
            </a:r>
          </a:p>
          <a:p>
            <a:endParaRPr/>
          </a:p>
          <a:p>
            <a:r>
              <a:t>Pregunta de la tesis</a:t>
            </a:r>
          </a:p>
          <a:p>
            <a:endParaRPr/>
          </a:p>
          <a:p>
            <a:r>
              <a:t>¿Aporta información el historial de las señales?</a:t>
            </a:r>
          </a:p>
          <a:p>
            <a:endParaRPr/>
          </a:p>
          <a:p>
            <a:r>
              <a:t>Fondecyt 1231122 · Toma de Muestra 2 · 23 de septiembre de 2026. Esquema ilustrativo; no representa datos observados.</a:t>
            </a:r>
          </a:p>
          <a:p>
            <a:endParaRPr/>
          </a:p>
          <a:p>
            <a:r>
              <a:t>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0E2D58-5824-E648-74B5-E161FA4531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0473246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Toma de Muestra 2 · Navegación web en laboratorio</a:t>
            </a:r>
          </a:p>
          <a:p>
            <a:endParaRPr/>
          </a:p>
          <a:p>
            <a:r>
              <a:t>Datos disponibles</a:t>
            </a:r>
          </a:p>
          <a:p>
            <a:endParaRPr/>
          </a:p>
          <a:p>
            <a:r>
              <a:t>48 participantes registrados</a:t>
            </a:r>
          </a:p>
          <a:p>
            <a:endParaRPr/>
          </a:p>
          <a:p>
            <a:r>
              <a:t>41 en el conjunto principal</a:t>
            </a:r>
          </a:p>
          <a:p>
            <a:endParaRPr/>
          </a:p>
          <a:p>
            <a:r>
              <a:t>6 excluidos por calidad o falta de señal</a:t>
            </a:r>
          </a:p>
          <a:p>
            <a:r>
              <a:t>1 analizado por separado por sincronización</a:t>
            </a:r>
          </a:p>
          <a:p>
            <a:endParaRPr/>
          </a:p>
          <a:p>
            <a:r>
              <a:t>La partición se hace por persona</a:t>
            </a:r>
          </a:p>
          <a:p>
            <a:endParaRPr/>
          </a:p>
          <a:p>
            <a:r>
              <a:t>25</a:t>
            </a:r>
          </a:p>
          <a:p>
            <a:endParaRPr/>
          </a:p>
          <a:p>
            <a:r>
              <a:t>Entrenamiento</a:t>
            </a:r>
          </a:p>
          <a:p>
            <a:endParaRPr/>
          </a:p>
          <a:p>
            <a:r>
              <a:t>8</a:t>
            </a:r>
          </a:p>
          <a:p>
            <a:endParaRPr/>
          </a:p>
          <a:p>
            <a:r>
              <a:t>Validación</a:t>
            </a:r>
          </a:p>
          <a:p>
            <a:endParaRPr/>
          </a:p>
          <a:p>
            <a:r>
              <a:t>8</a:t>
            </a:r>
          </a:p>
          <a:p>
            <a:endParaRPr/>
          </a:p>
          <a:p>
            <a:r>
              <a:t>Prueba</a:t>
            </a:r>
          </a:p>
          <a:p>
            <a:endParaRPr/>
          </a:p>
          <a:p>
            <a:r>
              <a:t>Cada ventana resume 2 segundos de registro.</a:t>
            </a:r>
          </a:p>
          <a:p>
            <a:r>
              <a:t>La siguiente comienza 1 segundo después.</a:t>
            </a:r>
          </a:p>
          <a:p>
            <a:endParaRPr/>
          </a:p>
          <a:p>
            <a:r>
              <a:t>EEG · actividad eléctrica cerebral</a:t>
            </a:r>
          </a:p>
          <a:p>
            <a:endParaRPr/>
          </a:p>
          <a:p>
            <a:r>
              <a:t>16 canales · 125 Hz</a:t>
            </a:r>
          </a:p>
          <a:p>
            <a:endParaRPr/>
          </a:p>
          <a:p>
            <a:r>
              <a:t>GSR · respuesta electrodérmica</a:t>
            </a:r>
          </a:p>
          <a:p>
            <a:endParaRPr/>
          </a:p>
          <a:p>
            <a:r>
              <a:t>Cambios en la conductancia de la piel · ≈15 Hz</a:t>
            </a:r>
          </a:p>
          <a:p>
            <a:endParaRPr/>
          </a:p>
          <a:p>
            <a:r>
              <a:t>Eye tracking · seguimiento ocular</a:t>
            </a:r>
          </a:p>
          <a:p>
            <a:endParaRPr/>
          </a:p>
          <a:p>
            <a:r>
              <a:t>Posición de la mirada y fijaciones · ≈60 Hz</a:t>
            </a:r>
          </a:p>
          <a:p>
            <a:endParaRPr/>
          </a:p>
          <a:p>
            <a:r>
              <a:t>Pupilometría</a:t>
            </a:r>
          </a:p>
          <a:p>
            <a:endParaRPr/>
          </a:p>
          <a:p>
            <a:r>
              <a:t>Diámetro de la pupila y validez de la medición</a:t>
            </a:r>
          </a:p>
          <a:p>
            <a:endParaRPr/>
          </a:p>
          <a:p>
            <a:r>
              <a:t>Fuente: preprocesamiento y partición guardada. 25.992 ventanas generadas; 22.201 válidas antes de separar el caso de sensibilidad.</a:t>
            </a:r>
          </a:p>
          <a:p>
            <a:endParaRPr/>
          </a:p>
          <a:p>
            <a:r>
              <a:t>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Temporalidad y fusión de señales</a:t>
            </a:r>
          </a:p>
          <a:p>
            <a:endParaRPr/>
          </a:p>
          <a:p>
            <a:r>
              <a:t>Objetivo general</a:t>
            </a:r>
          </a:p>
          <a:p>
            <a:endParaRPr/>
          </a:p>
          <a:p>
            <a:r>
              <a:t>Evaluar si la información temporal y la fusión multimodal mejoran la predicción de pseudoetiquetas de atención y activación emocional durante la navegación web, comparando modelos temporales y estáticos en participantes no utilizados para su ajuste.</a:t>
            </a:r>
          </a:p>
          <a:p>
            <a:endParaRPr/>
          </a:p>
          <a:p>
            <a:r>
              <a:t>Modelo estático</a:t>
            </a:r>
          </a:p>
          <a:p>
            <a:endParaRPr/>
          </a:p>
          <a:p>
            <a:r>
              <a:t>Ventana actual</a:t>
            </a:r>
          </a:p>
          <a:p>
            <a:endParaRPr/>
          </a:p>
          <a:p>
            <a:r>
              <a:t>Predicción</a:t>
            </a:r>
          </a:p>
          <a:p>
            <a:endParaRPr/>
          </a:p>
          <a:p>
            <a:r>
              <a:t>Usa las características de una ventana.</a:t>
            </a:r>
          </a:p>
          <a:p>
            <a:endParaRPr/>
          </a:p>
          <a:p>
            <a:r>
              <a:t>Modelo temporal</a:t>
            </a:r>
          </a:p>
          <a:p>
            <a:endParaRPr/>
          </a:p>
          <a:p>
            <a:r>
              <a:t>t−2</a:t>
            </a:r>
          </a:p>
          <a:p>
            <a:endParaRPr/>
          </a:p>
          <a:p>
            <a:r>
              <a:t>t−1</a:t>
            </a:r>
          </a:p>
          <a:p>
            <a:endParaRPr/>
          </a:p>
          <a:p>
            <a:r>
              <a:t>t</a:t>
            </a:r>
          </a:p>
          <a:p>
            <a:endParaRPr/>
          </a:p>
          <a:p>
            <a:r>
              <a:t>Predicción</a:t>
            </a:r>
          </a:p>
          <a:p>
            <a:endParaRPr/>
          </a:p>
          <a:p>
            <a:r>
              <a:t>Usa varias ventanas en su orden temporal.</a:t>
            </a:r>
          </a:p>
          <a:p>
            <a:endParaRPr/>
          </a:p>
          <a:p>
            <a:r>
              <a:t>En ambos casos se comparan distintas formas de combinar las señales: fusión temprana, intermedia y tardía.</a:t>
            </a:r>
          </a:p>
          <a:p>
            <a:endParaRPr/>
          </a:p>
          <a:p>
            <a:r>
              <a:t>Las comparaciones usan las mismas etiquetas y particiones. Esquema de entradas; no representa predicciones ni resultados.</a:t>
            </a:r>
          </a:p>
          <a:p>
            <a:endParaRPr/>
          </a:p>
          <a:p>
            <a:r>
              <a:t>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Qué se hará en la tesis</a:t>
            </a:r>
          </a:p>
          <a:p>
            <a:endParaRPr/>
          </a:p>
          <a:p>
            <a:r>
              <a:t>Objetivos específicos</a:t>
            </a:r>
          </a:p>
          <a:p>
            <a:endParaRPr/>
          </a:p>
          <a:p>
            <a:r>
              <a:t>1</a:t>
            </a:r>
          </a:p>
          <a:p>
            <a:endParaRPr/>
          </a:p>
          <a:p>
            <a:r>
              <a:t>Revisar la literatura sobre atención y activación emocional, con énfasis en modelos temporales y fusión de señales.</a:t>
            </a:r>
          </a:p>
          <a:p>
            <a:endParaRPr/>
          </a:p>
          <a:p>
            <a:r>
              <a:t>2</a:t>
            </a:r>
          </a:p>
          <a:p>
            <a:endParaRPr/>
          </a:p>
          <a:p>
            <a:r>
              <a:t>Caracterizar las señales disponibles y sincronizar EEG, GSR, eye tracking y pupilometría con criterios de calidad definidos.</a:t>
            </a:r>
          </a:p>
          <a:p>
            <a:endParaRPr/>
          </a:p>
          <a:p>
            <a:r>
              <a:t>3</a:t>
            </a:r>
          </a:p>
          <a:p>
            <a:endParaRPr/>
          </a:p>
          <a:p>
            <a:r>
              <a:t>Definir las pseudoetiquetas continuas y categóricas de atención y activación, comprobar su estabilidad y separar las señales de etiquetado y predicción.</a:t>
            </a:r>
          </a:p>
          <a:p>
            <a:endParaRPr/>
          </a:p>
          <a:p>
            <a:r>
              <a:t>4</a:t>
            </a:r>
          </a:p>
          <a:p>
            <a:endParaRPr/>
          </a:p>
          <a:p>
            <a:r>
              <a:t>Comparar modelos temporales y estáticos en participantes no usados para su ajuste, seleccionando hiperparámetros dentro del entrenamiento.</a:t>
            </a:r>
          </a:p>
          <a:p>
            <a:endParaRPr/>
          </a:p>
          <a:p>
            <a:r>
              <a:t>5</a:t>
            </a:r>
          </a:p>
          <a:p>
            <a:endParaRPr/>
          </a:p>
          <a:p>
            <a:r>
              <a:t>Medir el aporte de señales e historial mediante estudios de ablación y comparaciones entre fusión temprana, intermedia y tardía.</a:t>
            </a:r>
          </a:p>
          <a:p>
            <a:endParaRPr/>
          </a:p>
          <a:p>
            <a:r>
              <a:t>6</a:t>
            </a:r>
          </a:p>
          <a:p>
            <a:endParaRPr/>
          </a:p>
          <a:p>
            <a:r>
              <a:t>Describir los cambios durante la sesión en los scores de atención y activación, buscando patrones compatibles con fatiga o habituación.</a:t>
            </a:r>
          </a:p>
          <a:p>
            <a:endParaRPr/>
          </a:p>
          <a:p>
            <a:r>
              <a:t>7</a:t>
            </a:r>
          </a:p>
          <a:p>
            <a:endParaRPr/>
          </a:p>
          <a:p>
            <a:r>
              <a:t>Contrastar la hipótesis a partir de las diferencias de desempeño, sus intervalos de incertidumbre y la variación entre participantes.</a:t>
            </a:r>
          </a:p>
          <a:p>
            <a:endParaRPr/>
          </a:p>
          <a:p>
            <a:r>
              <a:t>Ablación: retirar una señal o el historial y medir cuánto cambia el desempeño. El análisis de fatiga y habituación es descriptivo.</a:t>
            </a:r>
          </a:p>
          <a:p>
            <a:endParaRPr/>
          </a:p>
          <a:p>
            <a:r>
              <a:t>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Knowledge Discovery in Databases · Descubrimiento de conocimiento en datos</a:t>
            </a:r>
          </a:p>
          <a:p>
            <a:endParaRPr/>
          </a:p>
          <a:p>
            <a:r>
              <a:t>Metodología KDD</a:t>
            </a:r>
          </a:p>
          <a:p>
            <a:endParaRPr/>
          </a:p>
          <a:p>
            <a:r>
              <a:t>KDD organiza el trabajo desde los registros originales hasta la interpretación de los resultados.</a:t>
            </a:r>
          </a:p>
          <a:p>
            <a:endParaRPr/>
          </a:p>
          <a:p>
            <a:r>
              <a:t>Etapa</a:t>
            </a:r>
          </a:p>
          <a:p>
            <a:endParaRPr/>
          </a:p>
          <a:p>
            <a:r>
              <a:t>Qué se hace en esta tesis</a:t>
            </a:r>
          </a:p>
          <a:p>
            <a:endParaRPr/>
          </a:p>
          <a:p>
            <a:r>
              <a:t>Qué se obtiene</a:t>
            </a:r>
          </a:p>
          <a:p>
            <a:endParaRPr/>
          </a:p>
          <a:p>
            <a:r>
              <a:t>1</a:t>
            </a:r>
          </a:p>
          <a:p>
            <a:endParaRPr/>
          </a:p>
          <a:p>
            <a:r>
              <a:t>Selección</a:t>
            </a:r>
          </a:p>
          <a:p>
            <a:endParaRPr/>
          </a:p>
          <a:p>
            <a:r>
              <a:t>Elegir participantes, sesiones y señales de la Toma de Muestra 2.</a:t>
            </a:r>
          </a:p>
          <a:p>
            <a:endParaRPr/>
          </a:p>
          <a:p>
            <a:r>
              <a:t>Corpus de trabajo</a:t>
            </a:r>
          </a:p>
          <a:p>
            <a:endParaRPr/>
          </a:p>
          <a:p>
            <a:r>
              <a:t>2</a:t>
            </a:r>
          </a:p>
          <a:p>
            <a:endParaRPr/>
          </a:p>
          <a:p>
            <a:r>
              <a:t>Preprocesamiento</a:t>
            </a:r>
          </a:p>
          <a:p>
            <a:endParaRPr/>
          </a:p>
          <a:p>
            <a:r>
              <a:t>Revisar calidad, tratar faltantes y alinear las señales en el tiempo.</a:t>
            </a:r>
          </a:p>
          <a:p>
            <a:endParaRPr/>
          </a:p>
          <a:p>
            <a:r>
              <a:t>Registros sincronizados</a:t>
            </a:r>
          </a:p>
          <a:p>
            <a:endParaRPr/>
          </a:p>
          <a:p>
            <a:r>
              <a:t>3</a:t>
            </a:r>
          </a:p>
          <a:p>
            <a:endParaRPr/>
          </a:p>
          <a:p>
            <a:r>
              <a:t>Transformación</a:t>
            </a:r>
          </a:p>
          <a:p>
            <a:endParaRPr/>
          </a:p>
          <a:p>
            <a:r>
              <a:t>Crear ventanas de 2 s, características, pseudoetiquetas y secuencias.</a:t>
            </a:r>
          </a:p>
          <a:p>
            <a:endParaRPr/>
          </a:p>
          <a:p>
            <a:r>
              <a:t>Datos para los modelos</a:t>
            </a:r>
          </a:p>
          <a:p>
            <a:endParaRPr/>
          </a:p>
          <a:p>
            <a:r>
              <a:t>4</a:t>
            </a:r>
          </a:p>
          <a:p>
            <a:endParaRPr/>
          </a:p>
          <a:p>
            <a:r>
              <a:t>Minería de datos</a:t>
            </a:r>
          </a:p>
          <a:p>
            <a:endParaRPr/>
          </a:p>
          <a:p>
            <a:r>
              <a:t>Entrenar modelos estáticos y temporales; ajustar sus parámetros.</a:t>
            </a:r>
          </a:p>
          <a:p>
            <a:endParaRPr/>
          </a:p>
          <a:p>
            <a:r>
              <a:t>Modelos ajustados</a:t>
            </a:r>
          </a:p>
          <a:p>
            <a:endParaRPr/>
          </a:p>
          <a:p>
            <a:r>
              <a:t>5</a:t>
            </a:r>
          </a:p>
          <a:p>
            <a:endParaRPr/>
          </a:p>
          <a:p>
            <a:r>
              <a:t>Interpretación y evaluación</a:t>
            </a:r>
          </a:p>
          <a:p>
            <a:endParaRPr/>
          </a:p>
          <a:p>
            <a:r>
              <a:t>Comparar el desempeño y revisar qué señales e historial aportan.</a:t>
            </a:r>
          </a:p>
          <a:p>
            <a:endParaRPr/>
          </a:p>
          <a:p>
            <a:r>
              <a:t>Resultados y limitaciones</a:t>
            </a:r>
          </a:p>
          <a:p>
            <a:endParaRPr/>
          </a:p>
          <a:p>
            <a:r>
              <a:t>Se vuelve a las etapas anteriores cuando hace falta, usando solo los datos de desarrollo.</a:t>
            </a:r>
          </a:p>
          <a:p>
            <a:endParaRPr/>
          </a:p>
          <a:p>
            <a:r>
              <a:t>Adaptación de Fayyad, Piatetsky-Shapiro y Smyth (1996), AI Magazine 17(3), 37–54. DOI: 10.1609/aimag.v17i3.1230.</a:t>
            </a:r>
          </a:p>
          <a:p>
            <a:endParaRPr/>
          </a:p>
          <a:p>
            <a:r>
              <a:t>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Transformación · Etapa 3 de KDD</a:t>
            </a:r>
          </a:p>
          <a:p>
            <a:endParaRPr/>
          </a:p>
          <a:p>
            <a:r>
              <a:t>Cómo se construyen las etiquetas</a:t>
            </a:r>
          </a:p>
          <a:p>
            <a:endParaRPr/>
          </a:p>
          <a:p>
            <a:r>
              <a:t>Una pseudoetiqueta es un valor estimado a partir de las señales: se usa como referencia para entrenar y evaluar.</a:t>
            </a:r>
          </a:p>
          <a:p>
            <a:endParaRPr/>
          </a:p>
          <a:p>
            <a:r>
              <a:t>Modelo Profesor: crea la referencia</a:t>
            </a:r>
          </a:p>
          <a:p>
            <a:endParaRPr/>
          </a:p>
          <a:p>
            <a:r>
              <a:t>Modelo Estudiante: intenta predecirla</a:t>
            </a:r>
          </a:p>
          <a:p>
            <a:endParaRPr/>
          </a:p>
          <a:p>
            <a:r>
              <a:t>Atención</a:t>
            </a:r>
          </a:p>
          <a:p>
            <a:endParaRPr/>
          </a:p>
          <a:p>
            <a:r>
              <a:t>Mirada + pupilometría</a:t>
            </a:r>
          </a:p>
          <a:p>
            <a:endParaRPr/>
          </a:p>
          <a:p>
            <a:r>
              <a:t>Pseudoetiqueta</a:t>
            </a:r>
          </a:p>
          <a:p>
            <a:endParaRPr/>
          </a:p>
          <a:p>
            <a:r>
              <a:t>EEG + GSR</a:t>
            </a:r>
          </a:p>
          <a:p>
            <a:endParaRPr/>
          </a:p>
          <a:p>
            <a:r>
              <a:t>predice</a:t>
            </a:r>
          </a:p>
          <a:p>
            <a:endParaRPr/>
          </a:p>
          <a:p>
            <a:r>
              <a:t>Activación</a:t>
            </a:r>
          </a:p>
          <a:p>
            <a:endParaRPr/>
          </a:p>
          <a:p>
            <a:r>
              <a:t>GSR</a:t>
            </a:r>
          </a:p>
          <a:p>
            <a:endParaRPr/>
          </a:p>
          <a:p>
            <a:r>
              <a:t>Pseudoetiqueta</a:t>
            </a:r>
          </a:p>
          <a:p>
            <a:endParaRPr/>
          </a:p>
          <a:p>
            <a:r>
              <a:t>EEG + mirada + pupilometría</a:t>
            </a:r>
          </a:p>
          <a:p>
            <a:endParaRPr/>
          </a:p>
          <a:p>
            <a:r>
              <a:t>predice</a:t>
            </a:r>
          </a:p>
          <a:p>
            <a:endParaRPr/>
          </a:p>
          <a:p>
            <a:r>
              <a:t>Las señales que crean la etiqueta quedan fuera de las entradas del modelo que la predice.</a:t>
            </a:r>
          </a:p>
          <a:p>
            <a:endParaRPr/>
          </a:p>
          <a:p>
            <a:r>
              <a:t>Eye tracking mide la mirada, no la atención directa. GSR aproxima activación (arousal), sin identificar alegría, tristeza u otras emociones.</a:t>
            </a:r>
          </a:p>
          <a:p>
            <a:endParaRPr/>
          </a:p>
          <a:p>
            <a:r>
              <a:t>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Minería de datos y evaluación · Etapas 4 y 5 de KDD</a:t>
            </a:r>
          </a:p>
          <a:p>
            <a:endParaRPr/>
          </a:p>
          <a:p>
            <a:r>
              <a:t>Cómo se comparan los modelos</a:t>
            </a:r>
          </a:p>
          <a:p>
            <a:endParaRPr/>
          </a:p>
          <a:p>
            <a:r>
              <a:t>La fusión cambia el momento en que se combinan las señales.</a:t>
            </a:r>
          </a:p>
          <a:p>
            <a:endParaRPr/>
          </a:p>
          <a:p>
            <a:r>
              <a:t>Temprana</a:t>
            </a:r>
          </a:p>
          <a:p>
            <a:endParaRPr/>
          </a:p>
          <a:p>
            <a:r>
              <a:t>Unir características antes del modelo.</a:t>
            </a:r>
          </a:p>
          <a:p>
            <a:endParaRPr/>
          </a:p>
          <a:p>
            <a:r>
              <a:t>A</a:t>
            </a:r>
          </a:p>
          <a:p>
            <a:endParaRPr/>
          </a:p>
          <a:p>
            <a:r>
              <a:t>B</a:t>
            </a:r>
          </a:p>
          <a:p>
            <a:endParaRPr/>
          </a:p>
          <a:p>
            <a:r>
              <a:t>A + B</a:t>
            </a:r>
          </a:p>
          <a:p>
            <a:endParaRPr/>
          </a:p>
          <a:p>
            <a:r>
              <a:t>Modelo</a:t>
            </a:r>
          </a:p>
          <a:p>
            <a:endParaRPr/>
          </a:p>
          <a:p>
            <a:r>
              <a:t>Intermedia</a:t>
            </a:r>
          </a:p>
          <a:p>
            <a:endParaRPr/>
          </a:p>
          <a:p>
            <a:r>
              <a:t>Unir representaciones aprendidas.</a:t>
            </a:r>
          </a:p>
          <a:p>
            <a:endParaRPr/>
          </a:p>
          <a:p>
            <a:r>
              <a:t>A</a:t>
            </a:r>
          </a:p>
          <a:p>
            <a:endParaRPr/>
          </a:p>
          <a:p>
            <a:r>
              <a:t>B</a:t>
            </a:r>
          </a:p>
          <a:p>
            <a:endParaRPr/>
          </a:p>
          <a:p>
            <a:r>
              <a:t>Red</a:t>
            </a:r>
          </a:p>
          <a:p>
            <a:endParaRPr/>
          </a:p>
          <a:p>
            <a:r>
              <a:t>Red</a:t>
            </a:r>
          </a:p>
          <a:p>
            <a:endParaRPr/>
          </a:p>
          <a:p>
            <a:r>
              <a:t>Unión</a:t>
            </a:r>
          </a:p>
          <a:p>
            <a:endParaRPr/>
          </a:p>
          <a:p>
            <a:r>
              <a:t>Tardía</a:t>
            </a:r>
          </a:p>
          <a:p>
            <a:endParaRPr/>
          </a:p>
          <a:p>
            <a:r>
              <a:t>Combinar las predicciones de cada modelo.</a:t>
            </a:r>
          </a:p>
          <a:p>
            <a:endParaRPr/>
          </a:p>
          <a:p>
            <a:r>
              <a:t>Modelo A</a:t>
            </a:r>
          </a:p>
          <a:p>
            <a:endParaRPr/>
          </a:p>
          <a:p>
            <a:r>
              <a:t>Modelo B</a:t>
            </a:r>
          </a:p>
          <a:p>
            <a:endParaRPr/>
          </a:p>
          <a:p>
            <a:r>
              <a:t>Promedio /</a:t>
            </a:r>
          </a:p>
          <a:p>
            <a:r>
              <a:t>combinación</a:t>
            </a:r>
          </a:p>
          <a:p>
            <a:endParaRPr/>
          </a:p>
          <a:p>
            <a:r>
              <a:t>A y B representan modalidades, como EEG y GSR. Solo se usan las señales permitidas para cada variable.</a:t>
            </a:r>
          </a:p>
          <a:p>
            <a:endParaRPr/>
          </a:p>
          <a:p>
            <a:r>
              <a:t>Comparación justa</a:t>
            </a:r>
          </a:p>
          <a:p>
            <a:endParaRPr/>
          </a:p>
          <a:p>
            <a:r>
              <a:t>Mismas etiquetas y participantes.</a:t>
            </a:r>
          </a:p>
          <a:p>
            <a:r>
              <a:t>Ajuste dentro del entrenamiento; evaluación final reservada.</a:t>
            </a:r>
          </a:p>
          <a:p>
            <a:endParaRPr/>
          </a:p>
          <a:p>
            <a:r>
              <a:t>Exactitud balanceada (BA),</a:t>
            </a:r>
          </a:p>
          <a:p>
            <a:r>
              <a:t>macro-F1 y recall por clase.</a:t>
            </a:r>
          </a:p>
          <a:p>
            <a:r>
              <a:t>Variación entre participantes.</a:t>
            </a:r>
          </a:p>
          <a:p>
            <a:endParaRPr/>
          </a:p>
          <a:p>
            <a:r>
              <a:t>Evaluación offline; búsquedas previas exploratorias. Recall: proporción detectada por clase. BA: promedio de esos recalls. Macro-F1: promedio por clase del equilibrio entre precisión y recall.</a:t>
            </a:r>
          </a:p>
          <a:p>
            <a:endParaRPr/>
          </a:p>
          <a:p>
            <a:r>
              <a:t>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68400" y="342900"/>
            <a:ext cx="13716000" cy="3429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B5968"/>
                </a:solidFill>
                <a:latin typeface="Arial"/>
              </a:defRPr>
            </a:pPr>
            <a:r>
              <a:t>Universidad de Chile · Magíster en Data Science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1100" y="3258255"/>
            <a:ext cx="9372600" cy="27813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700" b="0">
                <a:solidFill>
                  <a:srgbClr val="16324F"/>
                </a:solidFill>
                <a:latin typeface="Cambria"/>
              </a:defRPr>
            </a:pPr>
            <a:endParaRPr sz="4400" dirty="0"/>
          </a:p>
        </p:txBody>
      </p:sp>
      <p:sp>
        <p:nvSpPr>
          <p:cNvPr id="6" name="TextBox 5"/>
          <p:cNvSpPr txBox="1"/>
          <p:nvPr/>
        </p:nvSpPr>
        <p:spPr>
          <a:xfrm>
            <a:off x="800100" y="6484055"/>
            <a:ext cx="8636000" cy="482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6324F"/>
                </a:solidFill>
                <a:latin typeface="Arial"/>
              </a:defRPr>
            </a:pPr>
            <a:r>
              <a:rPr dirty="0"/>
              <a:t>Mario Romero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6966655"/>
            <a:ext cx="9080500" cy="4445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6324F"/>
                </a:solidFill>
                <a:latin typeface="Arial"/>
              </a:defRPr>
            </a:pPr>
            <a:r>
              <a:t>Profesor guía: Dr. Juan D. Velásquez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356850" y="1974921"/>
            <a:ext cx="5016500" cy="4343400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98150" y="2228921"/>
            <a:ext cx="4445000" cy="4445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6324F"/>
                </a:solidFill>
                <a:latin typeface="Arial"/>
              </a:defRPr>
            </a:pPr>
            <a:r>
              <a:t>Una sesión, cuatro señales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98150" y="3054421"/>
            <a:ext cx="1079500" cy="3175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B5968"/>
                </a:solidFill>
                <a:latin typeface="Arial"/>
              </a:defRPr>
            </a:pPr>
            <a:r>
              <a:t>EEG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1830050" y="3194121"/>
            <a:ext cx="76200" cy="85714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906250" y="3279835"/>
            <a:ext cx="76200" cy="42296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1982450" y="3301437"/>
            <a:ext cx="76200" cy="20694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2058650" y="3232760"/>
            <a:ext cx="76200" cy="68677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2134850" y="3157376"/>
            <a:ext cx="76200" cy="75384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2211050" y="3120078"/>
            <a:ext cx="76200" cy="37298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2287250" y="3120078"/>
            <a:ext cx="76200" cy="24405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2363450" y="3144483"/>
            <a:ext cx="76200" cy="75515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2439650" y="3219998"/>
            <a:ext cx="76200" cy="87616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2515850" y="3307614"/>
            <a:ext cx="76200" cy="53731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2592050" y="3353508"/>
            <a:ext cx="76200" cy="7837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2668250" y="3289933"/>
            <a:ext cx="76200" cy="63575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2744450" y="3206739"/>
            <a:ext cx="76200" cy="83194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2820650" y="3150440"/>
            <a:ext cx="76200" cy="56299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2896850" y="3150440"/>
            <a:ext cx="76200" cy="1902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2973050" y="3152342"/>
            <a:ext cx="76200" cy="58965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3049250" y="3211307"/>
            <a:ext cx="76200" cy="83075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3125450" y="3294382"/>
            <a:ext cx="76200" cy="60558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3201650" y="3354940"/>
            <a:ext cx="76200" cy="3411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13277850" y="3301055"/>
            <a:ext cx="76200" cy="57296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13354050" y="3212544"/>
            <a:ext cx="76200" cy="88511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13430250" y="3139151"/>
            <a:ext cx="76200" cy="73393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13506450" y="3118587"/>
            <a:ext cx="76200" cy="20564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3582650" y="3118587"/>
            <a:ext cx="76200" cy="40629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3658850" y="3159216"/>
            <a:ext cx="76200" cy="76271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3735050" y="3235487"/>
            <a:ext cx="76200" cy="66551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3811250" y="3302038"/>
            <a:ext cx="76200" cy="16658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3887450" y="3272633"/>
            <a:ext cx="76200" cy="46063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3963650" y="3185466"/>
            <a:ext cx="76200" cy="87167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14039850" y="3101408"/>
            <a:ext cx="76200" cy="84058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4116050" y="3062981"/>
            <a:ext cx="76200" cy="38427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4192250" y="3062981"/>
            <a:ext cx="76200" cy="24678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4268450" y="3087659"/>
            <a:ext cx="76200" cy="70640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4344650" y="3158299"/>
            <a:ext cx="76200" cy="74317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4420850" y="3232616"/>
            <a:ext cx="76200" cy="33878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14497050" y="3238305"/>
            <a:ext cx="76200" cy="28189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14573250" y="3160849"/>
            <a:ext cx="76200" cy="77456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14649450" y="3074337"/>
            <a:ext cx="76200" cy="86512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14725650" y="3024298"/>
            <a:ext cx="76200" cy="50039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4801850" y="3024298"/>
            <a:ext cx="76200" cy="12244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10598150" y="3740221"/>
            <a:ext cx="1079500" cy="3175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B5968"/>
                </a:solidFill>
                <a:latin typeface="Arial"/>
              </a:defRPr>
            </a:pPr>
            <a:r>
              <a:t>GSR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11830050" y="3976101"/>
            <a:ext cx="76200" cy="18894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1906250" y="3994995"/>
            <a:ext cx="76200" cy="12612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1982450" y="4007607"/>
            <a:ext cx="76200" cy="5920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12058650" y="4012719"/>
            <a:ext cx="76200" cy="808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12134850" y="4005522"/>
            <a:ext cx="76200" cy="7197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12211050" y="3992627"/>
            <a:ext cx="76200" cy="12895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12287250" y="3975031"/>
            <a:ext cx="76200" cy="17596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12363450" y="3953984"/>
            <a:ext cx="76200" cy="21047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12439650" y="3930904"/>
            <a:ext cx="76200" cy="23080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12515850" y="3907304"/>
            <a:ext cx="76200" cy="23600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12592050" y="3884694"/>
            <a:ext cx="76200" cy="22610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12668250" y="3864497"/>
            <a:ext cx="76200" cy="20197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12744450" y="3847968"/>
            <a:ext cx="76200" cy="16529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12820650" y="3836114"/>
            <a:ext cx="76200" cy="11854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12896850" y="3829643"/>
            <a:ext cx="76200" cy="6471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2973050" y="3828917"/>
            <a:ext cx="76200" cy="726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13049250" y="3828917"/>
            <a:ext cx="76200" cy="5019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13125450" y="3833936"/>
            <a:ext cx="76200" cy="10400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13201650" y="3844336"/>
            <a:ext cx="76200" cy="15075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13277850" y="3859411"/>
            <a:ext cx="76200" cy="18745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13354050" y="3878156"/>
            <a:ext cx="76200" cy="21168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13430250" y="3899324"/>
            <a:ext cx="76200" cy="22179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13506450" y="3921503"/>
            <a:ext cx="76200" cy="21693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13582650" y="3943196"/>
            <a:ext cx="76200" cy="19715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13658850" y="3962911"/>
            <a:ext cx="76200" cy="16339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13735050" y="3979250"/>
            <a:ext cx="76200" cy="11741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13811250" y="3990991"/>
            <a:ext cx="76200" cy="6172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13887450" y="3997105"/>
            <a:ext cx="76200" cy="58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13963650" y="3990506"/>
            <a:ext cx="76200" cy="6599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14039850" y="3977429"/>
            <a:ext cx="76200" cy="13077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14116050" y="3958310"/>
            <a:ext cx="76200" cy="19119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14192250" y="3933935"/>
            <a:ext cx="76200" cy="24375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14268450" y="3905402"/>
            <a:ext cx="76200" cy="28533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14344650" y="3874061"/>
            <a:ext cx="76200" cy="31341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14420850" y="3841438"/>
            <a:ext cx="76200" cy="32623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14497050" y="3809151"/>
            <a:ext cx="76200" cy="32287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14573250" y="3778825"/>
            <a:ext cx="76200" cy="30326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14649450" y="3751994"/>
            <a:ext cx="76200" cy="26831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14725650" y="3730021"/>
            <a:ext cx="76200" cy="21973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14801850" y="3714021"/>
            <a:ext cx="76200" cy="16000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10598150" y="4426021"/>
            <a:ext cx="1079500" cy="3175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B5968"/>
                </a:solidFill>
                <a:latin typeface="Arial"/>
              </a:defRPr>
            </a:pPr>
            <a:r>
              <a:t>Mirada</a:t>
            </a:r>
          </a:p>
        </p:txBody>
      </p:sp>
      <p:cxnSp>
        <p:nvCxnSpPr>
          <p:cNvPr id="95" name="Connector 94"/>
          <p:cNvCxnSpPr/>
          <p:nvPr/>
        </p:nvCxnSpPr>
        <p:spPr>
          <a:xfrm flipV="1">
            <a:off x="11830050" y="4662339"/>
            <a:ext cx="76200" cy="7314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11906250" y="4649801"/>
            <a:ext cx="76200" cy="12538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11982450" y="4633070"/>
            <a:ext cx="76200" cy="16731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12058650" y="4613410"/>
            <a:ext cx="76200" cy="19660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12134850" y="4592239"/>
            <a:ext cx="76200" cy="21171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12211050" y="4571049"/>
            <a:ext cx="76200" cy="21190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12287250" y="4551316"/>
            <a:ext cx="76200" cy="19733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12363450" y="4534407"/>
            <a:ext cx="76200" cy="16909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12439650" y="4521508"/>
            <a:ext cx="76200" cy="12899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12515850" y="4513544"/>
            <a:ext cx="76200" cy="7964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2592050" y="4511131"/>
            <a:ext cx="76200" cy="2413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12668250" y="4511131"/>
            <a:ext cx="76200" cy="3405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12744450" y="4514536"/>
            <a:ext cx="76200" cy="9121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12820650" y="4523657"/>
            <a:ext cx="76200" cy="14376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12896850" y="4538033"/>
            <a:ext cx="76200" cy="18835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12973050" y="4556868"/>
            <a:ext cx="76200" cy="22205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13049250" y="4579073"/>
            <a:ext cx="76200" cy="24262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13125450" y="4603335"/>
            <a:ext cx="76200" cy="24850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13201650" y="4628185"/>
            <a:ext cx="76200" cy="23905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13277850" y="4652090"/>
            <a:ext cx="76200" cy="21447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13354050" y="4673537"/>
            <a:ext cx="76200" cy="17590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13430250" y="4691127"/>
            <a:ext cx="76200" cy="12523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13506450" y="4703650"/>
            <a:ext cx="76200" cy="6515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13582650" y="4710048"/>
            <a:ext cx="76200" cy="117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13658850" y="4703040"/>
            <a:ext cx="76200" cy="7008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13735050" y="4689256"/>
            <a:ext cx="76200" cy="13784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13811250" y="4669188"/>
            <a:ext cx="76200" cy="20068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13887450" y="4643680"/>
            <a:ext cx="76200" cy="25508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13963650" y="4613880"/>
            <a:ext cx="76200" cy="29800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14039850" y="4581180"/>
            <a:ext cx="76200" cy="32700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14116050" y="4547141"/>
            <a:ext cx="76200" cy="34039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14192250" y="4513405"/>
            <a:ext cx="76200" cy="33736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14268450" y="4481607"/>
            <a:ext cx="76200" cy="31798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14344650" y="4453282"/>
            <a:ext cx="76200" cy="28325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14420850" y="4429785"/>
            <a:ext cx="76200" cy="23497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14497050" y="4412212"/>
            <a:ext cx="76200" cy="17573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14573250" y="4401341"/>
            <a:ext cx="76200" cy="10871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14649450" y="4397593"/>
            <a:ext cx="76200" cy="3748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14725650" y="4397593"/>
            <a:ext cx="76200" cy="3415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14801850" y="4401008"/>
            <a:ext cx="76200" cy="10236"/>
          </a:xfrm>
          <a:prstGeom prst="line">
            <a:avLst/>
          </a:prstGeom>
          <a:ln w="2159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TextBox 134"/>
          <p:cNvSpPr txBox="1"/>
          <p:nvPr/>
        </p:nvSpPr>
        <p:spPr>
          <a:xfrm>
            <a:off x="10598150" y="5111821"/>
            <a:ext cx="1079500" cy="3175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B5968"/>
                </a:solidFill>
                <a:latin typeface="Arial"/>
              </a:defRPr>
            </a:pPr>
            <a:r>
              <a:t>Pupila</a:t>
            </a:r>
          </a:p>
        </p:txBody>
      </p:sp>
      <p:cxnSp>
        <p:nvCxnSpPr>
          <p:cNvPr id="136" name="Connector 135"/>
          <p:cNvCxnSpPr/>
          <p:nvPr/>
        </p:nvCxnSpPr>
        <p:spPr>
          <a:xfrm flipV="1">
            <a:off x="11830050" y="5247262"/>
            <a:ext cx="76200" cy="20389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11906250" y="5227432"/>
            <a:ext cx="76200" cy="19830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11982450" y="5209610"/>
            <a:ext cx="76200" cy="17822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12058650" y="5195122"/>
            <a:ext cx="76200" cy="14488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12134850" y="5185090"/>
            <a:ext cx="76200" cy="10032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12211050" y="5180368"/>
            <a:ext cx="76200" cy="4722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12287250" y="5180368"/>
            <a:ext cx="76200" cy="1117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12363450" y="5181485"/>
            <a:ext cx="76200" cy="7132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12439650" y="5188617"/>
            <a:ext cx="76200" cy="12952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12515850" y="5201569"/>
            <a:ext cx="76200" cy="18216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12592050" y="5219785"/>
            <a:ext cx="76200" cy="22596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12668250" y="5242381"/>
            <a:ext cx="76200" cy="25807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12744450" y="5268188"/>
            <a:ext cx="76200" cy="27635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12820650" y="5295823"/>
            <a:ext cx="76200" cy="27939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12896850" y="5323762"/>
            <a:ext cx="76200" cy="26669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12973050" y="5350431"/>
            <a:ext cx="76200" cy="23862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13049250" y="5374293"/>
            <a:ext cx="76200" cy="19646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13125450" y="5393939"/>
            <a:ext cx="76200" cy="14227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13201650" y="5408166"/>
            <a:ext cx="76200" cy="7882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13277850" y="5416048"/>
            <a:ext cx="76200" cy="946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13354050" y="5410775"/>
            <a:ext cx="76200" cy="6219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13430250" y="5397551"/>
            <a:ext cx="76200" cy="13224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13506450" y="5377853"/>
            <a:ext cx="76200" cy="19698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13582650" y="5352563"/>
            <a:ext cx="76200" cy="25290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13658850" y="5322861"/>
            <a:ext cx="76200" cy="29702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13735050" y="5290166"/>
            <a:ext cx="76200" cy="32695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13811250" y="5256055"/>
            <a:ext cx="76200" cy="34111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13887450" y="5222173"/>
            <a:ext cx="76200" cy="33882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13963650" y="5190151"/>
            <a:ext cx="76200" cy="32022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14039850" y="5161508"/>
            <a:ext cx="76200" cy="28643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14116050" y="5137572"/>
            <a:ext cx="76200" cy="23936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14192250" y="5119405"/>
            <a:ext cx="76200" cy="18167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14268450" y="5107751"/>
            <a:ext cx="76200" cy="11654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14344650" y="5102991"/>
            <a:ext cx="76200" cy="4760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14420850" y="5102991"/>
            <a:ext cx="76200" cy="2136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14497050" y="5105127"/>
            <a:ext cx="76200" cy="8658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14573250" y="5113785"/>
            <a:ext cx="76200" cy="14457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14649450" y="5128242"/>
            <a:ext cx="76200" cy="19224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14725650" y="5147466"/>
            <a:ext cx="76200" cy="22714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14801850" y="5170180"/>
            <a:ext cx="76200" cy="24757"/>
          </a:xfrm>
          <a:prstGeom prst="line">
            <a:avLst/>
          </a:prstGeom>
          <a:ln w="2159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11868150" y="6038921"/>
            <a:ext cx="3136900" cy="0"/>
          </a:xfrm>
          <a:prstGeom prst="line">
            <a:avLst/>
          </a:prstGeom>
          <a:ln w="25400">
            <a:solidFill>
              <a:srgbClr val="4B59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H="1">
            <a:off x="14896779" y="6038921"/>
            <a:ext cx="108271" cy="66381"/>
          </a:xfrm>
          <a:prstGeom prst="line">
            <a:avLst/>
          </a:prstGeom>
          <a:ln w="25400">
            <a:solidFill>
              <a:srgbClr val="4B59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H="1" flipV="1">
            <a:off x="14896779" y="5972539"/>
            <a:ext cx="108271" cy="66382"/>
          </a:xfrm>
          <a:prstGeom prst="line">
            <a:avLst/>
          </a:prstGeom>
          <a:ln w="25400">
            <a:solidFill>
              <a:srgbClr val="4B59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TextBox 181"/>
          <p:cNvSpPr txBox="1"/>
          <p:nvPr/>
        </p:nvSpPr>
        <p:spPr>
          <a:xfrm>
            <a:off x="584200" y="8610600"/>
            <a:ext cx="14414500" cy="381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4B5968"/>
                </a:solidFill>
                <a:latin typeface="Arial"/>
              </a:defRPr>
            </a:pPr>
            <a:r>
              <a:rPr dirty="0" err="1"/>
              <a:t>Fondecyt</a:t>
            </a:r>
            <a:r>
              <a:rPr dirty="0"/>
              <a:t> 1231122 · Toma de </a:t>
            </a:r>
            <a:r>
              <a:rPr dirty="0" err="1"/>
              <a:t>Muestra</a:t>
            </a:r>
            <a:r>
              <a:rPr dirty="0"/>
              <a:t> 2 · </a:t>
            </a:r>
            <a:r>
              <a:rPr dirty="0" err="1"/>
              <a:t>septiembre</a:t>
            </a:r>
            <a:r>
              <a:rPr dirty="0"/>
              <a:t> de 2026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5240000" y="8610600"/>
            <a:ext cx="406400" cy="304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4B5968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85" name="CuadroTexto 184">
            <a:extLst>
              <a:ext uri="{FF2B5EF4-FFF2-40B4-BE49-F238E27FC236}">
                <a16:creationId xmlns:a16="http://schemas.microsoft.com/office/drawing/2014/main" id="{443D0932-1BBD-0000-5F4E-2274717B42FF}"/>
              </a:ext>
            </a:extLst>
          </p:cNvPr>
          <p:cNvSpPr txBox="1"/>
          <p:nvPr/>
        </p:nvSpPr>
        <p:spPr>
          <a:xfrm>
            <a:off x="723900" y="2017254"/>
            <a:ext cx="8128000" cy="3758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700" b="0">
                <a:solidFill>
                  <a:srgbClr val="16324F"/>
                </a:solidFill>
                <a:latin typeface="Cambria"/>
              </a:defRPr>
            </a:pPr>
            <a:r>
              <a:rPr lang="es-ES" sz="4400" dirty="0"/>
              <a:t>Modelos temporales multimodales para la detección de atención y activación emocional durante la navegación web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6BBF4-09F5-6B22-AC49-41C435505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6FFAEB-2DA0-B1A0-D9B7-3FF12B14C385}"/>
              </a:ext>
            </a:extLst>
          </p:cNvPr>
          <p:cNvSpPr txBox="1"/>
          <p:nvPr/>
        </p:nvSpPr>
        <p:spPr>
          <a:xfrm>
            <a:off x="1168400" y="342900"/>
            <a:ext cx="13716000" cy="3429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B5968"/>
                </a:solidFill>
                <a:latin typeface="Arial"/>
              </a:defRPr>
            </a:pPr>
            <a:r>
              <a:t>Universidad de Chile · Magíster en Data Science</a:t>
            </a: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6A7F9ED6-B00A-B505-B5EA-DB1C88B67DD4}"/>
              </a:ext>
            </a:extLst>
          </p:cNvPr>
          <p:cNvCxnSpPr/>
          <p:nvPr/>
        </p:nvCxnSpPr>
        <p:spPr>
          <a:xfrm>
            <a:off x="584200" y="8470900"/>
            <a:ext cx="15087600" cy="0"/>
          </a:xfrm>
          <a:prstGeom prst="line">
            <a:avLst/>
          </a:prstGeom>
          <a:ln w="12700">
            <a:solidFill>
              <a:srgbClr val="CDD7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2148D65-402A-0A0E-7D29-574CD8ADF17B}"/>
              </a:ext>
            </a:extLst>
          </p:cNvPr>
          <p:cNvSpPr txBox="1"/>
          <p:nvPr/>
        </p:nvSpPr>
        <p:spPr>
          <a:xfrm>
            <a:off x="676797" y="1873250"/>
            <a:ext cx="8636000" cy="406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6324F"/>
                </a:solidFill>
                <a:latin typeface="Arial"/>
              </a:defRPr>
            </a:pPr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38361E-D308-83B7-7A19-AF8E9F4BD5D3}"/>
              </a:ext>
            </a:extLst>
          </p:cNvPr>
          <p:cNvSpPr txBox="1"/>
          <p:nvPr/>
        </p:nvSpPr>
        <p:spPr>
          <a:xfrm>
            <a:off x="676797" y="2444749"/>
            <a:ext cx="8636000" cy="45882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6324F"/>
                </a:solidFill>
                <a:latin typeface="Arial"/>
              </a:defRPr>
            </a:pPr>
            <a:r>
              <a:rPr dirty="0"/>
              <a:t>El </a:t>
            </a:r>
            <a:r>
              <a:rPr dirty="0" err="1"/>
              <a:t>proyecto</a:t>
            </a:r>
            <a:r>
              <a:rPr dirty="0"/>
              <a:t> </a:t>
            </a:r>
            <a:r>
              <a:rPr dirty="0" err="1"/>
              <a:t>registra</a:t>
            </a:r>
            <a:r>
              <a:rPr dirty="0"/>
              <a:t> </a:t>
            </a:r>
            <a:r>
              <a:rPr dirty="0" err="1"/>
              <a:t>señales</a:t>
            </a:r>
            <a:r>
              <a:rPr dirty="0"/>
              <a:t> </a:t>
            </a:r>
            <a:r>
              <a:rPr dirty="0" err="1"/>
              <a:t>fisiológicas</a:t>
            </a:r>
            <a:r>
              <a:rPr dirty="0"/>
              <a:t> </a:t>
            </a:r>
            <a:r>
              <a:rPr dirty="0" err="1"/>
              <a:t>mientras</a:t>
            </a:r>
            <a:r>
              <a:rPr dirty="0"/>
              <a:t> las personas </a:t>
            </a:r>
            <a:r>
              <a:rPr dirty="0" err="1"/>
              <a:t>navegan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la web. </a:t>
            </a:r>
            <a:endParaRPr lang="es-ES" dirty="0"/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6324F"/>
                </a:solidFill>
                <a:latin typeface="Arial"/>
              </a:defRPr>
            </a:pPr>
            <a:endParaRPr lang="es-CL" dirty="0"/>
          </a:p>
          <a:p>
            <a:pPr>
              <a:lnSpc>
                <a:spcPct val="110000"/>
              </a:lnSpc>
              <a:defRPr sz="2300" b="0">
                <a:solidFill>
                  <a:srgbClr val="16324F"/>
                </a:solidFill>
                <a:latin typeface="Arial"/>
              </a:defRPr>
            </a:pPr>
            <a:r>
              <a:rPr lang="es-ES" b="1" dirty="0"/>
              <a:t>Tópico 1:</a:t>
            </a:r>
            <a:endParaRPr lang="es-CL" b="1" dirty="0"/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6324F"/>
                </a:solidFill>
                <a:latin typeface="Arial"/>
              </a:defRPr>
            </a:pPr>
            <a:r>
              <a:rPr dirty="0"/>
              <a:t>La </a:t>
            </a:r>
            <a:r>
              <a:rPr dirty="0" err="1"/>
              <a:t>tesis</a:t>
            </a:r>
            <a:r>
              <a:rPr dirty="0"/>
              <a:t> </a:t>
            </a:r>
            <a:r>
              <a:rPr dirty="0" err="1"/>
              <a:t>estudia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evolución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el </a:t>
            </a:r>
            <a:r>
              <a:rPr dirty="0" err="1"/>
              <a:t>tiempo</a:t>
            </a:r>
            <a:r>
              <a:rPr dirty="0"/>
              <a:t> </a:t>
            </a:r>
            <a:r>
              <a:rPr dirty="0" err="1"/>
              <a:t>ayuda</a:t>
            </a:r>
            <a:r>
              <a:rPr dirty="0"/>
              <a:t> a </a:t>
            </a:r>
            <a:r>
              <a:rPr dirty="0" err="1"/>
              <a:t>predecir</a:t>
            </a:r>
            <a:r>
              <a:rPr dirty="0"/>
              <a:t> </a:t>
            </a:r>
            <a:r>
              <a:rPr dirty="0" err="1"/>
              <a:t>atención</a:t>
            </a:r>
            <a:r>
              <a:rPr dirty="0"/>
              <a:t> y </a:t>
            </a:r>
            <a:r>
              <a:rPr dirty="0" err="1"/>
              <a:t>activación</a:t>
            </a:r>
            <a:r>
              <a:rPr dirty="0"/>
              <a:t>.</a:t>
            </a:r>
            <a:endParaRPr lang="es-ES" dirty="0"/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6324F"/>
                </a:solidFill>
                <a:latin typeface="Arial"/>
              </a:defRPr>
            </a:pPr>
            <a:endParaRPr lang="es-CL" dirty="0"/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6324F"/>
                </a:solidFill>
                <a:latin typeface="Arial"/>
              </a:defRPr>
            </a:pPr>
            <a:r>
              <a:rPr lang="es-CL" b="1" dirty="0"/>
              <a:t>Tópico 2: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6324F"/>
                </a:solidFill>
                <a:latin typeface="Arial"/>
              </a:defRPr>
            </a:pPr>
            <a:r>
              <a:rPr lang="es-CL" dirty="0"/>
              <a:t>La tesis estudia si el momento de fusión influye en la predicción de atención y activación 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6324F"/>
                </a:solidFill>
                <a:latin typeface="Arial"/>
              </a:defRPr>
            </a:pPr>
            <a:endParaRPr dirty="0"/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FD7FD4AC-31DF-09AD-0201-C4D9D51556D5}"/>
              </a:ext>
            </a:extLst>
          </p:cNvPr>
          <p:cNvSpPr txBox="1"/>
          <p:nvPr/>
        </p:nvSpPr>
        <p:spPr>
          <a:xfrm>
            <a:off x="10553700" y="2296691"/>
            <a:ext cx="4953000" cy="381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66A70"/>
                </a:solidFill>
                <a:latin typeface="Arial"/>
              </a:defRPr>
            </a:pPr>
            <a:r>
              <a:t>Pregunta de la tesis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023496E2-38FB-FDEC-36B7-EAF8A0EB12C8}"/>
              </a:ext>
            </a:extLst>
          </p:cNvPr>
          <p:cNvSpPr txBox="1"/>
          <p:nvPr/>
        </p:nvSpPr>
        <p:spPr>
          <a:xfrm>
            <a:off x="10553700" y="2817391"/>
            <a:ext cx="4953000" cy="1143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16324F"/>
                </a:solidFill>
                <a:latin typeface="Cambria"/>
              </a:defRPr>
            </a:pPr>
            <a:r>
              <a:rPr dirty="0"/>
              <a:t>¿</a:t>
            </a:r>
            <a:r>
              <a:rPr dirty="0" err="1"/>
              <a:t>Aporta</a:t>
            </a:r>
            <a:r>
              <a:rPr dirty="0"/>
              <a:t> </a:t>
            </a:r>
            <a:r>
              <a:rPr dirty="0" err="1"/>
              <a:t>información</a:t>
            </a:r>
            <a:r>
              <a:rPr dirty="0"/>
              <a:t> </a:t>
            </a:r>
            <a:r>
              <a:rPr lang="es-ES" dirty="0"/>
              <a:t>incluir la variable tiempo</a:t>
            </a:r>
            <a:r>
              <a:rPr dirty="0"/>
              <a:t>de las </a:t>
            </a:r>
            <a:r>
              <a:rPr dirty="0" err="1"/>
              <a:t>señales</a:t>
            </a:r>
            <a:r>
              <a:rPr dirty="0"/>
              <a:t>?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C34E917C-E36D-D605-5C59-A72F34A52F91}"/>
              </a:ext>
            </a:extLst>
          </p:cNvPr>
          <p:cNvSpPr txBox="1"/>
          <p:nvPr/>
        </p:nvSpPr>
        <p:spPr>
          <a:xfrm>
            <a:off x="15240000" y="8610600"/>
            <a:ext cx="406400" cy="304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4B5968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85" name="TextBox 3">
            <a:extLst>
              <a:ext uri="{FF2B5EF4-FFF2-40B4-BE49-F238E27FC236}">
                <a16:creationId xmlns:a16="http://schemas.microsoft.com/office/drawing/2014/main" id="{7712D6FF-068D-EDD2-61A9-94513110502E}"/>
              </a:ext>
            </a:extLst>
          </p:cNvPr>
          <p:cNvSpPr txBox="1"/>
          <p:nvPr/>
        </p:nvSpPr>
        <p:spPr>
          <a:xfrm>
            <a:off x="584200" y="889000"/>
            <a:ext cx="14986000" cy="965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800" b="0">
                <a:solidFill>
                  <a:srgbClr val="16324F"/>
                </a:solidFill>
                <a:latin typeface="Cambria"/>
              </a:defRPr>
            </a:pPr>
            <a:r>
              <a:rPr lang="es-CL" dirty="0"/>
              <a:t>Antecedentes</a:t>
            </a:r>
          </a:p>
        </p:txBody>
      </p:sp>
      <p:sp>
        <p:nvSpPr>
          <p:cNvPr id="187" name="TextBox 180">
            <a:extLst>
              <a:ext uri="{FF2B5EF4-FFF2-40B4-BE49-F238E27FC236}">
                <a16:creationId xmlns:a16="http://schemas.microsoft.com/office/drawing/2014/main" id="{67A6473C-EABF-523B-0121-81136FAF09B9}"/>
              </a:ext>
            </a:extLst>
          </p:cNvPr>
          <p:cNvSpPr txBox="1"/>
          <p:nvPr/>
        </p:nvSpPr>
        <p:spPr>
          <a:xfrm>
            <a:off x="10553700" y="4765076"/>
            <a:ext cx="4953000" cy="1143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16324F"/>
                </a:solidFill>
                <a:latin typeface="Cambria"/>
              </a:defRPr>
            </a:pPr>
            <a:r>
              <a:rPr dirty="0"/>
              <a:t>¿</a:t>
            </a:r>
            <a:r>
              <a:rPr lang="es-ES" dirty="0"/>
              <a:t>Cuál es el momento ad hoc para mezclar las señales</a:t>
            </a:r>
            <a:r>
              <a:rPr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195142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68400" y="342900"/>
            <a:ext cx="13716000" cy="3429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B5968"/>
                </a:solidFill>
                <a:latin typeface="Arial"/>
              </a:defRPr>
            </a:pPr>
            <a:r>
              <a:t>Toma de Muestra 2 · Navegación web en laboratorio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889000"/>
            <a:ext cx="14986000" cy="965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800" b="0">
                <a:solidFill>
                  <a:srgbClr val="16324F"/>
                </a:solidFill>
                <a:latin typeface="Cambria"/>
              </a:defRPr>
            </a:pPr>
            <a:r>
              <a:rPr dirty="0"/>
              <a:t>Datos </a:t>
            </a:r>
            <a:r>
              <a:rPr dirty="0" err="1"/>
              <a:t>disponibles</a:t>
            </a:r>
            <a:endParaRPr dirty="0"/>
          </a:p>
        </p:txBody>
      </p:sp>
      <p:cxnSp>
        <p:nvCxnSpPr>
          <p:cNvPr id="5" name="Connector 4"/>
          <p:cNvCxnSpPr/>
          <p:nvPr/>
        </p:nvCxnSpPr>
        <p:spPr>
          <a:xfrm>
            <a:off x="584200" y="8470900"/>
            <a:ext cx="15087600" cy="0"/>
          </a:xfrm>
          <a:prstGeom prst="line">
            <a:avLst/>
          </a:prstGeom>
          <a:ln w="12700">
            <a:solidFill>
              <a:srgbClr val="CDD7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2006600"/>
            <a:ext cx="8763000" cy="533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6324F"/>
                </a:solidFill>
                <a:latin typeface="Arial"/>
              </a:defRPr>
            </a:pPr>
            <a:r>
              <a:t>48 participantes registrados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12800" y="2984500"/>
            <a:ext cx="0" cy="584200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746418" y="3460429"/>
            <a:ext cx="66382" cy="108271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812800" y="3460429"/>
            <a:ext cx="66381" cy="108271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206500" y="3060700"/>
            <a:ext cx="7874000" cy="482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66A70"/>
                </a:solidFill>
                <a:latin typeface="Arial"/>
              </a:defRPr>
            </a:pPr>
            <a:r>
              <a:t>41 en el conjunto principal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6500" y="3695700"/>
            <a:ext cx="8255000" cy="838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4B5968"/>
                </a:solidFill>
                <a:latin typeface="Arial"/>
              </a:defRPr>
            </a:pPr>
            <a:r>
              <a:t>6 excluidos por calidad o falta de señal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4B5968"/>
                </a:solidFill>
                <a:latin typeface="Arial"/>
              </a:defRPr>
            </a:pPr>
            <a:r>
              <a:t>1 analizado por separado por sincronización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4876800"/>
            <a:ext cx="8763000" cy="406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6324F"/>
                </a:solidFill>
                <a:latin typeface="Arial"/>
              </a:defRPr>
            </a:pPr>
            <a:r>
              <a:t>La partición se hace por persona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4200" y="5511800"/>
            <a:ext cx="4838700" cy="1117600"/>
          </a:xfrm>
          <a:prstGeom prst="rect">
            <a:avLst/>
          </a:prstGeom>
          <a:solidFill>
            <a:srgbClr val="145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4700" y="5651500"/>
            <a:ext cx="4508500" cy="482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Arial"/>
              </a:defRPr>
            </a:pPr>
            <a:r>
              <a:t>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700" y="6184900"/>
            <a:ext cx="4508500" cy="355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t>Entrenamiento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11800" y="5511800"/>
            <a:ext cx="1549400" cy="1117600"/>
          </a:xfrm>
          <a:prstGeom prst="rect">
            <a:avLst/>
          </a:prstGeom>
          <a:solidFill>
            <a:srgbClr val="066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02300" y="5651500"/>
            <a:ext cx="1219200" cy="482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02300" y="6184900"/>
            <a:ext cx="1219200" cy="355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t>Validación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50100" y="5511800"/>
            <a:ext cx="1549400" cy="1117600"/>
          </a:xfrm>
          <a:prstGeom prst="rect">
            <a:avLst/>
          </a:prstGeom>
          <a:solidFill>
            <a:srgbClr val="066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40600" y="5651500"/>
            <a:ext cx="1219200" cy="482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40600" y="6184900"/>
            <a:ext cx="1219200" cy="355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t>Prueba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7099300"/>
            <a:ext cx="8394700" cy="914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6324F"/>
                </a:solidFill>
                <a:latin typeface="Arial"/>
              </a:defRPr>
            </a:pPr>
            <a:r>
              <a:t>Cada ventana resume 2 segundos de registro.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6324F"/>
                </a:solidFill>
                <a:latin typeface="Arial"/>
              </a:defRPr>
            </a:pPr>
            <a:r>
              <a:t>La siguiente comienza 1 segundo después.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753600" y="2120900"/>
            <a:ext cx="0" cy="939800"/>
          </a:xfrm>
          <a:prstGeom prst="line">
            <a:avLst/>
          </a:prstGeom>
          <a:ln w="381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045700" y="2095500"/>
            <a:ext cx="5473700" cy="5969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6324F"/>
                </a:solidFill>
                <a:latin typeface="Arial"/>
              </a:defRPr>
            </a:pPr>
            <a:r>
              <a:t>EEG · actividad eléctrica cerebral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45700" y="2768600"/>
            <a:ext cx="5473700" cy="660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B5968"/>
                </a:solidFill>
                <a:latin typeface="Arial"/>
              </a:defRPr>
            </a:pPr>
            <a:r>
              <a:t>16 canales · 125 Hz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753600" y="3581400"/>
            <a:ext cx="0" cy="939800"/>
          </a:xfrm>
          <a:prstGeom prst="line">
            <a:avLst/>
          </a:prstGeom>
          <a:ln w="381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0045700" y="3556000"/>
            <a:ext cx="5473700" cy="5969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6324F"/>
                </a:solidFill>
                <a:latin typeface="Arial"/>
              </a:defRPr>
            </a:pPr>
            <a:r>
              <a:t>GSR · respuesta electrodérmica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45700" y="4229100"/>
            <a:ext cx="5473700" cy="660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B5968"/>
                </a:solidFill>
                <a:latin typeface="Arial"/>
              </a:defRPr>
            </a:pPr>
            <a:r>
              <a:t>Cambios en la conductancia de la piel · ≈15 Hz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753600" y="5041900"/>
            <a:ext cx="0" cy="939800"/>
          </a:xfrm>
          <a:prstGeom prst="line">
            <a:avLst/>
          </a:prstGeom>
          <a:ln w="381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0045700" y="5016500"/>
            <a:ext cx="5473700" cy="5969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6324F"/>
                </a:solidFill>
                <a:latin typeface="Arial"/>
              </a:defRPr>
            </a:pPr>
            <a:r>
              <a:t>Eye tracking · seguimiento ocular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45700" y="5689600"/>
            <a:ext cx="5473700" cy="660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B5968"/>
                </a:solidFill>
                <a:latin typeface="Arial"/>
              </a:defRPr>
            </a:pPr>
            <a:r>
              <a:t>Posición de la mirada y fijaciones · ≈60 Hz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753600" y="6502400"/>
            <a:ext cx="0" cy="939800"/>
          </a:xfrm>
          <a:prstGeom prst="line">
            <a:avLst/>
          </a:prstGeom>
          <a:ln w="381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0045700" y="6477000"/>
            <a:ext cx="5473700" cy="5969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6324F"/>
                </a:solidFill>
                <a:latin typeface="Arial"/>
              </a:defRPr>
            </a:pPr>
            <a:r>
              <a:t>Pupilometría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45700" y="7150100"/>
            <a:ext cx="5473700" cy="660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B5968"/>
                </a:solidFill>
                <a:latin typeface="Arial"/>
              </a:defRPr>
            </a:pPr>
            <a:r>
              <a:t>Diámetro de la pupila y validez de la medición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200" y="8610600"/>
            <a:ext cx="14414500" cy="381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4B5968"/>
                </a:solidFill>
                <a:latin typeface="Arial"/>
              </a:defRPr>
            </a:pPr>
            <a:r>
              <a:t>Fuente: preprocesamiento y partición guardada. 25.992 ventanas generadas; 22.201 válidas antes de separar el caso de sensibilidad.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40000" y="8610600"/>
            <a:ext cx="406400" cy="304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4B5968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68400" y="342900"/>
            <a:ext cx="13716000" cy="3429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B5968"/>
                </a:solidFill>
                <a:latin typeface="Arial"/>
              </a:defRPr>
            </a:pPr>
            <a:r>
              <a:t>Temporalidad y fusión de señales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889000"/>
            <a:ext cx="14986000" cy="965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800" b="0">
                <a:solidFill>
                  <a:srgbClr val="16324F"/>
                </a:solidFill>
                <a:latin typeface="Cambria"/>
              </a:defRPr>
            </a:pPr>
            <a:r>
              <a:t>Objetivo general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8470900"/>
            <a:ext cx="15087600" cy="0"/>
          </a:xfrm>
          <a:prstGeom prst="line">
            <a:avLst/>
          </a:prstGeom>
          <a:ln w="12700">
            <a:solidFill>
              <a:srgbClr val="CDD7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993900"/>
            <a:ext cx="15024100" cy="17145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16324F"/>
                </a:solidFill>
                <a:latin typeface="Arial"/>
              </a:defRPr>
            </a:pPr>
            <a:r>
              <a:t>Evaluar si la información temporal y la fusión multimodal mejoran la predicción de pseudoetiquetas de atención y activación emocional durante la navegación web, comparando modelos temporales y estáticos en participantes no utilizados para su ajuste.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4356100"/>
            <a:ext cx="6731000" cy="457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6324F"/>
                </a:solidFill>
                <a:latin typeface="Arial"/>
              </a:defRPr>
            </a:pPr>
            <a:r>
              <a:t>Modelo estático</a:t>
            </a:r>
          </a:p>
        </p:txBody>
      </p:sp>
      <p:sp>
        <p:nvSpPr>
          <p:cNvPr id="8" name="Rectangle 7"/>
          <p:cNvSpPr/>
          <p:nvPr/>
        </p:nvSpPr>
        <p:spPr>
          <a:xfrm>
            <a:off x="584200" y="5143500"/>
            <a:ext cx="2844800" cy="787400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2000" y="5295900"/>
            <a:ext cx="2489200" cy="558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6324F"/>
                </a:solidFill>
                <a:latin typeface="Arial"/>
              </a:defRPr>
            </a:pPr>
            <a:r>
              <a:t>Ventana actual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594100" y="5537200"/>
            <a:ext cx="800100" cy="0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4285929" y="5537200"/>
            <a:ext cx="108271" cy="66381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4285929" y="5470818"/>
            <a:ext cx="108271" cy="66382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559300" y="5143500"/>
            <a:ext cx="2755900" cy="787400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7100" y="5295900"/>
            <a:ext cx="2400300" cy="558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6324F"/>
                </a:solidFill>
                <a:latin typeface="Arial"/>
              </a:defRPr>
            </a:pPr>
            <a:r>
              <a:t>Predicción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200" y="6261100"/>
            <a:ext cx="6858000" cy="711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4B5968"/>
                </a:solidFill>
                <a:latin typeface="Arial"/>
              </a:defRPr>
            </a:pPr>
            <a:r>
              <a:t>Usa las características de una ventana.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3500" y="4356100"/>
            <a:ext cx="6731000" cy="457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6324F"/>
                </a:solidFill>
                <a:latin typeface="Arial"/>
              </a:defRPr>
            </a:pPr>
            <a:r>
              <a:t>Modelo temporal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53500" y="5143500"/>
            <a:ext cx="850900" cy="787400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31300" y="5295900"/>
            <a:ext cx="495300" cy="558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6324F"/>
                </a:solidFill>
                <a:latin typeface="Arial"/>
              </a:defRPr>
            </a:pPr>
            <a:r>
              <a:t>t−2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18700" y="5143500"/>
            <a:ext cx="850900" cy="787400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96500" y="5295900"/>
            <a:ext cx="495300" cy="558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6324F"/>
                </a:solidFill>
                <a:latin typeface="Arial"/>
              </a:defRPr>
            </a:pPr>
            <a:r>
              <a:t>t−1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883900" y="5143500"/>
            <a:ext cx="850900" cy="787400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061700" y="5295900"/>
            <a:ext cx="495300" cy="558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6324F"/>
                </a:solidFill>
                <a:latin typeface="Arial"/>
              </a:defRPr>
            </a:pPr>
            <a:r>
              <a:t>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1899900" y="5537200"/>
            <a:ext cx="622300" cy="0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12413929" y="5537200"/>
            <a:ext cx="108271" cy="66381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12413929" y="5470818"/>
            <a:ext cx="108271" cy="66382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12674600" y="5143500"/>
            <a:ext cx="2844800" cy="787400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2852400" y="5295900"/>
            <a:ext cx="2489200" cy="558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6324F"/>
                </a:solidFill>
                <a:latin typeface="Arial"/>
              </a:defRPr>
            </a:pPr>
            <a:r>
              <a:t>Predicción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53500" y="6261100"/>
            <a:ext cx="6540500" cy="762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4B5968"/>
                </a:solidFill>
                <a:latin typeface="Arial"/>
              </a:defRPr>
            </a:pPr>
            <a:r>
              <a:t>Usa varias ventanas en su orden temporal.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7391400"/>
            <a:ext cx="14909800" cy="762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6324F"/>
                </a:solidFill>
                <a:latin typeface="Arial"/>
              </a:defRPr>
            </a:pPr>
            <a:r>
              <a:t>En ambos casos se comparan distintas formas de combinar las señales: fusión temprana, intermedia y tardía.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8610600"/>
            <a:ext cx="14414500" cy="381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4B5968"/>
                </a:solidFill>
                <a:latin typeface="Arial"/>
              </a:defRPr>
            </a:pPr>
            <a:r>
              <a:t>Las comparaciones usan las mismas etiquetas y particiones. Esquema de entradas; no representa predicciones ni resultados.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610600"/>
            <a:ext cx="406400" cy="304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4B5968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A0CF2D45-DAAE-2058-D828-2C99216B9129}"/>
              </a:ext>
            </a:extLst>
          </p:cNvPr>
          <p:cNvSpPr/>
          <p:nvPr/>
        </p:nvSpPr>
        <p:spPr>
          <a:xfrm>
            <a:off x="8445500" y="3981450"/>
            <a:ext cx="7405511" cy="3289299"/>
          </a:xfrm>
          <a:prstGeom prst="rect">
            <a:avLst/>
          </a:prstGeom>
          <a:noFill/>
          <a:ln w="1905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68400" y="342900"/>
            <a:ext cx="13716000" cy="3429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B5968"/>
                </a:solidFill>
                <a:latin typeface="Arial"/>
              </a:defRPr>
            </a:pPr>
            <a:r>
              <a:t>Qué se hará en la tesis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889000"/>
            <a:ext cx="14986000" cy="965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800" b="0">
                <a:solidFill>
                  <a:srgbClr val="16324F"/>
                </a:solidFill>
                <a:latin typeface="Cambria"/>
              </a:defRPr>
            </a:pPr>
            <a:r>
              <a:t>Objetivos específicos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8470900"/>
            <a:ext cx="15087600" cy="0"/>
          </a:xfrm>
          <a:prstGeom prst="line">
            <a:avLst/>
          </a:prstGeom>
          <a:ln w="12700">
            <a:solidFill>
              <a:srgbClr val="CDD7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2095500"/>
            <a:ext cx="482600" cy="4445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66A70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1900" y="2095500"/>
            <a:ext cx="6426200" cy="1422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24F"/>
                </a:solidFill>
                <a:latin typeface="Arial"/>
              </a:defRPr>
            </a:pPr>
            <a:r>
              <a:t>Revisar la literatura sobre atención y activación emocional, con énfasis en modelos temporales y fusión de señales.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4013200"/>
            <a:ext cx="482600" cy="4445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66A70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1900" y="4013200"/>
            <a:ext cx="6426200" cy="1422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24F"/>
                </a:solidFill>
                <a:latin typeface="Arial"/>
              </a:defRPr>
            </a:pPr>
            <a:r>
              <a:t>Caracterizar las señales disponibles y sincronizar EEG, GSR, eye tracking y pupilometría con criterios de calidad definidos.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5930900"/>
            <a:ext cx="482600" cy="4445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66A70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1900" y="5930900"/>
            <a:ext cx="6426200" cy="1422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24F"/>
                </a:solidFill>
                <a:latin typeface="Arial"/>
              </a:defRPr>
            </a:pPr>
            <a:r>
              <a:t>Definir las pseudoetiquetas continuas y categóricas de atención y activación, comprobar su estabilidad y separar las señales de etiquetado y predicción.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36000" y="1968500"/>
            <a:ext cx="482600" cy="4445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66A70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83700" y="1968500"/>
            <a:ext cx="6350000" cy="1422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24F"/>
                </a:solidFill>
                <a:latin typeface="Arial"/>
              </a:defRPr>
            </a:pPr>
            <a:r>
              <a:t>Comparar modelos temporales y estáticos en participantes no usados para su ajuste, seleccionando hiperparámetros dentro del entrenamiento.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36000" y="3581400"/>
            <a:ext cx="482600" cy="4445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66A70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3700" y="3581400"/>
            <a:ext cx="6350000" cy="1422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24F"/>
                </a:solidFill>
                <a:latin typeface="Arial"/>
              </a:defRPr>
            </a:pPr>
            <a:r>
              <a:t>Medir el aporte de señales e historial mediante estudios de ablación y comparaciones entre fusión temprana, intermedia y tardía.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36000" y="5194300"/>
            <a:ext cx="482600" cy="4445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66A70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3700" y="5194300"/>
            <a:ext cx="6350000" cy="1422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24F"/>
                </a:solidFill>
                <a:latin typeface="Arial"/>
              </a:defRPr>
            </a:pPr>
            <a:r>
              <a:t>Describir los cambios durante la sesión en los scores de atención y activación, buscando patrones compatibles con fatiga o habituación.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36000" y="6807200"/>
            <a:ext cx="482600" cy="4445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66A70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3700" y="6807200"/>
            <a:ext cx="6350000" cy="1422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24F"/>
                </a:solidFill>
                <a:latin typeface="Arial"/>
              </a:defRPr>
            </a:pPr>
            <a:r>
              <a:t>Contrastar la hipótesis a partir de las diferencias de desempeño, sus intervalos de incertidumbre y la variación entre participantes.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8610600"/>
            <a:ext cx="14414500" cy="381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4B5968"/>
                </a:solidFill>
                <a:latin typeface="Arial"/>
              </a:defRPr>
            </a:pPr>
            <a:r>
              <a:t>Ablación: retirar una señal o el historial y medir cuánto cambia el desempeño. El análisis de fatiga y habituación es descriptivo.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610600"/>
            <a:ext cx="406400" cy="304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4B5968"/>
                </a:solidFill>
                <a:latin typeface="Arial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68400" y="342900"/>
            <a:ext cx="13716000" cy="3429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B5968"/>
                </a:solidFill>
                <a:latin typeface="Arial"/>
              </a:defRPr>
            </a:pPr>
            <a:r>
              <a:t>Knowledge Discovery in Databases · Descubrimiento de conocimiento en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889000"/>
            <a:ext cx="14986000" cy="965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800" b="0">
                <a:solidFill>
                  <a:srgbClr val="16324F"/>
                </a:solidFill>
                <a:latin typeface="Cambria"/>
              </a:defRPr>
            </a:pPr>
            <a:r>
              <a:t>Metodología KDD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8470900"/>
            <a:ext cx="15087600" cy="0"/>
          </a:xfrm>
          <a:prstGeom prst="line">
            <a:avLst/>
          </a:prstGeom>
          <a:ln w="12700">
            <a:solidFill>
              <a:srgbClr val="CDD7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905000"/>
            <a:ext cx="15062200" cy="6985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6324F"/>
                </a:solidFill>
                <a:latin typeface="Arial"/>
              </a:defRPr>
            </a:pPr>
            <a:r>
              <a:t>KDD organiza el trabajo desde los registros originales hasta la interpretación de los resultados.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8400" y="2781300"/>
            <a:ext cx="3619500" cy="381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4B5968"/>
                </a:solidFill>
                <a:latin typeface="Arial"/>
              </a:defRPr>
            </a:pPr>
            <a:r>
              <a:t>Etapa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8600" y="2781300"/>
            <a:ext cx="5156200" cy="381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4B5968"/>
                </a:solidFill>
                <a:latin typeface="Arial"/>
              </a:defRPr>
            </a:pPr>
            <a:r>
              <a:t>Qué se hace en esta tesis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1" y="3302000"/>
            <a:ext cx="10309578" cy="800100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300" y="3441700"/>
            <a:ext cx="393700" cy="3937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66A70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70000" y="3403600"/>
            <a:ext cx="3721100" cy="660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6324F"/>
                </a:solidFill>
                <a:latin typeface="Arial"/>
              </a:defRPr>
            </a:pPr>
            <a:r>
              <a:t>Selección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8600" y="3403600"/>
            <a:ext cx="5346700" cy="7239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6324F"/>
                </a:solidFill>
                <a:latin typeface="Arial"/>
              </a:defRPr>
            </a:pPr>
            <a:r>
              <a:t>Elegir participantes, sesiones y señales de la Toma de Muestra 2.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39800" y="3898900"/>
            <a:ext cx="0" cy="228600"/>
          </a:xfrm>
          <a:prstGeom prst="line">
            <a:avLst/>
          </a:prstGeom>
          <a:ln w="25400">
            <a:solidFill>
              <a:srgbClr val="4B59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 flipV="1">
            <a:off x="873418" y="4019229"/>
            <a:ext cx="66382" cy="108271"/>
          </a:xfrm>
          <a:prstGeom prst="line">
            <a:avLst/>
          </a:prstGeom>
          <a:ln w="25400">
            <a:solidFill>
              <a:srgbClr val="4B59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939800" y="4019229"/>
            <a:ext cx="66381" cy="108271"/>
          </a:xfrm>
          <a:prstGeom prst="line">
            <a:avLst/>
          </a:prstGeom>
          <a:ln w="25400">
            <a:solidFill>
              <a:srgbClr val="4B59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49300" y="4279900"/>
            <a:ext cx="393700" cy="3937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66A70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70000" y="4241800"/>
            <a:ext cx="3721100" cy="660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6324F"/>
                </a:solidFill>
                <a:latin typeface="Arial"/>
              </a:defRPr>
            </a:pPr>
            <a:r>
              <a:t>Preprocesamiento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8600" y="4241800"/>
            <a:ext cx="5346700" cy="7239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6324F"/>
                </a:solidFill>
                <a:latin typeface="Arial"/>
              </a:defRPr>
            </a:pPr>
            <a:r>
              <a:t>Revisar calidad, tratar faltantes y alinear las señales en el tiempo.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39800" y="4737100"/>
            <a:ext cx="0" cy="228600"/>
          </a:xfrm>
          <a:prstGeom prst="line">
            <a:avLst/>
          </a:prstGeom>
          <a:ln w="25400">
            <a:solidFill>
              <a:srgbClr val="4B59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873418" y="4857429"/>
            <a:ext cx="66382" cy="108271"/>
          </a:xfrm>
          <a:prstGeom prst="line">
            <a:avLst/>
          </a:prstGeom>
          <a:ln w="25400">
            <a:solidFill>
              <a:srgbClr val="4B59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939800" y="4857429"/>
            <a:ext cx="66381" cy="108271"/>
          </a:xfrm>
          <a:prstGeom prst="line">
            <a:avLst/>
          </a:prstGeom>
          <a:ln w="25400">
            <a:solidFill>
              <a:srgbClr val="4B59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584201" y="4978400"/>
            <a:ext cx="10309578" cy="800100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49300" y="5118100"/>
            <a:ext cx="393700" cy="3937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66A70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70000" y="5080000"/>
            <a:ext cx="3721100" cy="660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6324F"/>
                </a:solidFill>
                <a:latin typeface="Arial"/>
              </a:defRPr>
            </a:pPr>
            <a:r>
              <a:t>Transformación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8600" y="5080000"/>
            <a:ext cx="5346700" cy="7239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6324F"/>
                </a:solidFill>
                <a:latin typeface="Arial"/>
              </a:defRPr>
            </a:pPr>
            <a:r>
              <a:t>Crear ventanas de 2 s, características, pseudoetiquetas y secuencias.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39800" y="5575300"/>
            <a:ext cx="0" cy="228600"/>
          </a:xfrm>
          <a:prstGeom prst="line">
            <a:avLst/>
          </a:prstGeom>
          <a:ln w="25400">
            <a:solidFill>
              <a:srgbClr val="4B59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 flipV="1">
            <a:off x="873418" y="5695629"/>
            <a:ext cx="66382" cy="108271"/>
          </a:xfrm>
          <a:prstGeom prst="line">
            <a:avLst/>
          </a:prstGeom>
          <a:ln w="25400">
            <a:solidFill>
              <a:srgbClr val="4B59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939800" y="5695629"/>
            <a:ext cx="66381" cy="108271"/>
          </a:xfrm>
          <a:prstGeom prst="line">
            <a:avLst/>
          </a:prstGeom>
          <a:ln w="25400">
            <a:solidFill>
              <a:srgbClr val="4B59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49300" y="5956300"/>
            <a:ext cx="393700" cy="3937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66A70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70000" y="5918200"/>
            <a:ext cx="3721100" cy="660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6324F"/>
                </a:solidFill>
                <a:latin typeface="Arial"/>
              </a:defRPr>
            </a:pPr>
            <a:r>
              <a:t>Minería de datos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08600" y="5918200"/>
            <a:ext cx="5346700" cy="7239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6324F"/>
                </a:solidFill>
                <a:latin typeface="Arial"/>
              </a:defRPr>
            </a:pPr>
            <a:r>
              <a:t>Entrenar modelos estáticos y temporales; ajustar sus parámetros.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39800" y="6413500"/>
            <a:ext cx="0" cy="228600"/>
          </a:xfrm>
          <a:prstGeom prst="line">
            <a:avLst/>
          </a:prstGeom>
          <a:ln w="25400">
            <a:solidFill>
              <a:srgbClr val="4B59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 flipV="1">
            <a:off x="873418" y="6533829"/>
            <a:ext cx="66382" cy="108271"/>
          </a:xfrm>
          <a:prstGeom prst="line">
            <a:avLst/>
          </a:prstGeom>
          <a:ln w="25400">
            <a:solidFill>
              <a:srgbClr val="4B59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939800" y="6533829"/>
            <a:ext cx="66381" cy="108271"/>
          </a:xfrm>
          <a:prstGeom prst="line">
            <a:avLst/>
          </a:prstGeom>
          <a:ln w="25400">
            <a:solidFill>
              <a:srgbClr val="4B59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584201" y="6654800"/>
            <a:ext cx="10309578" cy="800100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49300" y="6794500"/>
            <a:ext cx="393700" cy="3937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66A70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70000" y="6756400"/>
            <a:ext cx="3721100" cy="660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6324F"/>
                </a:solidFill>
                <a:latin typeface="Arial"/>
              </a:defRPr>
            </a:pPr>
            <a:r>
              <a:rPr dirty="0" err="1"/>
              <a:t>Interpretación</a:t>
            </a:r>
            <a:r>
              <a:rPr dirty="0"/>
              <a:t> y </a:t>
            </a:r>
            <a:r>
              <a:rPr dirty="0" err="1"/>
              <a:t>evaluación</a:t>
            </a:r>
            <a:endParaRPr dirty="0"/>
          </a:p>
        </p:txBody>
      </p:sp>
      <p:sp>
        <p:nvSpPr>
          <p:cNvPr id="55" name="TextBox 54"/>
          <p:cNvSpPr txBox="1"/>
          <p:nvPr/>
        </p:nvSpPr>
        <p:spPr>
          <a:xfrm>
            <a:off x="5308600" y="6756400"/>
            <a:ext cx="5346700" cy="7239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6324F"/>
                </a:solidFill>
                <a:latin typeface="Arial"/>
              </a:defRPr>
            </a:pPr>
            <a:r>
              <a:t>Comparar el desempeño y revisar qué señales e historial aportan.</a:t>
            </a:r>
          </a:p>
        </p:txBody>
      </p:sp>
      <p:cxnSp>
        <p:nvCxnSpPr>
          <p:cNvPr id="61" name="Connector 60"/>
          <p:cNvCxnSpPr/>
          <p:nvPr/>
        </p:nvCxnSpPr>
        <p:spPr>
          <a:xfrm flipV="1">
            <a:off x="1409700" y="7947318"/>
            <a:ext cx="108270" cy="66382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584200" y="8610600"/>
            <a:ext cx="14414500" cy="381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4B5968"/>
                </a:solidFill>
                <a:latin typeface="Arial"/>
              </a:defRPr>
            </a:pPr>
            <a:r>
              <a:t>Adaptación de Fayyad, Piatetsky-Shapiro y Smyth (1996), AI Magazine 17(3), 37–54. DOI: 10.1609/aimag.v17i3.1230.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5240000" y="8610600"/>
            <a:ext cx="406400" cy="304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4B5968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67" name="Rectangle 51">
            <a:extLst>
              <a:ext uri="{FF2B5EF4-FFF2-40B4-BE49-F238E27FC236}">
                <a16:creationId xmlns:a16="http://schemas.microsoft.com/office/drawing/2014/main" id="{0070C75E-C2E2-2D92-9194-C4FE9E015BEE}"/>
              </a:ext>
            </a:extLst>
          </p:cNvPr>
          <p:cNvSpPr/>
          <p:nvPr/>
        </p:nvSpPr>
        <p:spPr>
          <a:xfrm>
            <a:off x="584201" y="7394868"/>
            <a:ext cx="10309578" cy="8001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53">
            <a:extLst>
              <a:ext uri="{FF2B5EF4-FFF2-40B4-BE49-F238E27FC236}">
                <a16:creationId xmlns:a16="http://schemas.microsoft.com/office/drawing/2014/main" id="{1740DDA1-DCA4-EB19-2A26-D8312F1036FC}"/>
              </a:ext>
            </a:extLst>
          </p:cNvPr>
          <p:cNvSpPr txBox="1"/>
          <p:nvPr/>
        </p:nvSpPr>
        <p:spPr>
          <a:xfrm>
            <a:off x="1236134" y="7567788"/>
            <a:ext cx="3721100" cy="660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6324F"/>
                </a:solidFill>
                <a:latin typeface="Arial"/>
              </a:defRPr>
            </a:pPr>
            <a:r>
              <a:rPr lang="es-ES" dirty="0"/>
              <a:t>Conocimiento</a:t>
            </a:r>
            <a:endParaRPr dirty="0"/>
          </a:p>
        </p:txBody>
      </p:sp>
      <p:sp>
        <p:nvSpPr>
          <p:cNvPr id="71" name="TextBox 52">
            <a:extLst>
              <a:ext uri="{FF2B5EF4-FFF2-40B4-BE49-F238E27FC236}">
                <a16:creationId xmlns:a16="http://schemas.microsoft.com/office/drawing/2014/main" id="{FDDBF020-2F10-A416-D83F-D735A1601315}"/>
              </a:ext>
            </a:extLst>
          </p:cNvPr>
          <p:cNvSpPr txBox="1"/>
          <p:nvPr/>
        </p:nvSpPr>
        <p:spPr>
          <a:xfrm>
            <a:off x="776140" y="7626230"/>
            <a:ext cx="393700" cy="3937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66A70"/>
                </a:solidFill>
                <a:latin typeface="Arial"/>
              </a:defRPr>
            </a:pPr>
            <a:r>
              <a:rPr lang="es-ES" dirty="0"/>
              <a:t>6</a:t>
            </a:r>
            <a:endParaRPr dirty="0"/>
          </a:p>
        </p:txBody>
      </p:sp>
      <p:pic>
        <p:nvPicPr>
          <p:cNvPr id="75" name="Imagen 74" descr="KDD Process/Overview">
            <a:extLst>
              <a:ext uri="{FF2B5EF4-FFF2-40B4-BE49-F238E27FC236}">
                <a16:creationId xmlns:a16="http://schemas.microsoft.com/office/drawing/2014/main" id="{480D857C-C87E-1016-CB44-D204CE6B68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5265" y="3765550"/>
            <a:ext cx="4871135" cy="254922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68400" y="342900"/>
            <a:ext cx="13716000" cy="3429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B5968"/>
                </a:solidFill>
                <a:latin typeface="Arial"/>
              </a:defRPr>
            </a:pPr>
            <a:r>
              <a:t>Transformación · Etapa 3 de KDD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889000"/>
            <a:ext cx="14986000" cy="965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800" b="0">
                <a:solidFill>
                  <a:srgbClr val="16324F"/>
                </a:solidFill>
                <a:latin typeface="Cambria"/>
              </a:defRPr>
            </a:pPr>
            <a:r>
              <a:t>Cómo se construyen las etiquetas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8470900"/>
            <a:ext cx="15087600" cy="0"/>
          </a:xfrm>
          <a:prstGeom prst="line">
            <a:avLst/>
          </a:prstGeom>
          <a:ln w="12700">
            <a:solidFill>
              <a:srgbClr val="CDD7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981200"/>
            <a:ext cx="15011400" cy="812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16324F"/>
                </a:solidFill>
                <a:latin typeface="Arial"/>
              </a:defRPr>
            </a:pPr>
            <a:r>
              <a:t>Una pseudoetiqueta es un valor estimado a partir de las señales: se usa como referencia para entrenar y evaluar.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3175000"/>
            <a:ext cx="8115300" cy="406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4B5968"/>
                </a:solidFill>
                <a:latin typeface="Arial"/>
              </a:defRPr>
            </a:pPr>
            <a:r>
              <a:t>Modelo Profesor: crea la referencia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2900" y="3175000"/>
            <a:ext cx="6426200" cy="406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4B5968"/>
                </a:solidFill>
                <a:latin typeface="Arial"/>
              </a:defRPr>
            </a:pPr>
            <a:r>
              <a:t>Modelo Estudiante: intenta predecirla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3924300"/>
            <a:ext cx="2082800" cy="457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066A70"/>
                </a:solidFill>
                <a:latin typeface="Arial"/>
              </a:defRPr>
            </a:pPr>
            <a:r>
              <a:t>Atención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57500" y="3911600"/>
            <a:ext cx="3695700" cy="977900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35300" y="4064000"/>
            <a:ext cx="3340100" cy="7493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24F"/>
                </a:solidFill>
                <a:latin typeface="Arial"/>
              </a:defRPr>
            </a:pPr>
            <a:r>
              <a:t>Mirada + pupilometría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680200" y="4394200"/>
            <a:ext cx="596900" cy="0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7168829" y="4394200"/>
            <a:ext cx="108271" cy="66381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 flipV="1">
            <a:off x="7168829" y="4327818"/>
            <a:ext cx="108271" cy="66382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7416800" y="3911600"/>
            <a:ext cx="2311400" cy="977900"/>
          </a:xfrm>
          <a:prstGeom prst="rect">
            <a:avLst/>
          </a:prstGeom>
          <a:solidFill>
            <a:srgbClr val="FFFFFF"/>
          </a:solidFill>
          <a:ln w="16510">
            <a:solidFill>
              <a:srgbClr val="066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81900" y="4191000"/>
            <a:ext cx="2006600" cy="533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66A70"/>
                </a:solidFill>
                <a:latin typeface="Arial"/>
              </a:defRPr>
            </a:pPr>
            <a:r>
              <a:t>Pseudoetiqueta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9918700" y="4394200"/>
            <a:ext cx="2806700" cy="0"/>
          </a:xfrm>
          <a:prstGeom prst="line">
            <a:avLst/>
          </a:prstGeom>
          <a:ln w="2540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9918700" y="4327818"/>
            <a:ext cx="108270" cy="66382"/>
          </a:xfrm>
          <a:prstGeom prst="line">
            <a:avLst/>
          </a:prstGeom>
          <a:ln w="2540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918700" y="4394200"/>
            <a:ext cx="108270" cy="66381"/>
          </a:xfrm>
          <a:prstGeom prst="line">
            <a:avLst/>
          </a:prstGeom>
          <a:ln w="2540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2839700" y="3911600"/>
            <a:ext cx="2832100" cy="977900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3017500" y="4064000"/>
            <a:ext cx="2476500" cy="7493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6324F"/>
                </a:solidFill>
                <a:latin typeface="Arial"/>
              </a:defRPr>
            </a:pPr>
            <a:r>
              <a:t>EEG + GSR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44200" y="3975100"/>
            <a:ext cx="1752600" cy="330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45DA0"/>
                </a:solidFill>
                <a:latin typeface="Arial"/>
              </a:defRPr>
            </a:pPr>
            <a:r>
              <a:t>predice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5765800"/>
            <a:ext cx="2082800" cy="457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066A70"/>
                </a:solidFill>
                <a:latin typeface="Arial"/>
              </a:defRPr>
            </a:pPr>
            <a:r>
              <a:t>Activación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57500" y="5753100"/>
            <a:ext cx="3695700" cy="977900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035300" y="5905500"/>
            <a:ext cx="3340100" cy="7493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6324F"/>
                </a:solidFill>
                <a:latin typeface="Arial"/>
              </a:defRPr>
            </a:pPr>
            <a:r>
              <a:t>GSR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680200" y="6235700"/>
            <a:ext cx="596900" cy="0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7168829" y="6235700"/>
            <a:ext cx="108271" cy="66381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7168829" y="6169318"/>
            <a:ext cx="108271" cy="66382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7416800" y="5753100"/>
            <a:ext cx="2311400" cy="977900"/>
          </a:xfrm>
          <a:prstGeom prst="rect">
            <a:avLst/>
          </a:prstGeom>
          <a:solidFill>
            <a:srgbClr val="FFFFFF"/>
          </a:solidFill>
          <a:ln w="16510">
            <a:solidFill>
              <a:srgbClr val="066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581900" y="6032500"/>
            <a:ext cx="2006600" cy="533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66A70"/>
                </a:solidFill>
                <a:latin typeface="Arial"/>
              </a:defRPr>
            </a:pPr>
            <a:r>
              <a:t>Pseudoetiqueta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9918700" y="6235700"/>
            <a:ext cx="2806700" cy="0"/>
          </a:xfrm>
          <a:prstGeom prst="line">
            <a:avLst/>
          </a:prstGeom>
          <a:ln w="2540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9918700" y="6169318"/>
            <a:ext cx="108270" cy="66382"/>
          </a:xfrm>
          <a:prstGeom prst="line">
            <a:avLst/>
          </a:prstGeom>
          <a:ln w="2540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918700" y="6235700"/>
            <a:ext cx="108270" cy="66381"/>
          </a:xfrm>
          <a:prstGeom prst="line">
            <a:avLst/>
          </a:prstGeom>
          <a:ln w="25400">
            <a:solidFill>
              <a:srgbClr val="145D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12839700" y="5753100"/>
            <a:ext cx="2832100" cy="977900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3017500" y="5905500"/>
            <a:ext cx="2476500" cy="7493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6324F"/>
                </a:solidFill>
                <a:latin typeface="Arial"/>
              </a:defRPr>
            </a:pPr>
            <a:r>
              <a:t>EEG + mirada + pupilometría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44200" y="5816600"/>
            <a:ext cx="1752600" cy="330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45DA0"/>
                </a:solidFill>
                <a:latin typeface="Arial"/>
              </a:defRPr>
            </a:pPr>
            <a:r>
              <a:t>predice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4200" y="7607300"/>
            <a:ext cx="15062200" cy="6223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6324F"/>
                </a:solidFill>
                <a:latin typeface="Arial"/>
              </a:defRPr>
            </a:pPr>
            <a:r>
              <a:t>Las señales que crean la etiqueta quedan fuera de las entradas del modelo que la predice.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4200" y="8610600"/>
            <a:ext cx="14414500" cy="381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4B5968"/>
                </a:solidFill>
                <a:latin typeface="Arial"/>
              </a:defRPr>
            </a:pPr>
            <a:r>
              <a:t>Eye tracking mide la mirada, no la atención directa. GSR aproxima activación (arousal), sin identificar alegría, tristeza u otras emociones.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240000" y="8610600"/>
            <a:ext cx="406400" cy="304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4B5968"/>
                </a:solidFill>
                <a:latin typeface="Arial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51">
            <a:extLst>
              <a:ext uri="{FF2B5EF4-FFF2-40B4-BE49-F238E27FC236}">
                <a16:creationId xmlns:a16="http://schemas.microsoft.com/office/drawing/2014/main" id="{3F0F2670-A86E-6D97-363B-122991CFC0A5}"/>
              </a:ext>
            </a:extLst>
          </p:cNvPr>
          <p:cNvSpPr/>
          <p:nvPr/>
        </p:nvSpPr>
        <p:spPr>
          <a:xfrm>
            <a:off x="584200" y="6883400"/>
            <a:ext cx="15087600" cy="131156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68400" y="342900"/>
            <a:ext cx="13716000" cy="3429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B5968"/>
                </a:solidFill>
                <a:latin typeface="Arial"/>
              </a:defRPr>
            </a:pPr>
            <a:r>
              <a:t>Minería de datos y evaluación · Etapas 4 y 5 de KDD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889000"/>
            <a:ext cx="14986000" cy="965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800" b="0">
                <a:solidFill>
                  <a:srgbClr val="16324F"/>
                </a:solidFill>
                <a:latin typeface="Cambria"/>
              </a:defRPr>
            </a:pPr>
            <a:r>
              <a:t>Cómo se comparan los modelos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8470900"/>
            <a:ext cx="15087600" cy="0"/>
          </a:xfrm>
          <a:prstGeom prst="line">
            <a:avLst/>
          </a:prstGeom>
          <a:ln w="12700">
            <a:solidFill>
              <a:srgbClr val="CDD7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968500"/>
            <a:ext cx="15074900" cy="5969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16324F"/>
                </a:solidFill>
                <a:latin typeface="Arial"/>
              </a:defRPr>
            </a:pPr>
            <a:r>
              <a:t>La fusión cambia el momento en que se combinan las señales.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2781300"/>
            <a:ext cx="4597400" cy="457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066A70"/>
                </a:solidFill>
                <a:latin typeface="Arial"/>
              </a:defRPr>
            </a:pPr>
            <a:r>
              <a:t>Temprana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3365500"/>
            <a:ext cx="4597400" cy="736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6324F"/>
                </a:solidFill>
                <a:latin typeface="Arial"/>
              </a:defRPr>
            </a:pPr>
            <a:r>
              <a:t>Unir características antes del modelo.</a:t>
            </a:r>
          </a:p>
        </p:txBody>
      </p:sp>
      <p:sp>
        <p:nvSpPr>
          <p:cNvPr id="9" name="Rectangle 8"/>
          <p:cNvSpPr/>
          <p:nvPr/>
        </p:nvSpPr>
        <p:spPr>
          <a:xfrm>
            <a:off x="584200" y="4483100"/>
            <a:ext cx="736600" cy="546100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2000" y="4635500"/>
            <a:ext cx="381000" cy="3175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24F"/>
                </a:solidFill>
                <a:latin typeface="Arial"/>
              </a:defRPr>
            </a:pPr>
            <a:r>
              <a:t>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4200" y="5283200"/>
            <a:ext cx="736600" cy="546100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2000" y="5435600"/>
            <a:ext cx="381000" cy="3175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24F"/>
                </a:solidFill>
                <a:latin typeface="Arial"/>
              </a:defRPr>
            </a:pPr>
            <a:r>
              <a:t>B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409700" y="4762500"/>
            <a:ext cx="609600" cy="368300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892302" y="5130800"/>
            <a:ext cx="126998" cy="828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1960956" y="5017994"/>
            <a:ext cx="58344" cy="112806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409700" y="5130800"/>
            <a:ext cx="609600" cy="431800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1969318" y="5130800"/>
            <a:ext cx="49982" cy="116751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1892578" y="5142089"/>
            <a:ext cx="126722" cy="8413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2146300" y="4876800"/>
            <a:ext cx="1155700" cy="571500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324100" y="5029200"/>
            <a:ext cx="800100" cy="3429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24F"/>
                </a:solidFill>
                <a:latin typeface="Arial"/>
              </a:defRPr>
            </a:pPr>
            <a:r>
              <a:t>A + B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403600" y="5156200"/>
            <a:ext cx="330200" cy="0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3625529" y="5156200"/>
            <a:ext cx="108271" cy="66381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3625529" y="5089818"/>
            <a:ext cx="108271" cy="66382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873500" y="4826000"/>
            <a:ext cx="1435100" cy="685800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051300" y="4978400"/>
            <a:ext cx="1079500" cy="457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24F"/>
                </a:solidFill>
                <a:latin typeface="Arial"/>
              </a:defRPr>
            </a:pPr>
            <a:r>
              <a:t>Modelo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16600" y="2781300"/>
            <a:ext cx="4597400" cy="457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066A70"/>
                </a:solidFill>
                <a:latin typeface="Arial"/>
              </a:defRPr>
            </a:pPr>
            <a:r>
              <a:t>Intermedia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16600" y="3365500"/>
            <a:ext cx="4597400" cy="736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6324F"/>
                </a:solidFill>
                <a:latin typeface="Arial"/>
              </a:defRPr>
            </a:pPr>
            <a:r>
              <a:t>Unir representaciones aprendidas.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16600" y="4483100"/>
            <a:ext cx="660400" cy="546100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94400" y="4635500"/>
            <a:ext cx="304800" cy="3175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24F"/>
                </a:solidFill>
                <a:latin typeface="Arial"/>
              </a:defRPr>
            </a:pPr>
            <a:r>
              <a:t>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16600" y="5283200"/>
            <a:ext cx="660400" cy="546100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94400" y="5435600"/>
            <a:ext cx="304800" cy="3175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24F"/>
                </a:solidFill>
                <a:latin typeface="Arial"/>
              </a:defRPr>
            </a:pPr>
            <a:r>
              <a:t>B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578600" y="4762500"/>
            <a:ext cx="292100" cy="0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6762429" y="4762500"/>
            <a:ext cx="108271" cy="66381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6762429" y="4696118"/>
            <a:ext cx="108271" cy="66382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6997700" y="4483100"/>
            <a:ext cx="914400" cy="571500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175500" y="46355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24F"/>
                </a:solidFill>
                <a:latin typeface="Arial"/>
              </a:defRPr>
            </a:pPr>
            <a:r>
              <a:t>Red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578600" y="5562600"/>
            <a:ext cx="292100" cy="0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6762429" y="5562600"/>
            <a:ext cx="108271" cy="66381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 flipV="1">
            <a:off x="6762429" y="5496218"/>
            <a:ext cx="108271" cy="66382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6997700" y="5283200"/>
            <a:ext cx="914400" cy="571500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175500" y="54356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24F"/>
                </a:solidFill>
                <a:latin typeface="Arial"/>
              </a:defRPr>
            </a:pPr>
            <a:r>
              <a:t>Red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013700" y="4762500"/>
            <a:ext cx="330200" cy="355600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 flipV="1">
            <a:off x="8221583" y="5083929"/>
            <a:ext cx="122317" cy="34171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 flipV="1">
            <a:off x="8318870" y="4993590"/>
            <a:ext cx="25030" cy="124510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8013700" y="5118100"/>
            <a:ext cx="330200" cy="444500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8332622" y="5118100"/>
            <a:ext cx="11278" cy="126498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8226048" y="5118100"/>
            <a:ext cx="117852" cy="47328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8470900" y="4826000"/>
            <a:ext cx="1968500" cy="685800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648700" y="4978400"/>
            <a:ext cx="1612900" cy="457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24F"/>
                </a:solidFill>
                <a:latin typeface="Arial"/>
              </a:defRPr>
            </a:pPr>
            <a:r>
              <a:t>Unión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49000" y="2781300"/>
            <a:ext cx="4597400" cy="457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066A70"/>
                </a:solidFill>
                <a:latin typeface="Arial"/>
              </a:defRPr>
            </a:pPr>
            <a:r>
              <a:t>Tardía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049000" y="3365500"/>
            <a:ext cx="4597400" cy="736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6324F"/>
                </a:solidFill>
                <a:latin typeface="Arial"/>
              </a:defRPr>
            </a:pPr>
            <a:r>
              <a:t>Combinar las predicciones de cada modelo.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049000" y="4483100"/>
            <a:ext cx="1968500" cy="571500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1226800" y="4635500"/>
            <a:ext cx="1612900" cy="3429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24F"/>
                </a:solidFill>
                <a:latin typeface="Arial"/>
              </a:defRPr>
            </a:pPr>
            <a:r>
              <a:t>Modelo A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13131800" y="4762500"/>
            <a:ext cx="419100" cy="393700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 flipV="1">
            <a:off x="13426537" y="5130451"/>
            <a:ext cx="124363" cy="25749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 flipV="1">
            <a:off x="13517436" y="5033687"/>
            <a:ext cx="33464" cy="122513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11049000" y="5283200"/>
            <a:ext cx="1968500" cy="571500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1226800" y="5435600"/>
            <a:ext cx="1612900" cy="3429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24F"/>
                </a:solidFill>
                <a:latin typeface="Arial"/>
              </a:defRPr>
            </a:pPr>
            <a:r>
              <a:t>Modelo B</a:t>
            </a:r>
          </a:p>
        </p:txBody>
      </p:sp>
      <p:cxnSp>
        <p:nvCxnSpPr>
          <p:cNvPr id="59" name="Connector 58"/>
          <p:cNvCxnSpPr/>
          <p:nvPr/>
        </p:nvCxnSpPr>
        <p:spPr>
          <a:xfrm flipV="1">
            <a:off x="13131800" y="5156200"/>
            <a:ext cx="419100" cy="406400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>
            <a:off x="13519383" y="5156200"/>
            <a:ext cx="31517" cy="123027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13426961" y="5156200"/>
            <a:ext cx="123939" cy="27716"/>
          </a:xfrm>
          <a:prstGeom prst="line">
            <a:avLst/>
          </a:prstGeom>
          <a:ln w="25400">
            <a:solidFill>
              <a:srgbClr val="066A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13728700" y="4711700"/>
            <a:ext cx="1981200" cy="952500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3906500" y="4864100"/>
            <a:ext cx="1625600" cy="7239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24F"/>
                </a:solidFill>
                <a:latin typeface="Arial"/>
              </a:defRPr>
            </a:pPr>
            <a:r>
              <a:t>Promedio /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6324F"/>
                </a:solidFill>
                <a:latin typeface="Arial"/>
              </a:defRPr>
            </a:pPr>
            <a:r>
              <a:t>combinación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84200" y="6108700"/>
            <a:ext cx="15024100" cy="558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B5968"/>
                </a:solidFill>
                <a:latin typeface="Arial"/>
              </a:defRPr>
            </a:pPr>
            <a:r>
              <a:t>A y B representan modalidades, como EEG y GSR. Solo se usan las señales permitidas para cada variable.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84200" y="7213600"/>
            <a:ext cx="3848100" cy="482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6324F"/>
                </a:solidFill>
                <a:latin typeface="Arial"/>
              </a:defRPr>
            </a:pPr>
            <a:r>
              <a:t>Comparación justa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813300" y="7150100"/>
            <a:ext cx="5549900" cy="1016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6324F"/>
                </a:solidFill>
                <a:latin typeface="Arial"/>
              </a:defRPr>
            </a:pPr>
            <a:r>
              <a:t>Mismas etiquetas y participantes.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6324F"/>
                </a:solidFill>
                <a:latin typeface="Arial"/>
              </a:defRPr>
            </a:pPr>
            <a:r>
              <a:t>Ajuste dentro del entrenamiento; evaluación final reservada.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214100" y="7112000"/>
            <a:ext cx="4330700" cy="1143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6324F"/>
                </a:solidFill>
                <a:latin typeface="Arial"/>
              </a:defRPr>
            </a:pPr>
            <a:r>
              <a:t>Exactitud balanceada (BA),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6324F"/>
                </a:solidFill>
                <a:latin typeface="Arial"/>
              </a:defRPr>
            </a:pPr>
            <a:r>
              <a:t>macro-F1 y recall por clase.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6324F"/>
                </a:solidFill>
                <a:latin typeface="Arial"/>
              </a:defRPr>
            </a:pPr>
            <a:r>
              <a:t>Variación entre participantes.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84200" y="8610600"/>
            <a:ext cx="14414500" cy="381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4B5968"/>
                </a:solidFill>
                <a:latin typeface="Arial"/>
              </a:defRPr>
            </a:pPr>
            <a:r>
              <a:t>Evaluación offline; búsquedas previas exploratorias. Recall: proporción detectada por clase. BA: promedio de esos recalls. Macro-F1: promedio por clase del equilibrio entre precisión y recall.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5240000" y="8610600"/>
            <a:ext cx="406400" cy="304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4B5968"/>
                </a:solidFill>
                <a:latin typeface="Arial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2039</Words>
  <Application>Microsoft Office PowerPoint</Application>
  <PresentationFormat>Personalizado</PresentationFormat>
  <Paragraphs>480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Tema de tesis MDS · Mario Romero</dc:title>
  <dc:subject/>
  <dc:creator>Mario Romero</dc:creator>
  <cp:keywords/>
  <dc:description>generated using python-pptx</dc:description>
  <cp:lastModifiedBy>Mario Romero</cp:lastModifiedBy>
  <cp:revision>2</cp:revision>
  <dcterms:created xsi:type="dcterms:W3CDTF">2013-01-27T09:14:16Z</dcterms:created>
  <dcterms:modified xsi:type="dcterms:W3CDTF">2026-09-24T21:37:44Z</dcterms:modified>
  <cp:category/>
  <dc:language>es-CL</dc:language>
</cp:coreProperties>
</file>