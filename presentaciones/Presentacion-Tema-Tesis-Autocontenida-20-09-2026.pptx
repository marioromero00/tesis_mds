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Presentacion-Tema-Tesis-Autocontenida-20-09-2026.html</a:t>
            </a:r>
          </a:p>
          <a:p>
            <a:r>
              <a:t>Revisión de objetivos y KDD del 22-09-2026.</a:t>
            </a:r>
          </a:p>
          <a:p/>
          <a:p>
            <a:r>
              <a:t>Universidad de Chile · Magíster en Data Science</a:t>
            </a:r>
          </a:p>
          <a:p>
            <a:r>
              <a:t>Modelos temporales multimodales para la detección de atención y activación emocional durante la navegación web</a:t>
            </a:r>
          </a:p>
          <a:p>
            <a:r>
              <a:t>Estudiante</a:t>
            </a:r>
          </a:p>
          <a:p>
            <a:r>
              <a:t>Mario Romero</a:t>
            </a:r>
          </a:p>
          <a:p>
            <a:r>
              <a:t>Profesor guía</a:t>
            </a:r>
          </a:p>
          <a:p>
            <a:r>
              <a:t>Dr. Juan D. Velásquez</a:t>
            </a:r>
          </a:p>
          <a:p>
            <a:r>
              <a:t>Tema de tesis</a:t>
            </a:r>
          </a:p>
          <a:p>
            <a:r>
              <a:t>Estudiar si combinar señales y considerar su evolución en el tiempo ayuda a predecir atención y activación en participantes nuevos.</a:t>
            </a:r>
          </a:p>
          <a:p>
            <a:r>
              <a:t>Proyecto Fondecyt 1231122 · Toma de Muestra 2 · Revisión del 22 de septiembre de 2026.</a:t>
            </a:r>
          </a:p>
          <a:p>
            <a:r>
              <a:t>La activación emocional se estudia como arousal; no se distinguen emociones como alegría o tristeza.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Presentacion-Tema-Tesis-Autocontenida-20-09-2026.html</a:t>
            </a:r>
          </a:p>
          <a:p>
            <a:r>
              <a:t>Revisión de objetivos y KDD del 22-09-2026.</a:t>
            </a:r>
          </a:p>
          <a:p/>
          <a:p>
            <a:r>
              <a:t>Antecedentes</a:t>
            </a:r>
          </a:p>
          <a:p>
            <a:r>
              <a:t>Atención y activación cambian durante la navegación</a:t>
            </a:r>
          </a:p>
          <a:p>
            <a:r>
              <a:t>Contexto</a:t>
            </a:r>
          </a:p>
          <a:p>
            <a:r>
              <a:t>El proyecto Fondecyt 1231122 estudia las respuestas neurofisiológicas durante la interacción con contenidos digitales.</a:t>
            </a:r>
          </a:p>
          <a:p>
            <a:r>
              <a:t>Problema</a:t>
            </a:r>
          </a:p>
          <a:p>
            <a:r>
              <a:t>Los promedios de una sesión pierden el orden de los datos y pueden ocultar cambios de atención o activación.</a:t>
            </a:r>
          </a:p>
          <a:p>
            <a:r>
              <a:t>Medición</a:t>
            </a:r>
          </a:p>
          <a:p>
            <a:r>
              <a:t>No hay etiquetas directas de atención y activación. Se estiman a partir de las señales, con las limitaciones de cada una.</a:t>
            </a:r>
          </a:p>
          <a:p>
            <a:r>
              <a:t>Se comparan modelos que usan una ventana de datos con otros que consideran también las ventanas anteriores.</a:t>
            </a:r>
          </a:p>
          <a:p>
            <a:r>
              <a:t>Fuentes: «Problema e hipótesis» y «Estructura Tesis», capítulo 1. Registrar la mirada no demuestra atención; GSR aproxima activación, sin distinguir emociones.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Presentacion-Tema-Tesis-Autocontenida-20-09-2026.html</a:t>
            </a:r>
          </a:p>
          <a:p>
            <a:r>
              <a:t>Revisión de objetivos y KDD del 22-09-2026.</a:t>
            </a:r>
          </a:p>
          <a:p/>
          <a:p>
            <a:r>
              <a:t>Temporalidad y fusión multimodal</a:t>
            </a:r>
          </a:p>
          <a:p>
            <a:r>
              <a:t>Objetivo general</a:t>
            </a:r>
          </a:p>
          <a:p>
            <a:r>
              <a:t>Evaluar si la información temporal y la fusión multimodal mejoran la predicción de pseudoetiquetas de atención y activación emocional durante la navegación web, comparando modelos temporales y estáticos en participantes no utilizados para su ajuste.</a:t>
            </a:r>
          </a:p>
          <a:p>
            <a:r>
              <a:t>Comparación temporal</a:t>
            </a:r>
          </a:p>
          <a:p>
            <a:r>
              <a:t>Ventana actual frente a secuencia de ventanas.</a:t>
            </a:r>
          </a:p>
          <a:p>
            <a:r>
              <a:t>+</a:t>
            </a:r>
          </a:p>
          <a:p>
            <a:r>
              <a:t>Comparación de fusión</a:t>
            </a:r>
          </a:p>
          <a:p>
            <a:r>
              <a:t>Temprana, intermedia y tardía.</a:t>
            </a:r>
          </a:p>
          <a:p>
            <a:r>
              <a:t>Se usan las mismas etiquetas y particiones para comparar los modelos. Las pseudoetiquetas son estimaciones de atención y activación.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Presentacion-Tema-Tesis-Autocontenida-20-09-2026.html</a:t>
            </a:r>
          </a:p>
          <a:p>
            <a:r>
              <a:t>Revisión de objetivos y KDD del 22-09-2026.</a:t>
            </a:r>
          </a:p>
          <a:p/>
          <a:p>
            <a:r>
              <a:t>Plan de investigación</a:t>
            </a:r>
          </a:p>
          <a:p>
            <a:r>
              <a:t>Objetivos específicos</a:t>
            </a:r>
          </a:p>
          <a:p>
            <a:r>
              <a:t>Revisar la literatura</a:t>
            </a:r>
          </a:p>
          <a:p>
            <a:r>
              <a:t>sobre atención y activación emocional, con énfasis en modelos temporales y fusión de señales.</a:t>
            </a:r>
          </a:p>
          <a:p>
            <a:r>
              <a:t>Caracterizar las señales disponibles</a:t>
            </a:r>
          </a:p>
          <a:p>
            <a:r>
              <a:t>y sincronizar EEG, GSR, eye tracking y pupilometría con criterios de calidad definidos.</a:t>
            </a:r>
          </a:p>
          <a:p>
            <a:r>
              <a:t>Definir las pseudoetiquetas</a:t>
            </a:r>
          </a:p>
          <a:p>
            <a:r>
              <a:t>continuas y categóricas de atención y activación, comprobar su estabilidad y separar las señales de etiquetado y predicción.</a:t>
            </a:r>
          </a:p>
          <a:p>
            <a:r>
              <a:t>Comparar modelos temporales y estáticos</a:t>
            </a:r>
          </a:p>
          <a:p>
            <a:r>
              <a:t>en participantes no usados para su ajuste, seleccionando hiperparámetros dentro del entrenamiento.</a:t>
            </a:r>
          </a:p>
          <a:p>
            <a:r>
              <a:t>Medir el aporte de señales e historial</a:t>
            </a:r>
          </a:p>
          <a:p>
            <a:r>
              <a:t>mediante estudios de ablación y comparaciones entre fusión temprana, intermedia y tardía.</a:t>
            </a:r>
          </a:p>
          <a:p>
            <a:r>
              <a:t>Describir los cambios durante la sesión</a:t>
            </a:r>
          </a:p>
          <a:p>
            <a:r>
              <a:t>en los scores de atención y activación, buscando patrones compatibles con fatiga o habituación.</a:t>
            </a:r>
          </a:p>
          <a:p>
            <a:r>
              <a:t>Contrastar la hipótesis</a:t>
            </a:r>
          </a:p>
          <a:p>
            <a:r>
              <a:t>a partir de las diferencias de desempeño, sus intervalos de incertidumbre y la variación entre participantes.</a:t>
            </a:r>
          </a:p>
          <a:p>
            <a:r>
              <a:t>El análisis de fatiga y habituación es descriptivo. Las pseudoetiquetas se mantienen fijas al comparar modelos.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Presentacion-Tema-Tesis-Autocontenida-20-09-2026.html</a:t>
            </a:r>
          </a:p>
          <a:p>
            <a:r>
              <a:t>Revisión de objetivos y KDD del 22-09-2026.</a:t>
            </a:r>
          </a:p>
          <a:p/>
          <a:p>
            <a:r>
              <a:t>Knowledge Discovery in Databases</a:t>
            </a:r>
          </a:p>
          <a:p>
            <a:r>
              <a:t>Metodología KDD</a:t>
            </a:r>
          </a:p>
          <a:p>
            <a:r>
              <a:t>Selección</a:t>
            </a:r>
          </a:p>
          <a:p>
            <a:r>
              <a:t>Seleccionar los registros de la Toma de Muestra 2.</a:t>
            </a:r>
          </a:p>
          <a:p>
            <a:r>
              <a:t>Preprocesamiento</a:t>
            </a:r>
          </a:p>
          <a:p>
            <a:r>
              <a:t>Revisar la calidad, tratar datos faltantes y sincronizar las señales.</a:t>
            </a:r>
          </a:p>
          <a:p>
            <a:r>
              <a:t>Transformación</a:t>
            </a:r>
          </a:p>
          <a:p>
            <a:r>
              <a:t>Calcular características y pseudoetiquetas por ventana; formar secuencias.</a:t>
            </a:r>
          </a:p>
          <a:p>
            <a:r>
              <a:t>Minería de datos</a:t>
            </a:r>
          </a:p>
          <a:p>
            <a:r>
              <a:t>Entrenar modelos, probar fusiones y ajustar hiperparámetros dentro del entrenamiento.</a:t>
            </a:r>
          </a:p>
          <a:p>
            <a:r>
              <a:t>Interpretación y evaluación</a:t>
            </a:r>
          </a:p>
          <a:p>
            <a:r>
              <a:t>Comparar resultados, estimar incertidumbre y analizar el aporte de señales e historial.</a:t>
            </a:r>
          </a:p>
          <a:p>
            <a:r>
              <a:t>Modelo Profesor → pseudoetiqueta → Modelo Estudiante</a:t>
            </a:r>
          </a:p>
          <a:p>
            <a:r>
              <a:t>Variable objetivo</a:t>
            </a:r>
          </a:p>
          <a:p>
            <a:r>
              <a:t>Profesor: construye la etiqueta</a:t>
            </a:r>
          </a:p>
          <a:p>
            <a:r>
              <a:t>Estudiante: predice</a:t>
            </a:r>
          </a:p>
          <a:p>
            <a:r>
              <a:t>Atención</a:t>
            </a:r>
          </a:p>
          <a:p>
            <a:r>
              <a:t>Eye tracking + pupilometría</a:t>
            </a:r>
          </a:p>
          <a:p>
            <a:r>
              <a:t>EEG + GSR</a:t>
            </a:r>
          </a:p>
          <a:p>
            <a:r>
              <a:t>Activación</a:t>
            </a:r>
          </a:p>
          <a:p>
            <a:r>
              <a:t>GSR</a:t>
            </a:r>
          </a:p>
          <a:p>
            <a:r>
              <a:t>EEG + eye tracking + pupilometría</a:t>
            </a:r>
          </a:p>
          <a:p>
            <a:r>
              <a:t>Las etapas se revisan durante el desarrollo. Se evalúa por participante con exactitud balanceada (BA), macro-F1 y recall. La evaluación final se reserva hasta cerrar el ajuste.</a:t>
            </a:r>
          </a:p>
          <a:p>
            <a:r>
              <a:t>KDD adaptado de Fayyad, Piatetsky-Shapiro y Smyth (1996), AI Magazine 17(3), 37–54. DOI: 10.1609/aimag.v17i3.1230.</a:t>
            </a:r>
          </a:p>
          <a:p>
            <a:r>
              <a:t>El análisis es offline: la normalización por sesión requiere disponer del registro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Presentacion-Tema-Tesis-Autocontenida-20-09-2026.html</a:t>
            </a:r>
          </a:p>
          <a:p>
            <a:r>
              <a:t>Revisión de objetivos y KDD del 22-09-2026.</a:t>
            </a:r>
          </a:p>
          <a:p/>
          <a:p>
            <a:r>
              <a:t>Datos disponibles</a:t>
            </a:r>
          </a:p>
          <a:p>
            <a:r>
              <a:t>Datos de la Toma de Muestra 2</a:t>
            </a:r>
          </a:p>
          <a:p>
            <a:r>
              <a:t>48</a:t>
            </a:r>
          </a:p>
          <a:p>
            <a:r>
              <a:t>participantes auditados</a:t>
            </a:r>
          </a:p>
          <a:p>
            <a:r>
              <a:t>25.992</a:t>
            </a:r>
          </a:p>
          <a:p>
            <a:r>
              <a:t>ventanas generadas de 2 s</a:t>
            </a:r>
          </a:p>
          <a:p>
            <a:r>
              <a:t>22.201</a:t>
            </a:r>
          </a:p>
          <a:p>
            <a:r>
              <a:t>ventanas multimodales válidas*</a:t>
            </a:r>
          </a:p>
          <a:p>
            <a:r>
              <a:t>Registros ya disponibles y procesados</a:t>
            </a:r>
          </a:p>
          <a:p>
            <a:r>
              <a:t>Señal</a:t>
            </a:r>
          </a:p>
          <a:p>
            <a:r>
              <a:t>Contenido disponible</a:t>
            </a:r>
          </a:p>
          <a:p>
            <a:r>
              <a:t>Origen / frecuencia</a:t>
            </a:r>
          </a:p>
          <a:p>
            <a:r>
              <a:t>EEG</a:t>
            </a:r>
          </a:p>
          <a:p>
            <a:r>
              <a:t>16 canales; amplitud y potencia por bandas.</a:t>
            </a:r>
          </a:p>
          <a:p>
            <a:r>
              <a:t>OpenBCI Cyton + Daisy · 125 Hz</a:t>
            </a:r>
          </a:p>
          <a:p>
            <a:r>
              <a:t>GSR</a:t>
            </a:r>
          </a:p>
          <a:p>
            <a:r>
              <a:t>Señal electrodérmica; componentes tónica y fásica, picos SCR.</a:t>
            </a:r>
          </a:p>
          <a:p>
            <a:r>
              <a:t>Exportación Tobii · ≈15 Hz</a:t>
            </a:r>
          </a:p>
          <a:p>
            <a:r>
              <a:t>Eye tracking</a:t>
            </a:r>
          </a:p>
          <a:p>
            <a:r>
              <a:t>Coordenadas de mirada, fijaciones y sacádicos.</a:t>
            </a:r>
          </a:p>
          <a:p>
            <a:r>
              <a:t>Tobii · ≈60 Hz</a:t>
            </a:r>
          </a:p>
          <a:p>
            <a:r>
              <a:t>Pupilometría</a:t>
            </a:r>
          </a:p>
          <a:p>
            <a:r>
              <a:t>Diámetro y validez por ojo.</a:t>
            </a:r>
          </a:p>
          <a:p>
            <a:r>
              <a:t>Mismo registro ocular</a:t>
            </a:r>
          </a:p>
          <a:p>
            <a:r>
              <a:t>Conjunto principal: 41 personas</a:t>
            </a:r>
          </a:p>
          <a:p>
            <a:r>
              <a:t>→ 25 entrenamiento, 8 validación y 8 prueba. De las 48 auditadas, seis se excluyen por calidad o falta de señal y una queda en sensibilidad por sincronización.</a:t>
            </a:r>
          </a:p>
          <a:p>
            <a:r>
              <a:t>*Conteo del preprocesamiento previo a separar el caso de sensibilidad. Archivos originales: TSV de Tobii y ZIP de EEG; tabla procesada de 59 columnas con participante, estímulo, tiempo, características y calidad.</a:t>
            </a:r>
          </a:p>
          <a:p>
            <a:r>
              <a:t>Fuentes: «DOCUMENTACION_DATOS_MDS», «PREPROCESAMIENTO_MULTIMODAL» y partición guardada. Sin expresión facial ni etiquetas directas de atención/activación.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6556B"/>
                </a:solidFill>
                <a:latin typeface="Arial"/>
              </a:defRPr>
            </a:pPr>
            <a:r>
              <a:t>UNIVERSIDAD DE CHILE · MAGÍSTER EN DATA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6223000"/>
            <a:ext cx="10541000" cy="508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30" b="0">
                <a:solidFill>
                  <a:srgbClr val="46556B"/>
                </a:solidFill>
                <a:latin typeface="Arial"/>
              </a:defRPr>
            </a:pPr>
            <a:r>
              <a:t>Proyecto Fondecyt 1231122 · Toma de Muestra 2 · Revisión del 22 de septiembre de 2026. La activación emocional se estudia como arousal; no se distinguen emociones como alegría o tristeza.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04600" y="6477000"/>
            <a:ext cx="5715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46556B"/>
                </a:solidFill>
                <a:latin typeface="Arial"/>
              </a:defRPr>
            </a:pPr>
            <a:r>
              <a:t>1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990600"/>
            <a:ext cx="10795000" cy="2095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2243B"/>
                </a:solidFill>
                <a:latin typeface="Arial"/>
              </a:defRPr>
            </a:pPr>
            <a:r>
              <a:t>Modelos temporales multimodales para la detección de atención y activación emocional durante la navegación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3441700"/>
            <a:ext cx="27305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6556B"/>
                </a:solidFill>
                <a:latin typeface="Arial"/>
              </a:defRPr>
            </a:pPr>
            <a:r>
              <a:t>Estudiante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3733800"/>
            <a:ext cx="41910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243B"/>
                </a:solidFill>
                <a:latin typeface="Arial"/>
              </a:defRPr>
            </a:pPr>
            <a:r>
              <a:t>Mario Romero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56000" y="3441700"/>
            <a:ext cx="27305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46556B"/>
                </a:solidFill>
                <a:latin typeface="Arial"/>
              </a:defRPr>
            </a:pPr>
            <a:r>
              <a:t>Profesor guía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6000" y="3733800"/>
            <a:ext cx="41910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243B"/>
                </a:solidFill>
                <a:latin typeface="Arial"/>
              </a:defRPr>
            </a:pPr>
            <a:r>
              <a:t>Dr. Juan D. Velásquez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000" y="4457700"/>
            <a:ext cx="10922000" cy="13081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000" y="4457700"/>
            <a:ext cx="38100" cy="1308100"/>
          </a:xfrm>
          <a:prstGeom prst="rect">
            <a:avLst/>
          </a:prstGeom>
          <a:solidFill>
            <a:srgbClr val="096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6300" y="4660900"/>
            <a:ext cx="102870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9686B"/>
                </a:solidFill>
                <a:latin typeface="Arial"/>
              </a:defRPr>
            </a:pPr>
            <a:r>
              <a:t>TEMA DE TESIS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5003800"/>
            <a:ext cx="10287000" cy="622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2243B"/>
                </a:solidFill>
                <a:latin typeface="Arial"/>
              </a:defRPr>
            </a:pPr>
            <a:r>
              <a:t>Estudiar si combinar señales y considerar su evolución en el tiempo ayuda a predecir atención y activación en participantes nuevos.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6556B"/>
                </a:solidFill>
                <a:latin typeface="Arial"/>
              </a:defRPr>
            </a:pPr>
            <a:r>
              <a:t>ANTECEDENTES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812800"/>
            <a:ext cx="10922000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2243B"/>
                </a:solidFill>
                <a:latin typeface="Arial"/>
              </a:defRPr>
            </a:pPr>
            <a:r>
              <a:t>Atención y activación cambian durante la navegación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223000"/>
            <a:ext cx="10541000" cy="508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30" b="0">
                <a:solidFill>
                  <a:srgbClr val="46556B"/>
                </a:solidFill>
                <a:latin typeface="Arial"/>
              </a:defRPr>
            </a:pPr>
            <a:r>
              <a:t>Fuentes: «Problema e hipótesis» y «Estructura Tesis», capítulo 1. Registrar la mirada no demuestra atención; GSR aproxima activación, sin distinguir emociones.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04600" y="6477000"/>
            <a:ext cx="5715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46556B"/>
                </a:solidFill>
                <a:latin typeface="Arial"/>
              </a:defRPr>
            </a:pPr>
            <a:r>
              <a:t>2 / 6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044700"/>
            <a:ext cx="3454400" cy="26670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000" y="2044700"/>
            <a:ext cx="38100" cy="26670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2247900"/>
            <a:ext cx="29972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243B"/>
                </a:solidFill>
                <a:latin typeface="Arial"/>
              </a:defRPr>
            </a:pPr>
            <a:r>
              <a:t>Contexto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2730500"/>
            <a:ext cx="3048000" cy="18161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2243B"/>
                </a:solidFill>
                <a:latin typeface="Arial"/>
              </a:defRPr>
            </a:pPr>
            <a:r>
              <a:t>El proyecto Fondecyt 1231122 estudia las respuestas neurofisiológicas durante la interacción con contenidos digitales.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8800" y="2044700"/>
            <a:ext cx="3454400" cy="26670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68800" y="2044700"/>
            <a:ext cx="38100" cy="26670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7400" y="2247900"/>
            <a:ext cx="29972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243B"/>
                </a:solidFill>
                <a:latin typeface="Arial"/>
              </a:defRPr>
            </a:pPr>
            <a:r>
              <a:t>Problema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730500"/>
            <a:ext cx="3048000" cy="18161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2243B"/>
                </a:solidFill>
                <a:latin typeface="Arial"/>
              </a:defRPr>
            </a:pPr>
            <a:r>
              <a:t>Los promedios de una sesión pierden el orden de los datos y pueden ocultar cambios de atención o activación.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2600" y="2044700"/>
            <a:ext cx="3454400" cy="26670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2600" y="2044700"/>
            <a:ext cx="38100" cy="2667000"/>
          </a:xfrm>
          <a:prstGeom prst="rect">
            <a:avLst/>
          </a:prstGeom>
          <a:solidFill>
            <a:srgbClr val="096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1200" y="2247900"/>
            <a:ext cx="29972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243B"/>
                </a:solidFill>
                <a:latin typeface="Arial"/>
              </a:defRPr>
            </a:pPr>
            <a:r>
              <a:t>Medición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5800" y="2730500"/>
            <a:ext cx="3048000" cy="18161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2243B"/>
                </a:solidFill>
                <a:latin typeface="Arial"/>
              </a:defRPr>
            </a:pPr>
            <a:r>
              <a:t>No hay etiquetas directas de atención y activación. Se estiman a partir de las señales, con las limitaciones de cada una.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000" y="5003800"/>
            <a:ext cx="10922000" cy="9017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000" y="5003800"/>
            <a:ext cx="38100" cy="901700"/>
          </a:xfrm>
          <a:prstGeom prst="rect">
            <a:avLst/>
          </a:prstGeom>
          <a:solidFill>
            <a:srgbClr val="096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3600" y="5168900"/>
            <a:ext cx="10528300" cy="647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2243B"/>
                </a:solidFill>
                <a:latin typeface="Arial"/>
              </a:defRPr>
            </a:pPr>
            <a:r>
              <a:t>Se comparan modelos que usan una ventana de datos con otros que consideran también las ventanas anteriores.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6556B"/>
                </a:solidFill>
                <a:latin typeface="Arial"/>
              </a:defRPr>
            </a:pPr>
            <a:r>
              <a:t>TEMPORALIDAD Y FUSIÓN MULTIMODAL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812800"/>
            <a:ext cx="10922000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2243B"/>
                </a:solidFill>
                <a:latin typeface="Arial"/>
              </a:defRPr>
            </a:pPr>
            <a:r>
              <a:t>Objetivo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223000"/>
            <a:ext cx="10541000" cy="508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30" b="0">
                <a:solidFill>
                  <a:srgbClr val="46556B"/>
                </a:solidFill>
                <a:latin typeface="Arial"/>
              </a:defRPr>
            </a:pPr>
            <a:r>
              <a:t>Se usan las mismas etiquetas y particiones para comparar los modelos. Las pseudoetiquetas son estimaciones de atención y activación.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04600" y="6477000"/>
            <a:ext cx="5715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46556B"/>
                </a:solidFill>
                <a:latin typeface="Arial"/>
              </a:defRPr>
            </a:pPr>
            <a:r>
              <a:t>3 / 6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1905000"/>
            <a:ext cx="50800" cy="2235200"/>
          </a:xfrm>
          <a:prstGeom prst="rect">
            <a:avLst/>
          </a:prstGeom>
          <a:solidFill>
            <a:srgbClr val="096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92300"/>
            <a:ext cx="10414000" cy="2311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2243B"/>
                </a:solidFill>
                <a:latin typeface="Arial"/>
              </a:defRPr>
            </a:pPr>
            <a:r>
              <a:t>Evaluar si la información temporal y la fusión multimodal mejoran la predicción de pseudoetiquetas de atención y activación emocional durante la navegación web, comparando modelos temporales y estáticos en participantes no utilizados para su ajuste.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" y="4635500"/>
            <a:ext cx="5041900" cy="10795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000" y="4635500"/>
            <a:ext cx="38100" cy="10795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600" y="4838700"/>
            <a:ext cx="45847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243B"/>
                </a:solidFill>
                <a:latin typeface="Arial"/>
              </a:defRPr>
            </a:pPr>
            <a:r>
              <a:t>Comparación temporal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5321300"/>
            <a:ext cx="46355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2243B"/>
                </a:solidFill>
                <a:latin typeface="Arial"/>
              </a:defRPr>
            </a:pPr>
            <a:r>
              <a:t>Ventana actual frente a secuencia de ventanas.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15100" y="4635500"/>
            <a:ext cx="5041900" cy="10795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15100" y="4635500"/>
            <a:ext cx="38100" cy="10795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43700" y="4838700"/>
            <a:ext cx="45847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243B"/>
                </a:solidFill>
                <a:latin typeface="Arial"/>
              </a:defRPr>
            </a:pPr>
            <a:r>
              <a:t>Comparación de fusión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18300" y="5321300"/>
            <a:ext cx="46355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2243B"/>
                </a:solidFill>
                <a:latin typeface="Arial"/>
              </a:defRPr>
            </a:pPr>
            <a:r>
              <a:t>Temprana, intermedia y tardía.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1700" y="4953000"/>
            <a:ext cx="292100" cy="355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03D73"/>
                </a:solidFill>
                <a:latin typeface="Arial"/>
              </a:defRPr>
            </a:pPr>
            <a:r>
              <a:t>+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6556B"/>
                </a:solidFill>
                <a:latin typeface="Arial"/>
              </a:defRPr>
            </a:pPr>
            <a:r>
              <a:t>PLAN DE INVESTIGACIÓN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812800"/>
            <a:ext cx="10922000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2243B"/>
                </a:solidFill>
                <a:latin typeface="Arial"/>
              </a:defRPr>
            </a:pPr>
            <a:r>
              <a:t>Objetivos específicos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223000"/>
            <a:ext cx="10541000" cy="508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30" b="0">
                <a:solidFill>
                  <a:srgbClr val="46556B"/>
                </a:solidFill>
                <a:latin typeface="Arial"/>
              </a:defRPr>
            </a:pPr>
            <a:r>
              <a:t>El análisis de fatiga y habituación es descriptivo. Las pseudoetiquetas se mantienen fijas al comparar modelos.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04600" y="6477000"/>
            <a:ext cx="5715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46556B"/>
                </a:solidFill>
                <a:latin typeface="Arial"/>
              </a:defRPr>
            </a:pPr>
            <a:r>
              <a:t>4 /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943100"/>
            <a:ext cx="317500" cy="31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" y="1943100"/>
            <a:ext cx="4673600" cy="330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12243B"/>
                </a:solidFill>
                <a:latin typeface="Arial"/>
              </a:defRPr>
            </a:pPr>
            <a:r>
              <a:t>Revisar la literatura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8700" y="2298700"/>
            <a:ext cx="4673600" cy="889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12243B"/>
                </a:solidFill>
                <a:latin typeface="Arial"/>
              </a:defRPr>
            </a:pPr>
            <a:r>
              <a:t>sobre atención y activación emocional, con énfasis en modelos temporales y fusión de señales.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3251200"/>
            <a:ext cx="317500" cy="31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" y="3251200"/>
            <a:ext cx="4673600" cy="330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12243B"/>
                </a:solidFill>
                <a:latin typeface="Arial"/>
              </a:defRPr>
            </a:pPr>
            <a:r>
              <a:t>Caracterizar las señales disponibles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" y="3606800"/>
            <a:ext cx="4673600" cy="889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12243B"/>
                </a:solidFill>
                <a:latin typeface="Arial"/>
              </a:defRPr>
            </a:pPr>
            <a:r>
              <a:t>y sincronizar EEG, GSR, eye tracking y pupilometría con criterios de calidad definidos.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4559300"/>
            <a:ext cx="317500" cy="31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" y="4559300"/>
            <a:ext cx="4673600" cy="330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12243B"/>
                </a:solidFill>
                <a:latin typeface="Arial"/>
              </a:defRPr>
            </a:pPr>
            <a:r>
              <a:t>Definir las pseudoetiquetas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" y="4914900"/>
            <a:ext cx="4673600" cy="889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12243B"/>
                </a:solidFill>
                <a:latin typeface="Arial"/>
              </a:defRPr>
            </a:pPr>
            <a:r>
              <a:t>continuas y categóricas de atención y activación, comprobar su estabilidad y separar las señales de etiquetado y predicción.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0" y="1943100"/>
            <a:ext cx="317500" cy="31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3700" y="1943100"/>
            <a:ext cx="4673600" cy="330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12243B"/>
                </a:solidFill>
                <a:latin typeface="Arial"/>
              </a:defRPr>
            </a:pPr>
            <a:r>
              <a:t>Comparar modelos temporales y estáticos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43700" y="2298700"/>
            <a:ext cx="4673600" cy="774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12243B"/>
                </a:solidFill>
                <a:latin typeface="Arial"/>
              </a:defRPr>
            </a:pPr>
            <a:r>
              <a:t>en participantes no usados para su ajuste, seleccionando hiperparámetros dentro del entrenamiento.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0" y="3124200"/>
            <a:ext cx="317500" cy="31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3700" y="3124200"/>
            <a:ext cx="4673600" cy="330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12243B"/>
                </a:solidFill>
                <a:latin typeface="Arial"/>
              </a:defRPr>
            </a:pPr>
            <a:r>
              <a:t>Medir el aporte de señales e historial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3700" y="3479800"/>
            <a:ext cx="4673600" cy="774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12243B"/>
                </a:solidFill>
                <a:latin typeface="Arial"/>
              </a:defRPr>
            </a:pPr>
            <a:r>
              <a:t>mediante estudios de ablación y comparaciones entre fusión temprana, intermedia y tardía.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000" y="4152900"/>
            <a:ext cx="317500" cy="31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6.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3700" y="4152900"/>
            <a:ext cx="4673600" cy="330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12243B"/>
                </a:solidFill>
                <a:latin typeface="Arial"/>
              </a:defRPr>
            </a:pPr>
            <a:r>
              <a:t>Describir los cambios durante la sesión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3700" y="4508500"/>
            <a:ext cx="4673600" cy="774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12243B"/>
                </a:solidFill>
                <a:latin typeface="Arial"/>
              </a:defRPr>
            </a:pPr>
            <a:r>
              <a:t>en los scores de atención y activación, buscando patrones compatibles con fatiga o habituación.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0" y="5207000"/>
            <a:ext cx="317500" cy="317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7.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3700" y="5207000"/>
            <a:ext cx="4673600" cy="330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12243B"/>
                </a:solidFill>
                <a:latin typeface="Arial"/>
              </a:defRPr>
            </a:pPr>
            <a:r>
              <a:t>Contrastar la hipótesis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3700" y="5562600"/>
            <a:ext cx="4673600" cy="774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12243B"/>
                </a:solidFill>
                <a:latin typeface="Arial"/>
              </a:defRPr>
            </a:pPr>
            <a:r>
              <a:t>a partir de las diferencias de desempeño, sus intervalos de incertidumbre y la variación entre participantes.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6556B"/>
                </a:solidFill>
                <a:latin typeface="Arial"/>
              </a:defRPr>
            </a:pPr>
            <a:r>
              <a:t>KNOWLEDGE DISCOVERY IN DATABASES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812800"/>
            <a:ext cx="10922000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2243B"/>
                </a:solidFill>
                <a:latin typeface="Arial"/>
              </a:defRPr>
            </a:pPr>
            <a:r>
              <a:t>Metodología KDD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223000"/>
            <a:ext cx="10541000" cy="508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30" b="0">
                <a:solidFill>
                  <a:srgbClr val="46556B"/>
                </a:solidFill>
                <a:latin typeface="Arial"/>
              </a:defRPr>
            </a:pPr>
            <a:r>
              <a:t>KDD adaptado de Fayyad, Piatetsky-Shapiro y Smyth (1996), AI Magazine 17(3), 37–54. DOI: 10.1609/aimag.v17i3.1230. El análisis es offline: la normalización por sesión requiere disponer del registro completo.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04600" y="6477000"/>
            <a:ext cx="5715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46556B"/>
                </a:solidFill>
                <a:latin typeface="Arial"/>
              </a:defRPr>
            </a:pPr>
            <a:r>
              <a:t>5 / 6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1879600"/>
            <a:ext cx="2032000" cy="20193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7400" y="2006600"/>
            <a:ext cx="5080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7400" y="2362200"/>
            <a:ext cx="17272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70" b="1">
                <a:solidFill>
                  <a:srgbClr val="12243B"/>
                </a:solidFill>
                <a:latin typeface="Arial"/>
              </a:defRPr>
            </a:pPr>
            <a:r>
              <a:t>Selección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300" y="2946400"/>
            <a:ext cx="1803400" cy="863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40" b="0">
                <a:solidFill>
                  <a:srgbClr val="12243B"/>
                </a:solidFill>
                <a:latin typeface="Arial"/>
              </a:defRPr>
            </a:pPr>
            <a:r>
              <a:t>Seleccionar los registros de la Toma de Muestra 2.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7500" y="1879600"/>
            <a:ext cx="2032000" cy="20193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9900" y="2006600"/>
            <a:ext cx="5080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9900" y="2362200"/>
            <a:ext cx="17272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70" b="1">
                <a:solidFill>
                  <a:srgbClr val="12243B"/>
                </a:solidFill>
                <a:latin typeface="Arial"/>
              </a:defRPr>
            </a:pPr>
            <a:r>
              <a:t>Preprocesamiento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6400" y="2946400"/>
            <a:ext cx="1854200" cy="863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40" b="0">
                <a:solidFill>
                  <a:srgbClr val="12243B"/>
                </a:solidFill>
                <a:latin typeface="Arial"/>
              </a:defRPr>
            </a:pPr>
            <a:r>
              <a:t>Revisar la calidad, tratar datos faltantes y sincronizar las señales.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80000" y="1879600"/>
            <a:ext cx="2032000" cy="20193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2400" y="2006600"/>
            <a:ext cx="5080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2400" y="2362200"/>
            <a:ext cx="17272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70" b="1">
                <a:solidFill>
                  <a:srgbClr val="12243B"/>
                </a:solidFill>
                <a:latin typeface="Arial"/>
              </a:defRPr>
            </a:pPr>
            <a:r>
              <a:t>Transformación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94300" y="2946400"/>
            <a:ext cx="1803400" cy="863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40" b="0">
                <a:solidFill>
                  <a:srgbClr val="12243B"/>
                </a:solidFill>
                <a:latin typeface="Arial"/>
              </a:defRPr>
            </a:pPr>
            <a:r>
              <a:t>Calcular características y pseudoetiquetas por ventana; formar secuencias.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02500" y="1879600"/>
            <a:ext cx="2032000" cy="20193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4900" y="2006600"/>
            <a:ext cx="5080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4900" y="2362200"/>
            <a:ext cx="17272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70" b="1">
                <a:solidFill>
                  <a:srgbClr val="12243B"/>
                </a:solidFill>
                <a:latin typeface="Arial"/>
              </a:defRPr>
            </a:pPr>
            <a:r>
              <a:t>Minería de datos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16800" y="2946400"/>
            <a:ext cx="1803400" cy="863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40" b="0">
                <a:solidFill>
                  <a:srgbClr val="12243B"/>
                </a:solidFill>
                <a:latin typeface="Arial"/>
              </a:defRPr>
            </a:pPr>
            <a:r>
              <a:t>Entrenar modelos, probar fusiones y ajustar hiperparámetros dentro del entrenamiento.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25000" y="1879600"/>
            <a:ext cx="2032000" cy="20193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77400" y="2006600"/>
            <a:ext cx="5080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9686B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77400" y="2362200"/>
            <a:ext cx="17272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70" b="1">
                <a:solidFill>
                  <a:srgbClr val="12243B"/>
                </a:solidFill>
                <a:latin typeface="Arial"/>
              </a:defRPr>
            </a:pPr>
            <a:r>
              <a:t>Interpretación y evaluación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39300" y="2946400"/>
            <a:ext cx="1803400" cy="863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40" b="0">
                <a:solidFill>
                  <a:srgbClr val="12243B"/>
                </a:solidFill>
                <a:latin typeface="Arial"/>
              </a:defRPr>
            </a:pPr>
            <a:r>
              <a:t>Comparar resultados, estimar incertidumbre y analizar el aporte de señales e historial.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40132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46556B"/>
                </a:solidFill>
                <a:latin typeface="Arial"/>
              </a:defRPr>
            </a:pPr>
            <a:r>
              <a:t>Modelo Profesor → pseudoetiqueta → Modelo Estudiante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381500"/>
            <a:ext cx="21590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6556B"/>
                </a:solidFill>
                <a:latin typeface="Arial"/>
              </a:defRPr>
            </a:pPr>
            <a:r>
              <a:t>Variable objetivo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75000" y="4381500"/>
            <a:ext cx="37211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6556B"/>
                </a:solidFill>
                <a:latin typeface="Arial"/>
              </a:defRPr>
            </a:pPr>
            <a:r>
              <a:t>Profesor: construye la etiqueta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4381500"/>
            <a:ext cx="42926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6556B"/>
                </a:solidFill>
                <a:latin typeface="Arial"/>
              </a:defRPr>
            </a:pPr>
            <a:r>
              <a:t>Estudiante: predice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000" y="4762500"/>
            <a:ext cx="10922000" cy="7620"/>
          </a:xfrm>
          <a:prstGeom prst="rect">
            <a:avLst/>
          </a:prstGeom>
          <a:solidFill>
            <a:srgbClr val="CCD7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775200"/>
            <a:ext cx="21590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2243B"/>
                </a:solidFill>
                <a:latin typeface="Arial"/>
              </a:defRPr>
            </a:pPr>
            <a:r>
              <a:t>Atención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75000" y="4775200"/>
            <a:ext cx="37211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2243B"/>
                </a:solidFill>
                <a:latin typeface="Arial"/>
              </a:defRPr>
            </a:pPr>
            <a:r>
              <a:t>Eye tracking + pupilometría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4775200"/>
            <a:ext cx="42926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2243B"/>
                </a:solidFill>
                <a:latin typeface="Arial"/>
              </a:defRPr>
            </a:pPr>
            <a:r>
              <a:t>EEG + GSR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000" y="5156200"/>
            <a:ext cx="10922000" cy="7620"/>
          </a:xfrm>
          <a:prstGeom prst="rect">
            <a:avLst/>
          </a:prstGeom>
          <a:solidFill>
            <a:srgbClr val="CCD7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168900"/>
            <a:ext cx="21590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2243B"/>
                </a:solidFill>
                <a:latin typeface="Arial"/>
              </a:defRPr>
            </a:pPr>
            <a:r>
              <a:t>Activación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75000" y="5168900"/>
            <a:ext cx="37211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2243B"/>
                </a:solidFill>
                <a:latin typeface="Arial"/>
              </a:defRPr>
            </a:pPr>
            <a:r>
              <a:t>GSR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13600" y="5168900"/>
            <a:ext cx="42926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2243B"/>
                </a:solidFill>
                <a:latin typeface="Arial"/>
              </a:defRPr>
            </a:pPr>
            <a:r>
              <a:t>EEG + eye tracking + pupilometría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5000" y="5549900"/>
            <a:ext cx="10922000" cy="7620"/>
          </a:xfrm>
          <a:prstGeom prst="rect">
            <a:avLst/>
          </a:prstGeom>
          <a:solidFill>
            <a:srgbClr val="CCD7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5000" y="5689600"/>
            <a:ext cx="10922000" cy="4572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4700" y="5740400"/>
            <a:ext cx="10642600" cy="3683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070" b="0">
                <a:solidFill>
                  <a:srgbClr val="12243B"/>
                </a:solidFill>
                <a:latin typeface="Arial"/>
              </a:defRPr>
            </a:pPr>
            <a:r>
              <a:t>Las etapas se revisan durante el desarrollo. Se evalúa por participante con exactitud balanceada (BA), macro-F1 y recall. La evaluación final se reserva hasta cerrar el ajuste.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3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5000" y="381000"/>
            <a:ext cx="107315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6556B"/>
                </a:solidFill>
                <a:latin typeface="Arial"/>
              </a:defRPr>
            </a:pPr>
            <a:r>
              <a:t>DATOS DISPONIBLES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812800"/>
            <a:ext cx="10922000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2243B"/>
                </a:solidFill>
                <a:latin typeface="Arial"/>
              </a:defRPr>
            </a:pPr>
            <a:r>
              <a:t>Datos de la Toma de Muestra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6223000"/>
            <a:ext cx="10541000" cy="508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830" b="0">
                <a:solidFill>
                  <a:srgbClr val="46556B"/>
                </a:solidFill>
                <a:latin typeface="Arial"/>
              </a:defRPr>
            </a:pPr>
            <a:r>
              <a:t>*Conteo del preprocesamiento previo a separar el caso de sensibilidad. Archivos originales: TSV de Tobii y ZIP de EEG; tabla procesada de 59 columnas con participante, estímulo, tiempo, características y calidad. Fuentes: «DOCUMENTACION_DATOS_MDS», «PREPROCESAMIENTO_MULTIMODAL» y partición guardada. Sin expresión facial ni etiquetas directas de atención/activación.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04600" y="6477000"/>
            <a:ext cx="571500" cy="190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46556B"/>
                </a:solidFill>
                <a:latin typeface="Arial"/>
              </a:defRPr>
            </a:pPr>
            <a:r>
              <a:t>6 /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879600"/>
            <a:ext cx="30480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03D73"/>
                </a:solidFill>
                <a:latin typeface="Arial"/>
              </a:defRPr>
            </a:pPr>
            <a:r>
              <a:t>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2362200"/>
            <a:ext cx="40640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46556B"/>
                </a:solidFill>
                <a:latin typeface="Arial"/>
              </a:defRPr>
            </a:pPr>
            <a:r>
              <a:t>participantes auditados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5200" y="1879600"/>
            <a:ext cx="30480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03D73"/>
                </a:solidFill>
                <a:latin typeface="Arial"/>
              </a:defRPr>
            </a:pPr>
            <a:r>
              <a:t>25.992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5200" y="2362200"/>
            <a:ext cx="40640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46556B"/>
                </a:solidFill>
                <a:latin typeface="Arial"/>
              </a:defRPr>
            </a:pPr>
            <a:r>
              <a:t>ventanas generadas de 2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879600"/>
            <a:ext cx="30480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003D73"/>
                </a:solidFill>
                <a:latin typeface="Arial"/>
              </a:defRPr>
            </a:pPr>
            <a:r>
              <a:t>22.201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362200"/>
            <a:ext cx="4064000" cy="279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46556B"/>
                </a:solidFill>
                <a:latin typeface="Arial"/>
              </a:defRPr>
            </a:pPr>
            <a:r>
              <a:t>ventanas multimodales válidas*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28575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46556B"/>
                </a:solidFill>
                <a:latin typeface="Arial"/>
              </a:defRPr>
            </a:pPr>
            <a:r>
              <a:t>Registros ya disponibles y procesados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175000"/>
            <a:ext cx="14859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6556B"/>
                </a:solidFill>
                <a:latin typeface="Arial"/>
              </a:defRPr>
            </a:pPr>
            <a:r>
              <a:t>Señal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9500" y="3175000"/>
            <a:ext cx="5410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6556B"/>
                </a:solidFill>
                <a:latin typeface="Arial"/>
              </a:defRPr>
            </a:pPr>
            <a:r>
              <a:t>Contenido disponible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3175000"/>
            <a:ext cx="3505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6556B"/>
                </a:solidFill>
                <a:latin typeface="Arial"/>
              </a:defRPr>
            </a:pPr>
            <a:r>
              <a:t>Origen / frecuencia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000" y="3556000"/>
            <a:ext cx="10922000" cy="7620"/>
          </a:xfrm>
          <a:prstGeom prst="rect">
            <a:avLst/>
          </a:prstGeom>
          <a:solidFill>
            <a:srgbClr val="CCD7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581400"/>
            <a:ext cx="14859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2243B"/>
                </a:solidFill>
                <a:latin typeface="Arial"/>
              </a:defRPr>
            </a:pPr>
            <a:r>
              <a:t>EEG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49500" y="3581400"/>
            <a:ext cx="5410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2243B"/>
                </a:solidFill>
                <a:latin typeface="Arial"/>
              </a:defRPr>
            </a:pPr>
            <a:r>
              <a:t>16 canales; amplitud y potencia por bandas.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3581400"/>
            <a:ext cx="3505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2243B"/>
                </a:solidFill>
                <a:latin typeface="Arial"/>
              </a:defRPr>
            </a:pPr>
            <a:r>
              <a:t>OpenBCI Cyton + Daisy · 125 Hz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000" y="3962400"/>
            <a:ext cx="10922000" cy="7620"/>
          </a:xfrm>
          <a:prstGeom prst="rect">
            <a:avLst/>
          </a:prstGeom>
          <a:solidFill>
            <a:srgbClr val="CCD7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87800"/>
            <a:ext cx="14859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2243B"/>
                </a:solidFill>
                <a:latin typeface="Arial"/>
              </a:defRPr>
            </a:pPr>
            <a:r>
              <a:t>GSR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49500" y="3987800"/>
            <a:ext cx="5410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2243B"/>
                </a:solidFill>
                <a:latin typeface="Arial"/>
              </a:defRPr>
            </a:pPr>
            <a:r>
              <a:t>Señal electrodérmica; componentes tónica y fásica, picos SCR.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3987800"/>
            <a:ext cx="3505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2243B"/>
                </a:solidFill>
                <a:latin typeface="Arial"/>
              </a:defRPr>
            </a:pPr>
            <a:r>
              <a:t>Exportación Tobii · ≈15 Hz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000" y="4368800"/>
            <a:ext cx="10922000" cy="7620"/>
          </a:xfrm>
          <a:prstGeom prst="rect">
            <a:avLst/>
          </a:prstGeom>
          <a:solidFill>
            <a:srgbClr val="CCD7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394200"/>
            <a:ext cx="14859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2243B"/>
                </a:solidFill>
                <a:latin typeface="Arial"/>
              </a:defRPr>
            </a:pPr>
            <a:r>
              <a:t>Eye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49500" y="4394200"/>
            <a:ext cx="5410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2243B"/>
                </a:solidFill>
                <a:latin typeface="Arial"/>
              </a:defRPr>
            </a:pPr>
            <a:r>
              <a:t>Coordenadas de mirada, fijaciones y sacádicos.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4394200"/>
            <a:ext cx="3505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2243B"/>
                </a:solidFill>
                <a:latin typeface="Arial"/>
              </a:defRPr>
            </a:pPr>
            <a:r>
              <a:t>Tobii · ≈60 Hz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000" y="4775200"/>
            <a:ext cx="10922000" cy="7620"/>
          </a:xfrm>
          <a:prstGeom prst="rect">
            <a:avLst/>
          </a:prstGeom>
          <a:solidFill>
            <a:srgbClr val="CCD7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800600"/>
            <a:ext cx="14859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2243B"/>
                </a:solidFill>
                <a:latin typeface="Arial"/>
              </a:defRPr>
            </a:pPr>
            <a:r>
              <a:t>Pupilometría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49500" y="4800600"/>
            <a:ext cx="5410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2243B"/>
                </a:solidFill>
                <a:latin typeface="Arial"/>
              </a:defRPr>
            </a:pPr>
            <a:r>
              <a:t>Diámetro y validez por ojo.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4800600"/>
            <a:ext cx="3505200" cy="38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2243B"/>
                </a:solidFill>
                <a:latin typeface="Arial"/>
              </a:defRPr>
            </a:pPr>
            <a:r>
              <a:t>Mismo registro ocular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5000" y="5181600"/>
            <a:ext cx="10922000" cy="7620"/>
          </a:xfrm>
          <a:prstGeom prst="rect">
            <a:avLst/>
          </a:prstGeom>
          <a:solidFill>
            <a:srgbClr val="CCD7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5000" y="5384800"/>
            <a:ext cx="10922000" cy="647700"/>
          </a:xfrm>
          <a:prstGeom prst="rect">
            <a:avLst/>
          </a:prstGeom>
          <a:solidFill>
            <a:srgbClr val="EF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4700" y="5511800"/>
            <a:ext cx="10642600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2243B"/>
                </a:solidFill>
                <a:latin typeface="Arial"/>
              </a:defRPr>
            </a:pPr>
            <a:r>
              <a:t>Conjunto principal: 41 personas → 25 entrenamiento, 8 validación y 8 prueba. De las 48 auditadas, seis se excluyen por calidad o falta de señal y una queda en sensibilidad por sincronización.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Tema de tesis MDS — Mario Romero</dc:title>
  <dc:subject>Presentación breve para importar y editar en Canva</dc:subject>
  <dc:creator>Mario Romero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es-CL</dc:language>
</cp:coreProperties>
</file>