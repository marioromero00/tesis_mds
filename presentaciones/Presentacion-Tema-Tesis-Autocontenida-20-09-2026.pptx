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Conversión editable del HTML del 20-09-2026.</a:t>
            </a:r>
          </a:p>
          <a:p/>
          <a:p>
            <a:r>
              <a:t>Universidad de Chile · Magíster en Data Science</a:t>
            </a:r>
          </a:p>
          <a:p>
            <a:r>
              <a:t>Modelos temporales multimodales para la detección de atención y activación emocional durante la navegación web</a:t>
            </a:r>
          </a:p>
          <a:p>
            <a:r>
              <a:t>Estudiante</a:t>
            </a:r>
          </a:p>
          <a:p>
            <a:r>
              <a:t>Mario Romero</a:t>
            </a:r>
          </a:p>
          <a:p>
            <a:r>
              <a:t>Profesor guía</a:t>
            </a:r>
          </a:p>
          <a:p>
            <a:r>
              <a:t>Dr. Juan D. Velásquez</a:t>
            </a:r>
          </a:p>
          <a:p>
            <a:r>
              <a:t>Tema de tesis</a:t>
            </a:r>
          </a:p>
          <a:p>
            <a:r>
              <a:t>Estudiar el aporte de la información temporal y de la fusión de señales neurofisiológicas para predecir atención y activación en otras personas.</a:t>
            </a:r>
          </a:p>
          <a:p>
            <a:r>
              <a:t>Proyecto Fondecyt 1231122 · Toma de Muestra 2 · 20 de septiembre de 2026.</a:t>
            </a:r>
          </a:p>
          <a:p>
            <a:r>
              <a:t>Alcance operacional de activación emocional: arousal, sin inferir valencia ni emociones discretas.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Conversión editable del HTML del 20-09-2026.</a:t>
            </a:r>
          </a:p>
          <a:p/>
          <a:p>
            <a:r>
              <a:t>Antecedentes</a:t>
            </a:r>
          </a:p>
          <a:p>
            <a:r>
              <a:t>La navegación produce respuestas que cambian en el tiempo</a:t>
            </a:r>
          </a:p>
          <a:p>
            <a:r>
              <a:t>Contexto</a:t>
            </a:r>
          </a:p>
          <a:p>
            <a:r>
              <a:t>El proyecto Fondecyt 1231122 estudia las respuestas neurofisiológicas durante la interacción con contenidos digitales.</a:t>
            </a:r>
          </a:p>
          <a:p>
            <a:r>
              <a:t>Problema</a:t>
            </a:r>
          </a:p>
          <a:p>
            <a:r>
              <a:t>Resumir una sesión en promedios elimina el orden temporal y puede ocultar cambios de atención o activación.</a:t>
            </a:r>
          </a:p>
          <a:p>
            <a:r>
              <a:t>Desafío de medición</a:t>
            </a:r>
          </a:p>
          <a:p>
            <a:r>
              <a:t>No se dispone de etiquetas directas y continuas. Mirar no demuestra atender; GSR aproxima activación, no emoción completa.</a:t>
            </a:r>
          </a:p>
          <a:p>
            <a:r>
              <a:t>La tesis contrasta si conservar la historia y combinar señales mejora la predicción frente a modelos estáticos comparables.</a:t>
            </a:r>
          </a:p>
          <a:p>
            <a:r>
              <a:t>Base conceptual: «Problema e hipótesis» y «Estructura Tesis», capítulo 1. La superioridad temporal es una hipótesis a evaluar.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Conversión editable del HTML del 20-09-2026.</a:t>
            </a:r>
          </a:p>
          <a:p/>
          <a:p>
            <a:r>
              <a:t>Objetivo general</a:t>
            </a:r>
          </a:p>
          <a:p>
            <a:r>
              <a:t>Evaluar el aporte de la temporalidad y la fusión multimodal</a:t>
            </a:r>
          </a:p>
          <a:p>
            <a:r>
              <a:t>Desarrollar y evaluar modelos temporales multimodales para la detección de atención y activación emocional durante la navegación web, comparando su desempeño fuera de muestra con modelos estáticos comparables y contrastando distintas estrategias de fusión multimodal.</a:t>
            </a:r>
          </a:p>
          <a:p>
            <a:r>
              <a:t>Comparación temporal</a:t>
            </a:r>
          </a:p>
          <a:p>
            <a:r>
              <a:t>Ventana actual frente a secuencia de ventanas.</a:t>
            </a:r>
          </a:p>
          <a:p>
            <a:r>
              <a:t>+</a:t>
            </a:r>
          </a:p>
          <a:p>
            <a:r>
              <a:t>Comparación de fusión</a:t>
            </a:r>
          </a:p>
          <a:p>
            <a:r>
              <a:t>Temprana, intermedia y tardía.</a:t>
            </a:r>
          </a:p>
          <a:p>
            <a:r>
              <a:t>Formulación operacional del objetivo vigente en «Tesis_MDS»; desarrollo en «Estructura Tesis». Fuera de muestra: participantes separados de los usados para ajustar cada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Conversión editable del HTML del 20-09-2026.</a:t>
            </a:r>
          </a:p>
          <a:p/>
          <a:p>
            <a:r>
              <a:t>Objetivos específicos · síntesis de los siete objetivos</a:t>
            </a:r>
          </a:p>
          <a:p>
            <a:r>
              <a:t>Del corpus sincronizado al contraste de la hipótesis</a:t>
            </a:r>
          </a:p>
          <a:p>
            <a:r>
              <a:t>Sistematizar el estado del arte</a:t>
            </a:r>
          </a:p>
          <a:p>
            <a:r>
              <a:t>Revisar atención, activación, dinámica temporal y fusión de señales en navegación web.</a:t>
            </a:r>
          </a:p>
          <a:p>
            <a:r>
              <a:t>Construir el corpus multimodal</a:t>
            </a:r>
          </a:p>
          <a:p>
            <a:r>
              <a:t>Sincronizar EEG, GSR, mirada y pupila con criterios explícitos de calidad.</a:t>
            </a:r>
          </a:p>
          <a:p>
            <a:r>
              <a:t>Diseñar pseudoetiquetas</a:t>
            </a:r>
          </a:p>
          <a:p>
            <a:r>
              <a:t>Separar las señales que construyen cada etiqueta de las que la predicen.</a:t>
            </a:r>
          </a:p>
          <a:p>
            <a:r>
              <a:t>Desarrollar y evaluar modelos</a:t>
            </a:r>
          </a:p>
          <a:p>
            <a:r>
              <a:t>Comparar LSTM, TCN y Transformer con baselines estáticos por participante.</a:t>
            </a:r>
          </a:p>
          <a:p>
            <a:r>
              <a:t>Comparar estrategias de fusión</a:t>
            </a:r>
          </a:p>
          <a:p>
            <a:r>
              <a:t>Evaluar fusión temprana, intermedia y tardía; medir aportes mediante ablación.</a:t>
            </a:r>
          </a:p>
          <a:p>
            <a:r>
              <a:t>Analizar trayectorias intra-sesión</a:t>
            </a:r>
          </a:p>
          <a:p>
            <a:r>
              <a:t>Explorar patrones compatibles con fatiga o habituación.</a:t>
            </a:r>
          </a:p>
          <a:p>
            <a:r>
              <a:t>Contrastar la hipótesis</a:t>
            </a:r>
          </a:p>
          <a:p>
            <a:r>
              <a:t>Establecer resultados, alcances y limitaciones.</a:t>
            </a:r>
          </a:p>
          <a:p>
            <a:r>
              <a:t>Síntesis de «Estructura Tesis», objetivos específicos 1–7. El análisis de fatiga/habituación es complementario y descriptivo.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Conversión editable del HTML del 20-09-2026.</a:t>
            </a:r>
          </a:p>
          <a:p/>
          <a:p>
            <a:r>
              <a:t>Metodología</a:t>
            </a:r>
          </a:p>
          <a:p>
            <a:r>
              <a:t>Un protocolo común para comparar modelos y fusiones</a:t>
            </a:r>
          </a:p>
          <a:p>
            <a:r>
              <a:t>Preparar</a:t>
            </a:r>
          </a:p>
          <a:p>
            <a:r>
              <a:t>Auditar calidad y sincronizar por tiempo. Extraer ventanas de 2 s con paso de 1 s.</a:t>
            </a:r>
          </a:p>
          <a:p>
            <a:r>
              <a:t>Etiquetar</a:t>
            </a:r>
          </a:p>
          <a:p>
            <a:r>
              <a:t>Construir Attention Score y Arousal Score; conservar el continuo y tres niveles.</a:t>
            </a:r>
          </a:p>
          <a:p>
            <a:r>
              <a:t>Modelar</a:t>
            </a:r>
          </a:p>
          <a:p>
            <a:r>
              <a:t>Entrenar baselines y redes temporales. Comparar fusiones con etiquetas fijas.</a:t>
            </a:r>
          </a:p>
          <a:p>
            <a:r>
              <a:t>Evaluar</a:t>
            </a:r>
          </a:p>
          <a:p>
            <a:r>
              <a:t>Separar participantes; ajustar hiperparámetros dentro de entrenamiento y analizar ablaciones.</a:t>
            </a:r>
          </a:p>
          <a:p>
            <a:r>
              <a:t>Modelo Profesor → pseudoetiqueta → Modelo Estudiante</a:t>
            </a:r>
          </a:p>
          <a:p>
            <a:r>
              <a:t>Variable objetivo</a:t>
            </a:r>
          </a:p>
          <a:p>
            <a:r>
              <a:t>Profesor: construye la etiqueta</a:t>
            </a:r>
          </a:p>
          <a:p>
            <a:r>
              <a:t>Estudiante: predice</a:t>
            </a:r>
          </a:p>
          <a:p>
            <a:r>
              <a:t>Atención</a:t>
            </a:r>
          </a:p>
          <a:p>
            <a:r>
              <a:t>Eye tracking + pupilometría</a:t>
            </a:r>
          </a:p>
          <a:p>
            <a:r>
              <a:t>EEG + GSR</a:t>
            </a:r>
          </a:p>
          <a:p>
            <a:r>
              <a:t>Activación</a:t>
            </a:r>
          </a:p>
          <a:p>
            <a:r>
              <a:t>GSR</a:t>
            </a:r>
          </a:p>
          <a:p>
            <a:r>
              <a:t>EEG + eye tracking + pupilometría</a:t>
            </a:r>
          </a:p>
          <a:p>
            <a:r>
              <a:t>Evaluación offline: BA macro por participante, macro-F1 y recall por clase; regresión para los scores continuos. Las pseudoetiquetas no constituyen una medición directa del estado interno.</a:t>
            </a:r>
          </a:p>
          <a:p>
            <a:r>
              <a:t>Base: «Resumen Diseño Etiquetas y Modelos», «PREPROCESAMIENTO_MULTIMODAL» y «ETIQUETAS_Y_BASELINES». La normalización original por sesión limita la interpretación en tiempo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Conversión editable del HTML del 20-09-2026.</a:t>
            </a:r>
          </a:p>
          <a:p/>
          <a:p>
            <a:r>
              <a:t>Datos disponibles · Toma de Muestra 2</a:t>
            </a:r>
          </a:p>
          <a:p>
            <a:r>
              <a:t>Cuatro señales registradas durante navegación web en laboratorio</a:t>
            </a:r>
          </a:p>
          <a:p>
            <a:r>
              <a:t>48</a:t>
            </a:r>
          </a:p>
          <a:p>
            <a:r>
              <a:t>participantes auditados</a:t>
            </a:r>
          </a:p>
          <a:p>
            <a:r>
              <a:t>25.992</a:t>
            </a:r>
          </a:p>
          <a:p>
            <a:r>
              <a:t>ventanas generadas de 2 s</a:t>
            </a:r>
          </a:p>
          <a:p>
            <a:r>
              <a:t>22.201</a:t>
            </a:r>
          </a:p>
          <a:p>
            <a:r>
              <a:t>ventanas multimodales válidas*</a:t>
            </a:r>
          </a:p>
          <a:p>
            <a:r>
              <a:t>Registros ya disponibles y procesados</a:t>
            </a:r>
          </a:p>
          <a:p>
            <a:r>
              <a:t>Señal</a:t>
            </a:r>
          </a:p>
          <a:p>
            <a:r>
              <a:t>Contenido disponible</a:t>
            </a:r>
          </a:p>
          <a:p>
            <a:r>
              <a:t>Origen / frecuencia</a:t>
            </a:r>
          </a:p>
          <a:p>
            <a:r>
              <a:t>EEG</a:t>
            </a:r>
          </a:p>
          <a:p>
            <a:r>
              <a:t>16 canales; amplitud y potencia por bandas.</a:t>
            </a:r>
          </a:p>
          <a:p>
            <a:r>
              <a:t>OpenBCI Cyton + Daisy · 125 Hz</a:t>
            </a:r>
          </a:p>
          <a:p>
            <a:r>
              <a:t>GSR</a:t>
            </a:r>
          </a:p>
          <a:p>
            <a:r>
              <a:t>Señal electrodérmica; componentes tónica y fásica, picos SCR.</a:t>
            </a:r>
          </a:p>
          <a:p>
            <a:r>
              <a:t>Exportación Tobii · ≈15 Hz</a:t>
            </a:r>
          </a:p>
          <a:p>
            <a:r>
              <a:t>Eye tracking</a:t>
            </a:r>
          </a:p>
          <a:p>
            <a:r>
              <a:t>Coordenadas de mirada, fijaciones y sacádicos.</a:t>
            </a:r>
          </a:p>
          <a:p>
            <a:r>
              <a:t>Tobii · ≈60 Hz</a:t>
            </a:r>
          </a:p>
          <a:p>
            <a:r>
              <a:t>Pupilometría</a:t>
            </a:r>
          </a:p>
          <a:p>
            <a:r>
              <a:t>Diámetro y validez por ojo.</a:t>
            </a:r>
          </a:p>
          <a:p>
            <a:r>
              <a:t>Mismo registro ocular</a:t>
            </a:r>
          </a:p>
          <a:p>
            <a:r>
              <a:t>Conjunto principal: 41 personas</a:t>
            </a:r>
          </a:p>
          <a:p>
            <a:r>
              <a:t>→ 25 entrenamiento, 8 validación y 8 prueba. De las 48 auditadas, seis se excluyen por calidad o falta de señal y una queda en sensibilidad por sincronización.</a:t>
            </a:r>
          </a:p>
          <a:p>
            <a:r>
              <a:t>*Conteo del preprocesamiento previo a separar el caso de sensibilidad. Archivos originales: TSV de Tobii y ZIP de EEG; tabla procesada de 59 columnas con participante, estímulo, tiempo, características y calidad.</a:t>
            </a:r>
          </a:p>
          <a:p>
            <a:r>
              <a:t>Fuentes: «DOCUMENTACION_DATOS_MDS», «PREPROCESAMIENTO_MULTIMODAL» y partición guardada. Sin expresión facial ni etiquetas directas de atención/activación.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UNIVERSIDAD DE CHILE · MAGÍSTER EN DATA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Proyecto Fondecyt 1231122 · Toma de Muestra 2 · 20 de septiembre de 2026. Alcance operacional de activación emocional: arousal, sin inferir valencia ni emociones discretas.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1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990600"/>
            <a:ext cx="10795000" cy="209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2243B"/>
                </a:solidFill>
                <a:latin typeface="Arial"/>
              </a:defRPr>
            </a:pPr>
            <a:r>
              <a:t>Modelos temporales multimodales para la detección de atención y activación emocional durante la navegación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3441700"/>
            <a:ext cx="2730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6556B"/>
                </a:solidFill>
                <a:latin typeface="Arial"/>
              </a:defRPr>
            </a:pPr>
            <a:r>
              <a:t>Estudiante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3733800"/>
            <a:ext cx="41910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Mario Romero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56000" y="3441700"/>
            <a:ext cx="2730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6556B"/>
                </a:solidFill>
                <a:latin typeface="Arial"/>
              </a:defRPr>
            </a:pPr>
            <a:r>
              <a:t>Profesor guía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3733800"/>
            <a:ext cx="41910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Dr. Juan D. Velásquez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000" y="4457700"/>
            <a:ext cx="10922000" cy="13081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000" y="4457700"/>
            <a:ext cx="38100" cy="1308100"/>
          </a:xfrm>
          <a:prstGeom prst="rect">
            <a:avLst/>
          </a:prstGeom>
          <a:solidFill>
            <a:srgbClr val="096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4660900"/>
            <a:ext cx="102870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9686B"/>
                </a:solidFill>
                <a:latin typeface="Arial"/>
              </a:defRPr>
            </a:pPr>
            <a:r>
              <a:t>TEMA DE TESIS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5003800"/>
            <a:ext cx="10287000" cy="622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2243B"/>
                </a:solidFill>
                <a:latin typeface="Arial"/>
              </a:defRPr>
            </a:pPr>
            <a:r>
              <a:t>Estudiar el aporte de la información temporal y de la fusión de señales neurofisiológicas para predecir atención y activación en otras personas.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ANTECEDENTES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La navegación produce respuestas que cambian en el tiempo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Base conceptual: «Problema e hipótesis» y «Estructura Tesis», capítulo 1. La superioridad temporal es una hipótesis a evaluar.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2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44700"/>
            <a:ext cx="3454400" cy="26670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000" y="2044700"/>
            <a:ext cx="38100" cy="26670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2247900"/>
            <a:ext cx="29972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Contexto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00" y="2730500"/>
            <a:ext cx="2997200" cy="1816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El proyecto Fondecyt 1231122 estudia las respuestas neurofisiológicas durante la interacción con contenidos digitales.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8800" y="2044700"/>
            <a:ext cx="3454400" cy="26670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800" y="2044700"/>
            <a:ext cx="38100" cy="26670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400" y="2247900"/>
            <a:ext cx="29972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400" y="2730500"/>
            <a:ext cx="2997200" cy="1816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Resumir una sesión en promedios elimina el orden temporal y puede ocultar cambios de atención o activación.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2600" y="2044700"/>
            <a:ext cx="3454400" cy="26670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2600" y="2044700"/>
            <a:ext cx="38100" cy="2667000"/>
          </a:xfrm>
          <a:prstGeom prst="rect">
            <a:avLst/>
          </a:prstGeom>
          <a:solidFill>
            <a:srgbClr val="096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1200" y="2247900"/>
            <a:ext cx="29972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Desafío de medición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1200" y="2730500"/>
            <a:ext cx="2997200" cy="1816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No se dispone de etiquetas directas y continuas. Mirar no demuestra atender; GSR aproxima activación, no emoción completa.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5003800"/>
            <a:ext cx="10922000" cy="9017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000" y="5003800"/>
            <a:ext cx="38100" cy="901700"/>
          </a:xfrm>
          <a:prstGeom prst="rect">
            <a:avLst/>
          </a:prstGeom>
          <a:solidFill>
            <a:srgbClr val="096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600" y="5168900"/>
            <a:ext cx="10426700" cy="647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2243B"/>
                </a:solidFill>
                <a:latin typeface="Arial"/>
              </a:defRPr>
            </a:pPr>
            <a:r>
              <a:t>La tesis contrasta si conservar la historia y combinar señales mejora la predicción frente a modelos estáticos comparables.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OBJETIVO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Evaluar el aporte de la temporalidad y la fusión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Formulación operacional del objetivo vigente en «Tesis_MDS»; desarrollo en «Estructura Tesis». Fuera de muestra: participantes separados de los usados para ajustar cada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3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1905000"/>
            <a:ext cx="50800" cy="2235200"/>
          </a:xfrm>
          <a:prstGeom prst="rect">
            <a:avLst/>
          </a:prstGeom>
          <a:solidFill>
            <a:srgbClr val="096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92300"/>
            <a:ext cx="10414000" cy="2311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2243B"/>
                </a:solidFill>
                <a:latin typeface="Arial"/>
              </a:defRPr>
            </a:pPr>
            <a:r>
              <a:t>Desarrollar y evaluar modelos temporales multimodales para la detección de atención y activación emocional durante la navegación web, comparando su desempeño fuera de muestra con modelos estáticos comparables y contrastando distintas estrategias de fusión multimodal.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" y="4635500"/>
            <a:ext cx="5041900" cy="10795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000" y="4635500"/>
            <a:ext cx="38100" cy="10795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4838700"/>
            <a:ext cx="45847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Comparación temporal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5321300"/>
            <a:ext cx="45847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Ventana actual frente a secuencia de ventanas.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5100" y="4635500"/>
            <a:ext cx="5041900" cy="10795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15100" y="4635500"/>
            <a:ext cx="38100" cy="10795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3700" y="4838700"/>
            <a:ext cx="45847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Comparación de fusión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3700" y="5321300"/>
            <a:ext cx="45847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Temprana, intermedia y tardía.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1700" y="4953000"/>
            <a:ext cx="292100" cy="355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03D73"/>
                </a:solidFill>
                <a:latin typeface="Arial"/>
              </a:defRPr>
            </a:pPr>
            <a:r>
              <a:t>+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OBJETIVOS ESPECÍFICOS · SÍNTESIS DE LOS SIETE 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Del corpus sincronizado al contraste de la hipótesis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Síntesis de «Estructura Tesis», objetivos específicos 1–7. El análisis de fatiga/habituación es complementario y descriptivo.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4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9431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" y="19431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Sistematizar el estado del arte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" y="2298700"/>
            <a:ext cx="4673600" cy="82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40" b="0">
                <a:solidFill>
                  <a:srgbClr val="12243B"/>
                </a:solidFill>
                <a:latin typeface="Arial"/>
              </a:defRPr>
            </a:pPr>
            <a:r>
              <a:t>Revisar atención, activación, dinámica temporal y fusión de señales en navegación web.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32512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32512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Construir el corpus multimodal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3606800"/>
            <a:ext cx="4673600" cy="82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40" b="0">
                <a:solidFill>
                  <a:srgbClr val="12243B"/>
                </a:solidFill>
                <a:latin typeface="Arial"/>
              </a:defRPr>
            </a:pPr>
            <a:r>
              <a:t>Sincronizar EEG, GSR, mirada y pupila con criterios explícitos de calidad.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45593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" y="45593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Diseñar pseudoetiquetas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" y="4914900"/>
            <a:ext cx="4673600" cy="82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40" b="0">
                <a:solidFill>
                  <a:srgbClr val="12243B"/>
                </a:solidFill>
                <a:latin typeface="Arial"/>
              </a:defRPr>
            </a:pPr>
            <a:r>
              <a:t>Separar las señales que construyen cada etiqueta de las que la predicen.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0" y="19431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3700" y="19431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Desarrollar y evaluar modelos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3700" y="2298700"/>
            <a:ext cx="4673600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40" b="0">
                <a:solidFill>
                  <a:srgbClr val="12243B"/>
                </a:solidFill>
                <a:latin typeface="Arial"/>
              </a:defRPr>
            </a:pPr>
            <a:r>
              <a:t>Comparar LSTM, TCN y Transformer con baselines estáticos por participante.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29718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3700" y="29718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Comparar estrategias de fusión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3700" y="3327400"/>
            <a:ext cx="4673600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40" b="0">
                <a:solidFill>
                  <a:srgbClr val="12243B"/>
                </a:solidFill>
                <a:latin typeface="Arial"/>
              </a:defRPr>
            </a:pPr>
            <a:r>
              <a:t>Evaluar fusión temprana, intermedia y tardía; medir aportes mediante ablación.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40005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3700" y="40005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Analizar trayectorias intra-sesión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3700" y="4356100"/>
            <a:ext cx="4673600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40" b="0">
                <a:solidFill>
                  <a:srgbClr val="12243B"/>
                </a:solidFill>
                <a:latin typeface="Arial"/>
              </a:defRPr>
            </a:pPr>
            <a:r>
              <a:t>Explorar patrones compatibles con fatiga o habituación.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0" y="50292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7.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3700" y="50292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Contrastar la hipótesis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3700" y="5384800"/>
            <a:ext cx="4673600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40" b="0">
                <a:solidFill>
                  <a:srgbClr val="12243B"/>
                </a:solidFill>
                <a:latin typeface="Arial"/>
              </a:defRPr>
            </a:pPr>
            <a:r>
              <a:t>Establecer resultados, alcances y limitaciones.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Un protocolo común para comparar modelos y fusiones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Base: «Resumen Diseño Etiquetas y Modelos», «PREPROCESAMIENTO_MULTIMODAL» y «ETIQUETAS_Y_BASELINES». La normalización original por sesión limita la interpretación en tiempo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5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1905000"/>
            <a:ext cx="2578100" cy="16764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7400" y="20193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9686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7400" y="2362200"/>
            <a:ext cx="22733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2243B"/>
                </a:solidFill>
                <a:latin typeface="Arial"/>
              </a:defRPr>
            </a:pPr>
            <a:r>
              <a:t>Preparar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705100"/>
            <a:ext cx="23241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2243B"/>
                </a:solidFill>
                <a:latin typeface="Arial"/>
              </a:defRPr>
            </a:pPr>
            <a:r>
              <a:t>Auditar calidad y sincronizar por tiempo. Extraer ventanas de 2 s con paso de 1 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6300" y="1905000"/>
            <a:ext cx="2578100" cy="16764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8700" y="20193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9686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8700" y="2362200"/>
            <a:ext cx="22733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2243B"/>
                </a:solidFill>
                <a:latin typeface="Arial"/>
              </a:defRPr>
            </a:pPr>
            <a:r>
              <a:t>Etiquetar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3300" y="2705100"/>
            <a:ext cx="23241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2243B"/>
                </a:solidFill>
                <a:latin typeface="Arial"/>
              </a:defRPr>
            </a:pPr>
            <a:r>
              <a:t>Construir Attention Score y Arousal Score; conservar el continuo y tres niveles.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7600" y="1905000"/>
            <a:ext cx="2578100" cy="16764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000" y="20193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9686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2362200"/>
            <a:ext cx="22733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2243B"/>
                </a:solidFill>
                <a:latin typeface="Arial"/>
              </a:defRPr>
            </a:pPr>
            <a:r>
              <a:t>Modelar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2705100"/>
            <a:ext cx="23241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2243B"/>
                </a:solidFill>
                <a:latin typeface="Arial"/>
              </a:defRPr>
            </a:pPr>
            <a:r>
              <a:t>Entrenar baselines y redes temporales. Comparar fusiones con etiquetas fijas.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78900" y="1905000"/>
            <a:ext cx="2578100" cy="16764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1300" y="20193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9686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1300" y="2362200"/>
            <a:ext cx="22733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2243B"/>
                </a:solidFill>
                <a:latin typeface="Arial"/>
              </a:defRPr>
            </a:pPr>
            <a:r>
              <a:t>Evaluar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5900" y="2705100"/>
            <a:ext cx="23241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2243B"/>
                </a:solidFill>
                <a:latin typeface="Arial"/>
              </a:defRPr>
            </a:pPr>
            <a:r>
              <a:t>Separar participantes; ajustar hiperparámetros dentro de entrenamiento y analizar ablaciones.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37719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Modelo Profesor → pseudoetiqueta → Modelo Estudiante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140200"/>
            <a:ext cx="21590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Variable objetivo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75000" y="4140200"/>
            <a:ext cx="37211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Profesor: construye la etiqueta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3600" y="4140200"/>
            <a:ext cx="42926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Estudiante: predice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000" y="45212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572000"/>
            <a:ext cx="21590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243B"/>
                </a:solidFill>
                <a:latin typeface="Arial"/>
              </a:defRPr>
            </a:pPr>
            <a:r>
              <a:t>Atención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75000" y="4572000"/>
            <a:ext cx="37211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2243B"/>
                </a:solidFill>
                <a:latin typeface="Arial"/>
              </a:defRPr>
            </a:pPr>
            <a:r>
              <a:t>Eye tracking + pupilometría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4572000"/>
            <a:ext cx="42926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2243B"/>
                </a:solidFill>
                <a:latin typeface="Arial"/>
              </a:defRPr>
            </a:pPr>
            <a:r>
              <a:t>EEG + GSR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" y="49530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003800"/>
            <a:ext cx="21590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243B"/>
                </a:solidFill>
                <a:latin typeface="Arial"/>
              </a:defRPr>
            </a:pPr>
            <a:r>
              <a:t>Activación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75000" y="5003800"/>
            <a:ext cx="37211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2243B"/>
                </a:solidFill>
                <a:latin typeface="Arial"/>
              </a:defRPr>
            </a:pPr>
            <a:r>
              <a:t>GSR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003800"/>
            <a:ext cx="42926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2243B"/>
                </a:solidFill>
                <a:latin typeface="Arial"/>
              </a:defRPr>
            </a:pPr>
            <a:r>
              <a:t>EEG + eye tracking + pupilometría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000" y="53848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5000" y="5511800"/>
            <a:ext cx="10922000" cy="5334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4700" y="5600700"/>
            <a:ext cx="10642600" cy="419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2243B"/>
                </a:solidFill>
                <a:latin typeface="Arial"/>
              </a:defRPr>
            </a:pPr>
            <a:r>
              <a:t>Evaluación offline: BA macro por participante, macro-F1 y recall por clase; regresión para los scores continuos. Las pseudoetiquetas no constituyen una medición directa del estado interno.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DATOS DISPONIBLES · TOMA DE MUESTRA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Cuatro señales registradas durante navegación web en laboratorio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*Conteo del preprocesamiento previo a separar el caso de sensibilidad. Archivos originales: TSV de Tobii y ZIP de EEG; tabla procesada de 59 columnas con participante, estímulo, tiempo, características y calidad. Fuentes: «DOCUMENTACION_DATOS_MDS», «PREPROCESAMIENTO_MULTIMODAL» y partición guardada. Sin expresión facial ni etiquetas directas de atención/activación.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6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879600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D73"/>
                </a:solidFill>
                <a:latin typeface="Arial"/>
              </a:defRPr>
            </a:pPr>
            <a: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2362200"/>
            <a:ext cx="4064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participantes auditados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200" y="1879600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D73"/>
                </a:solidFill>
                <a:latin typeface="Arial"/>
              </a:defRPr>
            </a:pPr>
            <a:r>
              <a:t>25.992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5200" y="2362200"/>
            <a:ext cx="4064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ventanas generadas de 2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879600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D73"/>
                </a:solidFill>
                <a:latin typeface="Arial"/>
              </a:defRPr>
            </a:pPr>
            <a:r>
              <a:t>22.201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362200"/>
            <a:ext cx="4064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ventanas multimodales válidas*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28575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Registros ya disponibles y procesados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750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Señal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9500" y="31750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Contenido disponible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1750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Origen / frecuencia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000" y="35560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5814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243B"/>
                </a:solidFill>
                <a:latin typeface="Arial"/>
              </a:defRPr>
            </a:pPr>
            <a:r>
              <a:t>EEG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9500" y="35814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16 canales; amplitud y potencia por bandas.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5814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OpenBCI Cyton + Daisy · 125 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000" y="39624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878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243B"/>
                </a:solidFill>
                <a:latin typeface="Arial"/>
              </a:defRPr>
            </a:pPr>
            <a:r>
              <a:t>GSR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49500" y="39878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Señal electrodérmica; componentes tónica y fásica, picos SCR.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9878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Exportación Tobii · ≈15 Hz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000" y="43688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3942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243B"/>
                </a:solidFill>
                <a:latin typeface="Arial"/>
              </a:defRPr>
            </a:pPr>
            <a:r>
              <a:t>Eye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9500" y="43942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Coordenadas de mirada, fijaciones y sacádicos.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43942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Tobii · ≈60 Hz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000" y="47752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8006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243B"/>
                </a:solidFill>
                <a:latin typeface="Arial"/>
              </a:defRPr>
            </a:pPr>
            <a:r>
              <a:t>Pupilometría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9500" y="48006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Diámetro y validez por ojo.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8006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Mismo registro ocular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000" y="51816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000" y="5384800"/>
            <a:ext cx="10922000" cy="6477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4700" y="5511800"/>
            <a:ext cx="106426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Conjunto principal: 41 personas → 25 entrenamiento, 8 validación y 8 prueba. De las 48 auditadas, seis se excluyen por calidad o falta de señal y una queda en sensibilidad por sincronización.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de tesis MDS — Mario Romero</dc:title>
  <dc:subject>Presentación breve para importar y editar en Canva</dc:subject>
  <dc:creator>Mario Romero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es-CL</dc:language>
</cp:coreProperties>
</file>